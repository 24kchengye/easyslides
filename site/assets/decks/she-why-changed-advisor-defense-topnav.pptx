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  <Relationship Id="rId36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1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1: 她为什么换了导师</a:t>
            </a:r>
          </a:p>
          <a:p>
            <a:endParaRPr lang="zh-CN" dirty="0"/>
          </a:p>
          <a:p>
            <a:r>
              <a:rPr lang="zh-CN" dirty="0"/>
              <a:t>• page_role: cover</a:t>
            </a:r>
          </a:p>
          <a:p>
            <a:r>
              <a:rPr lang="zh-CN" dirty="0"/>
              <a:t>• section: opening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2: 目录</a:t>
            </a:r>
          </a:p>
          <a:p>
            <a:endParaRPr lang="zh-CN" dirty="0"/>
          </a:p>
          <a:p>
            <a:r>
              <a:rPr lang="zh-CN" dirty="0"/>
              <a:t>• page_role: toc</a:t>
            </a:r>
          </a:p>
          <a:p>
            <a:r>
              <a:rPr lang="zh-CN" dirty="0"/>
              <a:t>• section: opening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3: 研究背景</a:t>
            </a:r>
          </a:p>
          <a:p>
            <a:endParaRPr lang="zh-CN" dirty="0"/>
          </a:p>
          <a:p>
            <a:r>
              <a:rPr lang="zh-CN" dirty="0"/>
              <a:t>• page_role: chapter</a:t>
            </a:r>
          </a:p>
          <a:p>
            <a:r>
              <a:rPr lang="zh-CN" dirty="0"/>
              <a:t>• section: 研究背景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4: 研究背景：导师制中的关系质量问题</a:t>
            </a:r>
          </a:p>
          <a:p>
            <a:endParaRPr lang="zh-CN" dirty="0"/>
          </a:p>
          <a:p>
            <a:r>
              <a:rPr lang="zh-CN" dirty="0"/>
              <a:t>• page_role: body_text</a:t>
            </a:r>
          </a:p>
          <a:p>
            <a:r>
              <a:rPr lang="zh-CN" dirty="0"/>
              <a:t>• section: 研究背景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来源：学位论文第一章“研究背景”。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5: 议题演进：从导师负责制到导生关系质量</a:t>
            </a:r>
          </a:p>
          <a:p>
            <a:endParaRPr lang="zh-CN" dirty="0"/>
          </a:p>
          <a:p>
            <a:r>
              <a:rPr lang="zh-CN" dirty="0"/>
              <a:t>• page_role: timeline</a:t>
            </a:r>
          </a:p>
          <a:p>
            <a:r>
              <a:rPr lang="zh-CN" dirty="0"/>
              <a:t>• section: 研究背景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来源：第一章研究背景与文献综述。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6: 研究缺口：宏观讨论不足以解释真实关系裂变</a:t>
            </a:r>
          </a:p>
          <a:p>
            <a:endParaRPr lang="zh-CN" dirty="0"/>
          </a:p>
          <a:p>
            <a:r>
              <a:rPr lang="zh-CN" dirty="0"/>
              <a:t>• page_role: compare</a:t>
            </a:r>
          </a:p>
          <a:p>
            <a:r>
              <a:rPr lang="zh-CN" dirty="0"/>
              <a:t>• section: 研究背景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来源：第一章“文献综述”与“研究述评”。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7: 目的及意义</a:t>
            </a:r>
          </a:p>
          <a:p>
            <a:endParaRPr lang="zh-CN" dirty="0"/>
          </a:p>
          <a:p>
            <a:r>
              <a:rPr lang="zh-CN" dirty="0"/>
              <a:t>• page_role: chapter</a:t>
            </a:r>
          </a:p>
          <a:p>
            <a:r>
              <a:rPr lang="zh-CN" dirty="0"/>
              <a:t>• section: 目的及意义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8: 研究问题与研究目标</a:t>
            </a:r>
          </a:p>
          <a:p>
            <a:endParaRPr lang="zh-CN" dirty="0"/>
          </a:p>
          <a:p>
            <a:r>
              <a:rPr lang="zh-CN" dirty="0"/>
              <a:t>• page_role: compare</a:t>
            </a:r>
          </a:p>
          <a:p>
            <a:r>
              <a:rPr lang="zh-CN" dirty="0"/>
              <a:t>• section: 目的及意义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来源：摘要、第一章“研究意义”。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9: 研究意义：从个案进入关系与制度</a:t>
            </a:r>
          </a:p>
          <a:p>
            <a:endParaRPr lang="zh-CN" dirty="0"/>
          </a:p>
          <a:p>
            <a:r>
              <a:rPr lang="zh-CN" dirty="0"/>
              <a:t>• page_role: card_grid</a:t>
            </a:r>
          </a:p>
          <a:p>
            <a:r>
              <a:rPr lang="zh-CN" dirty="0"/>
              <a:t>• section: 目的及意义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来源：第一章“研究意义”。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10: 研究贡献：把“关系问题”放回过程现场</a:t>
            </a:r>
          </a:p>
          <a:p>
            <a:endParaRPr lang="zh-CN" dirty="0"/>
          </a:p>
          <a:p>
            <a:r>
              <a:rPr lang="zh-CN" dirty="0"/>
              <a:t>• page_role: card_grid</a:t>
            </a:r>
          </a:p>
          <a:p>
            <a:r>
              <a:rPr lang="zh-CN" dirty="0"/>
              <a:t>• section: 目的及意义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来源：第二章、第三章、第四章结构。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11: 案例边界：一个换导师事件的相关主体</a:t>
            </a:r>
          </a:p>
          <a:p>
            <a:endParaRPr lang="zh-CN" dirty="0"/>
          </a:p>
          <a:p>
            <a:r>
              <a:rPr lang="zh-CN" dirty="0"/>
              <a:t>• page_role: body_text</a:t>
            </a:r>
          </a:p>
          <a:p>
            <a:r>
              <a:rPr lang="zh-CN" dirty="0"/>
              <a:t>• section: 目的及意义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来源：第一章“研究方法”、第二章开篇说明。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12: 材料与方法</a:t>
            </a:r>
          </a:p>
          <a:p>
            <a:endParaRPr lang="zh-CN" dirty="0"/>
          </a:p>
          <a:p>
            <a:r>
              <a:rPr lang="zh-CN" dirty="0"/>
              <a:t>• page_role: chapter</a:t>
            </a:r>
          </a:p>
          <a:p>
            <a:r>
              <a:rPr lang="zh-CN" dirty="0"/>
              <a:t>• section: 材料与方法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13: 研究设计流程</a:t>
            </a:r>
          </a:p>
          <a:p>
            <a:endParaRPr lang="zh-CN" dirty="0"/>
          </a:p>
          <a:p>
            <a:r>
              <a:rPr lang="zh-CN" dirty="0"/>
              <a:t>• page_role: process_steps</a:t>
            </a:r>
          </a:p>
          <a:p>
            <a:r>
              <a:rPr lang="zh-CN" dirty="0"/>
              <a:t>• section: 材料与方法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来源：第一章“研究方法”。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14: 资料来源与互证逻辑</a:t>
            </a:r>
          </a:p>
          <a:p>
            <a:endParaRPr lang="zh-CN" dirty="0"/>
          </a:p>
          <a:p>
            <a:r>
              <a:rPr lang="zh-CN" dirty="0"/>
              <a:t>• page_role: matrix</a:t>
            </a:r>
          </a:p>
          <a:p>
            <a:r>
              <a:rPr lang="zh-CN" dirty="0"/>
              <a:t>• section: 材料与方法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来源：第一章访谈对象说明、第三章事实厘清。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15: 研究效度与伦理控制</a:t>
            </a:r>
          </a:p>
          <a:p>
            <a:endParaRPr lang="zh-CN" dirty="0"/>
          </a:p>
          <a:p>
            <a:r>
              <a:rPr lang="zh-CN" dirty="0"/>
              <a:t>• page_role: body_text</a:t>
            </a:r>
          </a:p>
          <a:p>
            <a:r>
              <a:rPr lang="zh-CN" dirty="0"/>
              <a:t>• section: 材料与方法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来源：第一章“研究效度与研究伦理”。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16: 分析框架：从叙事材料到机制解释</a:t>
            </a:r>
          </a:p>
          <a:p>
            <a:endParaRPr lang="zh-CN" dirty="0"/>
          </a:p>
          <a:p>
            <a:r>
              <a:rPr lang="zh-CN" dirty="0"/>
              <a:t>• page_role: data_grid</a:t>
            </a:r>
          </a:p>
          <a:p>
            <a:r>
              <a:rPr lang="zh-CN" dirty="0"/>
              <a:t>• section: 材料与方法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来源：论文第二至四章结构。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17: 结果与分析</a:t>
            </a:r>
          </a:p>
          <a:p>
            <a:endParaRPr lang="zh-CN" dirty="0"/>
          </a:p>
          <a:p>
            <a:r>
              <a:rPr lang="zh-CN" dirty="0"/>
              <a:t>• page_role: chapter</a:t>
            </a:r>
          </a:p>
          <a:p>
            <a:r>
              <a:rPr lang="zh-CN" dirty="0"/>
              <a:t>• section: 结果与分析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18: 事件主线：从期待到裂变</a:t>
            </a:r>
          </a:p>
          <a:p>
            <a:endParaRPr lang="zh-CN" dirty="0"/>
          </a:p>
          <a:p>
            <a:r>
              <a:rPr lang="zh-CN" dirty="0"/>
              <a:t>• page_role: figure_single</a:t>
            </a:r>
          </a:p>
          <a:p>
            <a:r>
              <a:rPr lang="zh-CN" dirty="0"/>
              <a:t>• section: 结果与分析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来源：第二章“换导师事件的来龙去脉”。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19: 相识与蜜月：表层稳定下的结构落差</a:t>
            </a:r>
          </a:p>
          <a:p>
            <a:endParaRPr lang="zh-CN" dirty="0"/>
          </a:p>
          <a:p>
            <a:r>
              <a:rPr lang="zh-CN" dirty="0"/>
              <a:t>• page_role: figure_pair</a:t>
            </a:r>
          </a:p>
          <a:p>
            <a:r>
              <a:rPr lang="zh-CN" dirty="0"/>
              <a:t>• section: 结果与分析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来源：第二章、第三章“相识”。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20: 冲突升级：论文写作成为导火索</a:t>
            </a:r>
          </a:p>
          <a:p>
            <a:endParaRPr lang="zh-CN" dirty="0"/>
          </a:p>
          <a:p>
            <a:r>
              <a:rPr lang="zh-CN" dirty="0"/>
              <a:t>• page_role: data_grid</a:t>
            </a:r>
          </a:p>
          <a:p>
            <a:r>
              <a:rPr lang="zh-CN" dirty="0"/>
              <a:t>• section: 结果与分析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来源：第二章“一波三折写论文”。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21: 事实厘清：换导师事件的结构链</a:t>
            </a:r>
          </a:p>
          <a:p>
            <a:endParaRPr lang="zh-CN" dirty="0"/>
          </a:p>
          <a:p>
            <a:r>
              <a:rPr lang="zh-CN" dirty="0"/>
              <a:t>• page_role: figure_single</a:t>
            </a:r>
          </a:p>
          <a:p>
            <a:r>
              <a:rPr lang="zh-CN" dirty="0"/>
              <a:t>• section: 结果与分析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来源：论文图一，第三章事实厘清。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22: 主观原因：理想、志趣与生涯规划摇摆</a:t>
            </a:r>
          </a:p>
          <a:p>
            <a:endParaRPr lang="zh-CN" dirty="0"/>
          </a:p>
          <a:p>
            <a:r>
              <a:rPr lang="zh-CN" dirty="0"/>
              <a:t>• page_role: card_grid</a:t>
            </a:r>
          </a:p>
          <a:p>
            <a:r>
              <a:rPr lang="zh-CN" dirty="0"/>
              <a:t>• section: 结果与分析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来源：摘要、第三章“理想与现实的落差”。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23: 关键机制：认同危机与情感淡漠</a:t>
            </a:r>
          </a:p>
          <a:p>
            <a:endParaRPr lang="zh-CN" dirty="0"/>
          </a:p>
          <a:p>
            <a:r>
              <a:rPr lang="zh-CN" dirty="0"/>
              <a:t>• page_role: figure_pair</a:t>
            </a:r>
          </a:p>
          <a:p>
            <a:r>
              <a:rPr lang="zh-CN" dirty="0"/>
              <a:t>• section: 结果与分析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来源：第三章“相知：认同危机与情感淡漠”。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24: 促成因素：更换导师得以成功的助推力</a:t>
            </a:r>
          </a:p>
          <a:p>
            <a:endParaRPr lang="zh-CN" dirty="0"/>
          </a:p>
          <a:p>
            <a:r>
              <a:rPr lang="zh-CN" dirty="0"/>
              <a:t>• page_role: figure_single</a:t>
            </a:r>
          </a:p>
          <a:p>
            <a:r>
              <a:rPr lang="zh-CN" dirty="0"/>
              <a:t>• section: 结果与分析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来源：第二章“柳暗花明换导师”、摘要。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25: 结论与讨论</a:t>
            </a:r>
          </a:p>
          <a:p>
            <a:endParaRPr lang="zh-CN" dirty="0"/>
          </a:p>
          <a:p>
            <a:r>
              <a:rPr lang="zh-CN" dirty="0"/>
              <a:t>• page_role: chapter</a:t>
            </a:r>
          </a:p>
          <a:p>
            <a:r>
              <a:rPr lang="zh-CN" dirty="0"/>
              <a:t>• section: 结论与讨论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26: 导师制反思：问题不止发生在个体之间</a:t>
            </a:r>
          </a:p>
          <a:p>
            <a:endParaRPr lang="zh-CN" dirty="0"/>
          </a:p>
          <a:p>
            <a:r>
              <a:rPr lang="zh-CN" dirty="0"/>
              <a:t>• page_role: data_grid</a:t>
            </a:r>
          </a:p>
          <a:p>
            <a:r>
              <a:rPr lang="zh-CN" dirty="0"/>
              <a:t>• section: 结论与讨论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来源：第四章“导师制视角下换导师事件的反思”。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27: 结论与建议：给导生关系留出可流动的制度空间</a:t>
            </a:r>
          </a:p>
          <a:p>
            <a:endParaRPr lang="zh-CN" dirty="0"/>
          </a:p>
          <a:p>
            <a:r>
              <a:rPr lang="zh-CN" dirty="0"/>
              <a:t>• page_role: card_grid</a:t>
            </a:r>
          </a:p>
          <a:p>
            <a:r>
              <a:rPr lang="zh-CN" dirty="0"/>
              <a:t>• section: 结论与讨论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  <a:p>
            <a:r>
              <a:rPr lang="zh-CN" dirty="0"/>
              <a:t>• source: 来源：结语、第四章导师制反思。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28: 主要参考文献</a:t>
            </a:r>
          </a:p>
          <a:p>
            <a:endParaRPr lang="zh-CN" dirty="0"/>
          </a:p>
          <a:p>
            <a:r>
              <a:rPr lang="zh-CN" dirty="0"/>
              <a:t>• page_role: references</a:t>
            </a:r>
          </a:p>
          <a:p>
            <a:r>
              <a:rPr lang="zh-CN" dirty="0"/>
              <a:t>• section: 结论与讨论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29: 恳请老师批评指正！</a:t>
            </a:r>
          </a:p>
          <a:p>
            <a:endParaRPr lang="zh-CN" dirty="0"/>
          </a:p>
          <a:p>
            <a:r>
              <a:rPr lang="zh-CN" dirty="0"/>
              <a:t>• page_role: closing</a:t>
            </a:r>
          </a:p>
          <a:p>
            <a:r>
              <a:rPr lang="zh-CN" dirty="0"/>
              <a:t>• section: closing</a:t>
            </a:r>
          </a:p>
          <a:p>
            <a:r>
              <a:rPr lang="zh-CN" dirty="0"/>
              <a:t>• presenter_intent: 用一页讲清当前页的一个核心观点，避免展开论文原文长段。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b952f6881a4f538.jpg"/>
  <Relationship Id="rId3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fcd4cdd597a4f92.jpg"/>
  <Relationship Id="rId3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9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1299496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9050">
            <a:solidFill>
              <a:srgbClr val="183A6A"/>
            </a:solidFill>
          </a:ln>
        </p:spPr>
      </p:sp>
      <p:sp>
        <p:nvSpPr>
          <p:cNvPr id="4" name="Rectangle 4"/>
          <p:cNvSpPr/>
          <p:nvPr/>
        </p:nvSpPr>
        <p:spPr>
          <a:xfrm>
            <a:off x="0" y="1372267"/>
            <a:ext cx="12192000" cy="3801618"/>
          </a:xfrm>
          <a:prstGeom prst="rect">
            <a:avLst/>
          </a:prstGeom>
          <a:solidFill>
            <a:srgbClr val="183A6A">
              <a:alpha val="92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5695188" y="927830"/>
            <a:ext cx="801624" cy="8016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5772150" y="1133475"/>
            <a:ext cx="647700" cy="476250"/>
          </a:xfrm>
          <a:custGeom>
            <a:avLst/>
            <a:gdLst/>
            <a:ahLst/>
            <a:cxnLst/>
            <a:rect l="l" t="t" r="r" b="b"/>
            <a:pathLst>
              <a:path w="647700" h="476250">
                <a:moveTo>
                  <a:pt x="323850" y="0"/>
                </a:moveTo>
                <a:lnTo>
                  <a:pt x="647700" y="133350"/>
                </a:lnTo>
                <a:lnTo>
                  <a:pt x="323850" y="266700"/>
                </a:lnTo>
                <a:lnTo>
                  <a:pt x="0" y="133350"/>
                </a:lnTo>
                <a:close/>
                <a:moveTo>
                  <a:pt x="114300" y="209550"/>
                </a:moveTo>
                <a:lnTo>
                  <a:pt x="323850" y="295275"/>
                </a:lnTo>
                <a:lnTo>
                  <a:pt x="533400" y="209550"/>
                </a:lnTo>
                <a:lnTo>
                  <a:pt x="533400" y="400050"/>
                </a:lnTo>
                <a:cubicBezTo>
                  <a:pt x="400050" y="476250"/>
                  <a:pt x="247650" y="476250"/>
                  <a:pt x="114300" y="400050"/>
                </a:cubicBezTo>
                <a:close/>
              </a:path>
            </a:pathLst>
          </a:custGeom>
          <a:solidFill>
            <a:srgbClr val="183A6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77195" y="2328577"/>
            <a:ext cx="9837610" cy="9233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54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她为什么换了导师</a:t>
            </a:r>
          </a:p>
        </p:txBody>
      </p:sp>
      <p:sp>
        <p:nvSpPr>
          <p:cNvPr id="8" name="Line 8"/>
          <p:cNvSpPr/>
          <p:nvPr/>
        </p:nvSpPr>
        <p:spPr>
          <a:xfrm>
            <a:off x="1333500" y="3301937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9525">
            <a:solidFill>
              <a:srgbClr val="FFFFFF">
                <a:alpha val="50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1140" y="3495866"/>
            <a:ext cx="9189720" cy="9541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28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一项导生关系的案例研究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209675" y="5734050"/>
            <a:ext cx="10401300" cy="361950"/>
            <a:chOff x="1209675" y="5734050"/>
            <a:chExt cx="10401300" cy="361950"/>
          </a:xfrm>
        </p:grpSpPr>
        <p:grpSp>
          <p:nvGrpSpPr>
            <p:cNvPr id="12" name="Group 12"/>
            <p:cNvGrpSpPr/>
            <p:nvPr/>
          </p:nvGrpSpPr>
          <p:grpSpPr>
            <a:xfrm>
              <a:off x="1209675" y="5788819"/>
              <a:ext cx="190500" cy="214312"/>
              <a:chOff x="1209675" y="5788819"/>
              <a:chExt cx="190500" cy="214312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1245394" y="5788819"/>
                <a:ext cx="119062" cy="119062"/>
              </a:xfrm>
              <a:prstGeom prst="ellipse">
                <a:avLst/>
              </a:prstGeom>
              <a:noFill/>
              <a:ln w="21431">
                <a:solidFill>
                  <a:srgbClr val="183A6A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209675" y="5907881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190500" y="95250"/>
                    </a:moveTo>
                    <a:cubicBezTo>
                      <a:pt x="190500" y="42645"/>
                      <a:pt x="147855" y="0"/>
                      <a:pt x="95250" y="0"/>
                    </a:cubicBezTo>
                    <a:cubicBezTo>
                      <a:pt x="42645" y="0"/>
                      <a:pt x="0" y="42645"/>
                      <a:pt x="0" y="95250"/>
                    </a:cubicBezTo>
                  </a:path>
                </a:pathLst>
              </a:custGeom>
              <a:noFill/>
              <a:ln w="21431">
                <a:solidFill>
                  <a:srgbClr val="183A6A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562100" y="5734050"/>
              <a:ext cx="257175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答辩人：</a:t>
              </a:r>
              <a:r>
                <a:rPr lang="zh-CN" sz="16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王伟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4671916" y="5811911"/>
              <a:ext cx="247747" cy="167408"/>
              <a:chOff x="4671916" y="5811911"/>
              <a:chExt cx="247747" cy="16740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4671916" y="5811911"/>
                <a:ext cx="238489" cy="120503"/>
              </a:xfrm>
              <a:custGeom>
                <a:avLst/>
                <a:gdLst/>
                <a:ahLst/>
                <a:cxnLst/>
                <a:rect l="l" t="t" r="r" b="b"/>
                <a:pathLst>
                  <a:path w="238489" h="120503">
                    <a:moveTo>
                      <a:pt x="231316" y="71205"/>
                    </a:moveTo>
                    <a:cubicBezTo>
                      <a:pt x="235686" y="69287"/>
                      <a:pt x="238489" y="64945"/>
                      <a:pt x="238438" y="60173"/>
                    </a:cubicBezTo>
                    <a:cubicBezTo>
                      <a:pt x="238386" y="55400"/>
                      <a:pt x="235489" y="51120"/>
                      <a:pt x="231077" y="49298"/>
                    </a:cubicBezTo>
                    <a:lnTo>
                      <a:pt x="129041" y="2863"/>
                    </a:lnTo>
                    <a:cubicBezTo>
                      <a:pt x="122764" y="0"/>
                      <a:pt x="115554" y="0"/>
                      <a:pt x="109277" y="2863"/>
                    </a:cubicBezTo>
                    <a:lnTo>
                      <a:pt x="7240" y="49298"/>
                    </a:lnTo>
                    <a:cubicBezTo>
                      <a:pt x="2850" y="51168"/>
                      <a:pt x="0" y="55479"/>
                      <a:pt x="0" y="60251"/>
                    </a:cubicBezTo>
                    <a:cubicBezTo>
                      <a:pt x="0" y="65024"/>
                      <a:pt x="2850" y="69335"/>
                      <a:pt x="7240" y="71205"/>
                    </a:cubicBezTo>
                    <a:lnTo>
                      <a:pt x="109277" y="117639"/>
                    </a:lnTo>
                    <a:cubicBezTo>
                      <a:pt x="115554" y="120503"/>
                      <a:pt x="122764" y="120503"/>
                      <a:pt x="129041" y="117639"/>
                    </a:cubicBezTo>
                    <a:close/>
                  </a:path>
                </a:pathLst>
              </a:custGeom>
              <a:noFill/>
              <a:ln w="21431">
                <a:solidFill>
                  <a:srgbClr val="183A6A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910138" y="5872162"/>
                <a:ext cx="95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1438">
                    <a:moveTo>
                      <a:pt x="0" y="0"/>
                    </a:moveTo>
                    <a:lnTo>
                      <a:pt x="0" y="71438"/>
                    </a:lnTo>
                  </a:path>
                </a:pathLst>
              </a:custGeom>
              <a:noFill/>
              <a:ln w="21431">
                <a:solidFill>
                  <a:srgbClr val="183A6A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4719638" y="5901928"/>
                <a:ext cx="142875" cy="77391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7391">
                    <a:moveTo>
                      <a:pt x="0" y="0"/>
                    </a:moveTo>
                    <a:lnTo>
                      <a:pt x="0" y="41672"/>
                    </a:lnTo>
                    <a:cubicBezTo>
                      <a:pt x="0" y="61399"/>
                      <a:pt x="31984" y="77391"/>
                      <a:pt x="71438" y="77391"/>
                    </a:cubicBezTo>
                    <a:cubicBezTo>
                      <a:pt x="110891" y="77391"/>
                      <a:pt x="142875" y="61399"/>
                      <a:pt x="142875" y="41672"/>
                    </a:cubicBezTo>
                    <a:lnTo>
                      <a:pt x="142875" y="0"/>
                    </a:lnTo>
                  </a:path>
                </a:pathLst>
              </a:custGeom>
              <a:noFill/>
              <a:ln w="21431">
                <a:solidFill>
                  <a:srgbClr val="183A6A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5048250" y="5734050"/>
              <a:ext cx="3000375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导师：</a:t>
              </a:r>
              <a:r>
                <a:rPr lang="zh-CN" sz="16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马和民 教授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8246269" y="5776912"/>
              <a:ext cx="214312" cy="238125"/>
              <a:chOff x="8246269" y="5776912"/>
              <a:chExt cx="214312" cy="2381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305800" y="5776912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1431">
                <a:solidFill>
                  <a:srgbClr val="183A6A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401050" y="5776912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1431">
                <a:solidFill>
                  <a:srgbClr val="183A6A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8246269" y="5800725"/>
                <a:ext cx="214312" cy="214312"/>
              </a:xfrm>
              <a:prstGeom prst="roundRect">
                <a:avLst>
                  <a:gd name="adj" fmla="val 11111"/>
                </a:avLst>
              </a:prstGeom>
              <a:noFill/>
              <a:ln w="21431">
                <a:solidFill>
                  <a:srgbClr val="183A6A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246269" y="5872162"/>
                <a:ext cx="2143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">
                    <a:moveTo>
                      <a:pt x="0" y="0"/>
                    </a:moveTo>
                    <a:lnTo>
                      <a:pt x="214312" y="0"/>
                    </a:lnTo>
                  </a:path>
                </a:pathLst>
              </a:custGeom>
              <a:noFill/>
              <a:ln w="21431">
                <a:solidFill>
                  <a:srgbClr val="183A6A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05800" y="59197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1431">
                <a:solidFill>
                  <a:srgbClr val="183A6A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53425" y="59197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1431">
                <a:solidFill>
                  <a:srgbClr val="183A6A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401050" y="59197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1431">
                <a:solidFill>
                  <a:srgbClr val="183A6A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305800" y="596741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1431">
                <a:solidFill>
                  <a:srgbClr val="183A6A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53425" y="596741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1431">
                <a:solidFill>
                  <a:srgbClr val="183A6A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401050" y="596741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1431">
                <a:solidFill>
                  <a:srgbClr val="183A6A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8610600" y="5734050"/>
              <a:ext cx="3000375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日期：</a:t>
              </a:r>
              <a:r>
                <a:rPr lang="zh-CN" sz="16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2017年4月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263557" y="1058704"/>
            <a:ext cx="11664886" cy="9525"/>
          </a:xfrm>
          <a:custGeom>
            <a:avLst/>
            <a:gdLst/>
            <a:ahLst/>
            <a:cxnLst/>
            <a:rect l="l" t="t" r="r" b="b"/>
            <a:pathLst>
              <a:path w="11664886" h="9525">
                <a:moveTo>
                  <a:pt x="0" y="0"/>
                </a:moveTo>
                <a:lnTo>
                  <a:pt x="11664886" y="0"/>
                </a:lnTo>
              </a:path>
            </a:pathLst>
          </a:custGeom>
          <a:noFill/>
          <a:ln w="25403">
            <a:solidFill>
              <a:srgbClr val="183A6A"/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263080" y="297466"/>
            <a:ext cx="636080" cy="522446"/>
            <a:chOff x="263080" y="297466"/>
            <a:chExt cx="636080" cy="522446"/>
          </a:xfrm>
        </p:grpSpPr>
        <p:sp>
          <p:nvSpPr>
            <p:cNvPr id="4" name="Freeform 4"/>
            <p:cNvSpPr/>
            <p:nvPr/>
          </p:nvSpPr>
          <p:spPr>
            <a:xfrm>
              <a:off x="263080" y="346615"/>
              <a:ext cx="636080" cy="473297"/>
            </a:xfrm>
            <a:custGeom>
              <a:avLst/>
              <a:gdLst/>
              <a:ahLst/>
              <a:cxnLst/>
              <a:rect l="l" t="t" r="r" b="b"/>
              <a:pathLst>
                <a:path w="636080" h="473297">
                  <a:moveTo>
                    <a:pt x="11335" y="354139"/>
                  </a:moveTo>
                  <a:lnTo>
                    <a:pt x="61436" y="354139"/>
                  </a:lnTo>
                  <a:lnTo>
                    <a:pt x="72200" y="455676"/>
                  </a:lnTo>
                  <a:cubicBezTo>
                    <a:pt x="72676" y="460058"/>
                    <a:pt x="71247" y="464439"/>
                    <a:pt x="68294" y="467868"/>
                  </a:cubicBezTo>
                  <a:cubicBezTo>
                    <a:pt x="65341" y="471392"/>
                    <a:pt x="60865" y="473297"/>
                    <a:pt x="56007" y="473297"/>
                  </a:cubicBezTo>
                  <a:lnTo>
                    <a:pt x="16764" y="473297"/>
                  </a:lnTo>
                  <a:cubicBezTo>
                    <a:pt x="12287" y="473297"/>
                    <a:pt x="7906" y="471392"/>
                    <a:pt x="4953" y="467868"/>
                  </a:cubicBezTo>
                  <a:cubicBezTo>
                    <a:pt x="1524" y="464439"/>
                    <a:pt x="0" y="460058"/>
                    <a:pt x="571" y="455676"/>
                  </a:cubicBezTo>
                  <a:close/>
                  <a:moveTo>
                    <a:pt x="563880" y="204026"/>
                  </a:moveTo>
                  <a:cubicBezTo>
                    <a:pt x="563880" y="204026"/>
                    <a:pt x="577596" y="329089"/>
                    <a:pt x="577596" y="330613"/>
                  </a:cubicBezTo>
                  <a:cubicBezTo>
                    <a:pt x="578167" y="339852"/>
                    <a:pt x="570262" y="346805"/>
                    <a:pt x="561404" y="346805"/>
                  </a:cubicBezTo>
                  <a:cubicBezTo>
                    <a:pt x="560927" y="346805"/>
                    <a:pt x="559498" y="346805"/>
                    <a:pt x="558451" y="346805"/>
                  </a:cubicBezTo>
                  <a:cubicBezTo>
                    <a:pt x="545687" y="344805"/>
                    <a:pt x="532447" y="343852"/>
                    <a:pt x="519208" y="343852"/>
                  </a:cubicBezTo>
                  <a:cubicBezTo>
                    <a:pt x="440626" y="343852"/>
                    <a:pt x="370332" y="377190"/>
                    <a:pt x="344329" y="426244"/>
                  </a:cubicBezTo>
                  <a:cubicBezTo>
                    <a:pt x="341852" y="431578"/>
                    <a:pt x="335947" y="435102"/>
                    <a:pt x="330041" y="435102"/>
                  </a:cubicBezTo>
                  <a:lnTo>
                    <a:pt x="325184" y="435102"/>
                  </a:lnTo>
                  <a:cubicBezTo>
                    <a:pt x="318802" y="435102"/>
                    <a:pt x="313373" y="431578"/>
                    <a:pt x="310420" y="426244"/>
                  </a:cubicBezTo>
                  <a:cubicBezTo>
                    <a:pt x="284416" y="376714"/>
                    <a:pt x="214122" y="343852"/>
                    <a:pt x="135541" y="343852"/>
                  </a:cubicBezTo>
                  <a:cubicBezTo>
                    <a:pt x="122301" y="343852"/>
                    <a:pt x="109061" y="344805"/>
                    <a:pt x="96298" y="346805"/>
                  </a:cubicBezTo>
                  <a:cubicBezTo>
                    <a:pt x="91345" y="347281"/>
                    <a:pt x="85916" y="345758"/>
                    <a:pt x="82486" y="341852"/>
                  </a:cubicBezTo>
                  <a:cubicBezTo>
                    <a:pt x="78581" y="338423"/>
                    <a:pt x="77152" y="333565"/>
                    <a:pt x="77629" y="328136"/>
                  </a:cubicBezTo>
                  <a:lnTo>
                    <a:pt x="91345" y="204978"/>
                  </a:lnTo>
                  <a:lnTo>
                    <a:pt x="327660" y="293751"/>
                  </a:lnTo>
                  <a:close/>
                  <a:moveTo>
                    <a:pt x="321754" y="1429"/>
                  </a:moveTo>
                  <a:cubicBezTo>
                    <a:pt x="325660" y="0"/>
                    <a:pt x="329565" y="0"/>
                    <a:pt x="332994" y="1429"/>
                  </a:cubicBezTo>
                  <a:lnTo>
                    <a:pt x="625316" y="111347"/>
                  </a:lnTo>
                  <a:cubicBezTo>
                    <a:pt x="631698" y="113728"/>
                    <a:pt x="636080" y="119634"/>
                    <a:pt x="636080" y="126492"/>
                  </a:cubicBezTo>
                  <a:cubicBezTo>
                    <a:pt x="636080" y="133350"/>
                    <a:pt x="631698" y="139255"/>
                    <a:pt x="625316" y="141732"/>
                  </a:cubicBezTo>
                  <a:lnTo>
                    <a:pt x="332994" y="251555"/>
                  </a:lnTo>
                  <a:cubicBezTo>
                    <a:pt x="329565" y="253079"/>
                    <a:pt x="325660" y="253079"/>
                    <a:pt x="321754" y="251555"/>
                  </a:cubicBezTo>
                  <a:lnTo>
                    <a:pt x="55054" y="151543"/>
                  </a:lnTo>
                  <a:lnTo>
                    <a:pt x="55054" y="325660"/>
                  </a:lnTo>
                  <a:lnTo>
                    <a:pt x="18193" y="325660"/>
                  </a:lnTo>
                  <a:lnTo>
                    <a:pt x="18193" y="126492"/>
                  </a:lnTo>
                  <a:cubicBezTo>
                    <a:pt x="18193" y="120110"/>
                    <a:pt x="22098" y="113728"/>
                    <a:pt x="28480" y="111347"/>
                  </a:cubicBezTo>
                  <a:close/>
                </a:path>
              </a:pathLst>
            </a:custGeom>
            <a:solidFill>
              <a:srgbClr val="183A6A">
                <a:alpha val="15000"/>
              </a:srgbClr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263080" y="297466"/>
              <a:ext cx="636080" cy="473297"/>
            </a:xfrm>
            <a:custGeom>
              <a:avLst/>
              <a:gdLst/>
              <a:ahLst/>
              <a:cxnLst/>
              <a:rect l="l" t="t" r="r" b="b"/>
              <a:pathLst>
                <a:path w="636080" h="473297">
                  <a:moveTo>
                    <a:pt x="11335" y="354139"/>
                  </a:moveTo>
                  <a:lnTo>
                    <a:pt x="61436" y="354139"/>
                  </a:lnTo>
                  <a:lnTo>
                    <a:pt x="72200" y="455676"/>
                  </a:lnTo>
                  <a:cubicBezTo>
                    <a:pt x="72676" y="460058"/>
                    <a:pt x="71247" y="464534"/>
                    <a:pt x="68294" y="467963"/>
                  </a:cubicBezTo>
                  <a:cubicBezTo>
                    <a:pt x="65341" y="471392"/>
                    <a:pt x="60865" y="473297"/>
                    <a:pt x="56007" y="473297"/>
                  </a:cubicBezTo>
                  <a:lnTo>
                    <a:pt x="16764" y="473297"/>
                  </a:lnTo>
                  <a:cubicBezTo>
                    <a:pt x="12287" y="473297"/>
                    <a:pt x="7906" y="471392"/>
                    <a:pt x="4953" y="467963"/>
                  </a:cubicBezTo>
                  <a:cubicBezTo>
                    <a:pt x="1524" y="464534"/>
                    <a:pt x="0" y="460058"/>
                    <a:pt x="571" y="455676"/>
                  </a:cubicBezTo>
                  <a:close/>
                  <a:moveTo>
                    <a:pt x="563880" y="204025"/>
                  </a:moveTo>
                  <a:cubicBezTo>
                    <a:pt x="563880" y="204025"/>
                    <a:pt x="577596" y="329089"/>
                    <a:pt x="577596" y="330613"/>
                  </a:cubicBezTo>
                  <a:cubicBezTo>
                    <a:pt x="578167" y="339947"/>
                    <a:pt x="570262" y="346805"/>
                    <a:pt x="561404" y="346805"/>
                  </a:cubicBezTo>
                  <a:cubicBezTo>
                    <a:pt x="560927" y="346805"/>
                    <a:pt x="559498" y="346805"/>
                    <a:pt x="558451" y="346805"/>
                  </a:cubicBezTo>
                  <a:cubicBezTo>
                    <a:pt x="545687" y="344805"/>
                    <a:pt x="532447" y="343852"/>
                    <a:pt x="519208" y="343852"/>
                  </a:cubicBezTo>
                  <a:cubicBezTo>
                    <a:pt x="440626" y="343852"/>
                    <a:pt x="370332" y="377190"/>
                    <a:pt x="344329" y="426244"/>
                  </a:cubicBezTo>
                  <a:cubicBezTo>
                    <a:pt x="341852" y="431673"/>
                    <a:pt x="335947" y="435102"/>
                    <a:pt x="330041" y="435102"/>
                  </a:cubicBezTo>
                  <a:lnTo>
                    <a:pt x="325184" y="435102"/>
                  </a:lnTo>
                  <a:cubicBezTo>
                    <a:pt x="318802" y="435102"/>
                    <a:pt x="313373" y="431673"/>
                    <a:pt x="310420" y="426244"/>
                  </a:cubicBezTo>
                  <a:cubicBezTo>
                    <a:pt x="284416" y="376714"/>
                    <a:pt x="214122" y="343852"/>
                    <a:pt x="135541" y="343852"/>
                  </a:cubicBezTo>
                  <a:cubicBezTo>
                    <a:pt x="122301" y="343852"/>
                    <a:pt x="109061" y="344805"/>
                    <a:pt x="96298" y="346805"/>
                  </a:cubicBezTo>
                  <a:cubicBezTo>
                    <a:pt x="91345" y="347281"/>
                    <a:pt x="85916" y="345758"/>
                    <a:pt x="82486" y="341852"/>
                  </a:cubicBezTo>
                  <a:cubicBezTo>
                    <a:pt x="78581" y="338423"/>
                    <a:pt x="77152" y="333565"/>
                    <a:pt x="77629" y="328136"/>
                  </a:cubicBezTo>
                  <a:lnTo>
                    <a:pt x="91345" y="204978"/>
                  </a:lnTo>
                  <a:lnTo>
                    <a:pt x="327660" y="293846"/>
                  </a:lnTo>
                  <a:close/>
                  <a:moveTo>
                    <a:pt x="321754" y="1429"/>
                  </a:moveTo>
                  <a:cubicBezTo>
                    <a:pt x="325660" y="0"/>
                    <a:pt x="329565" y="0"/>
                    <a:pt x="332994" y="1429"/>
                  </a:cubicBezTo>
                  <a:lnTo>
                    <a:pt x="625316" y="111347"/>
                  </a:lnTo>
                  <a:cubicBezTo>
                    <a:pt x="631698" y="113824"/>
                    <a:pt x="636080" y="119634"/>
                    <a:pt x="636080" y="126492"/>
                  </a:cubicBezTo>
                  <a:cubicBezTo>
                    <a:pt x="636080" y="133445"/>
                    <a:pt x="631698" y="139256"/>
                    <a:pt x="625316" y="141732"/>
                  </a:cubicBezTo>
                  <a:lnTo>
                    <a:pt x="332994" y="251555"/>
                  </a:lnTo>
                  <a:cubicBezTo>
                    <a:pt x="329565" y="253079"/>
                    <a:pt x="325660" y="253079"/>
                    <a:pt x="321754" y="251555"/>
                  </a:cubicBezTo>
                  <a:lnTo>
                    <a:pt x="55054" y="151543"/>
                  </a:lnTo>
                  <a:lnTo>
                    <a:pt x="55054" y="325660"/>
                  </a:lnTo>
                  <a:lnTo>
                    <a:pt x="18193" y="325660"/>
                  </a:lnTo>
                  <a:lnTo>
                    <a:pt x="18193" y="126492"/>
                  </a:lnTo>
                  <a:cubicBezTo>
                    <a:pt x="18193" y="120110"/>
                    <a:pt x="22098" y="113824"/>
                    <a:pt x="28480" y="111347"/>
                  </a:cubicBezTo>
                  <a:close/>
                </a:path>
              </a:pathLst>
            </a:custGeom>
            <a:solidFill>
              <a:srgbClr val="183A6A"/>
            </a:solidFill>
            <a:ln>
              <a:noFill/>
            </a:ln>
          </p:spPr>
        </p:sp>
      </p:grpSp>
      <p:sp>
        <p:nvSpPr>
          <p:cNvPr id="7" name="Rectangle 7"/>
          <p:cNvSpPr/>
          <p:nvPr/>
        </p:nvSpPr>
        <p:spPr>
          <a:xfrm>
            <a:off x="0" y="0"/>
            <a:ext cx="5191792" cy="6858000"/>
          </a:xfrm>
          <a:prstGeom prst="rect">
            <a:avLst/>
          </a:prstGeom>
          <a:solidFill>
            <a:srgbClr val="183A6A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529590" y="1363028"/>
            <a:ext cx="4131945" cy="4131945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1607820" y="2492692"/>
            <a:ext cx="2060258" cy="1530668"/>
          </a:xfrm>
          <a:custGeom>
            <a:avLst/>
            <a:gdLst/>
            <a:ahLst/>
            <a:cxnLst/>
            <a:rect l="l" t="t" r="r" b="b"/>
            <a:pathLst>
              <a:path w="2060258" h="1530668">
                <a:moveTo>
                  <a:pt x="40005" y="1145858"/>
                </a:moveTo>
                <a:lnTo>
                  <a:pt x="201930" y="1145858"/>
                </a:lnTo>
                <a:lnTo>
                  <a:pt x="240030" y="1469708"/>
                </a:lnTo>
                <a:cubicBezTo>
                  <a:pt x="241935" y="1484948"/>
                  <a:pt x="237172" y="1500188"/>
                  <a:pt x="226695" y="1511618"/>
                </a:cubicBezTo>
                <a:cubicBezTo>
                  <a:pt x="216217" y="1524000"/>
                  <a:pt x="201930" y="1530668"/>
                  <a:pt x="185738" y="1530668"/>
                </a:cubicBezTo>
                <a:lnTo>
                  <a:pt x="56197" y="1530668"/>
                </a:lnTo>
                <a:cubicBezTo>
                  <a:pt x="40957" y="1530668"/>
                  <a:pt x="26670" y="1524000"/>
                  <a:pt x="16192" y="1511618"/>
                </a:cubicBezTo>
                <a:cubicBezTo>
                  <a:pt x="4762" y="1500188"/>
                  <a:pt x="0" y="1484948"/>
                  <a:pt x="1905" y="1469708"/>
                </a:cubicBezTo>
                <a:close/>
                <a:moveTo>
                  <a:pt x="1824990" y="661988"/>
                </a:moveTo>
                <a:cubicBezTo>
                  <a:pt x="1824990" y="661988"/>
                  <a:pt x="1868805" y="1066800"/>
                  <a:pt x="1868805" y="1071562"/>
                </a:cubicBezTo>
                <a:cubicBezTo>
                  <a:pt x="1870710" y="1101090"/>
                  <a:pt x="1844992" y="1123950"/>
                  <a:pt x="1816418" y="1123950"/>
                </a:cubicBezTo>
                <a:cubicBezTo>
                  <a:pt x="1814512" y="1123950"/>
                  <a:pt x="1809750" y="1123950"/>
                  <a:pt x="1806892" y="1123950"/>
                </a:cubicBezTo>
                <a:cubicBezTo>
                  <a:pt x="1764982" y="1117282"/>
                  <a:pt x="1722120" y="1114425"/>
                  <a:pt x="1679258" y="1114425"/>
                </a:cubicBezTo>
                <a:cubicBezTo>
                  <a:pt x="1424940" y="1114425"/>
                  <a:pt x="1197292" y="1222058"/>
                  <a:pt x="1113472" y="1381125"/>
                </a:cubicBezTo>
                <a:cubicBezTo>
                  <a:pt x="1104900" y="1398270"/>
                  <a:pt x="1085850" y="1409700"/>
                  <a:pt x="1066800" y="1409700"/>
                </a:cubicBezTo>
                <a:lnTo>
                  <a:pt x="1050608" y="1409700"/>
                </a:lnTo>
                <a:cubicBezTo>
                  <a:pt x="1029652" y="1409700"/>
                  <a:pt x="1012508" y="1398270"/>
                  <a:pt x="1002983" y="1381125"/>
                </a:cubicBezTo>
                <a:cubicBezTo>
                  <a:pt x="918210" y="1220153"/>
                  <a:pt x="691515" y="1114425"/>
                  <a:pt x="437197" y="1114425"/>
                </a:cubicBezTo>
                <a:cubicBezTo>
                  <a:pt x="394335" y="1114425"/>
                  <a:pt x="351472" y="1117282"/>
                  <a:pt x="310515" y="1123950"/>
                </a:cubicBezTo>
                <a:cubicBezTo>
                  <a:pt x="294322" y="1125855"/>
                  <a:pt x="277177" y="1121092"/>
                  <a:pt x="265747" y="1108710"/>
                </a:cubicBezTo>
                <a:cubicBezTo>
                  <a:pt x="253365" y="1097280"/>
                  <a:pt x="248602" y="1082040"/>
                  <a:pt x="250507" y="1063942"/>
                </a:cubicBezTo>
                <a:lnTo>
                  <a:pt x="294322" y="664845"/>
                </a:lnTo>
                <a:lnTo>
                  <a:pt x="1060132" y="952500"/>
                </a:lnTo>
                <a:close/>
                <a:moveTo>
                  <a:pt x="1041083" y="4762"/>
                </a:moveTo>
                <a:cubicBezTo>
                  <a:pt x="1053465" y="0"/>
                  <a:pt x="1066800" y="0"/>
                  <a:pt x="1078230" y="4762"/>
                </a:cubicBezTo>
                <a:lnTo>
                  <a:pt x="2025015" y="360998"/>
                </a:lnTo>
                <a:cubicBezTo>
                  <a:pt x="2045970" y="368617"/>
                  <a:pt x="2060258" y="387667"/>
                  <a:pt x="2060258" y="410528"/>
                </a:cubicBezTo>
                <a:cubicBezTo>
                  <a:pt x="2060258" y="432435"/>
                  <a:pt x="2045970" y="451485"/>
                  <a:pt x="2025015" y="459105"/>
                </a:cubicBezTo>
                <a:lnTo>
                  <a:pt x="1078230" y="815340"/>
                </a:lnTo>
                <a:cubicBezTo>
                  <a:pt x="1066800" y="820103"/>
                  <a:pt x="1053465" y="820103"/>
                  <a:pt x="1041083" y="815340"/>
                </a:cubicBezTo>
                <a:lnTo>
                  <a:pt x="177165" y="491490"/>
                </a:lnTo>
                <a:lnTo>
                  <a:pt x="177165" y="1055370"/>
                </a:lnTo>
                <a:lnTo>
                  <a:pt x="58102" y="1055370"/>
                </a:lnTo>
                <a:lnTo>
                  <a:pt x="58102" y="410528"/>
                </a:lnTo>
                <a:cubicBezTo>
                  <a:pt x="58102" y="389573"/>
                  <a:pt x="70485" y="368617"/>
                  <a:pt x="91440" y="360998"/>
                </a:cubicBezTo>
                <a:close/>
              </a:path>
            </a:pathLst>
          </a:custGeom>
          <a:solidFill>
            <a:srgbClr val="FFFFFF">
              <a:alpha val="18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354712" y="2751482"/>
            <a:ext cx="2922441" cy="17881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8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目录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528502" y="1455320"/>
            <a:ext cx="4842538" cy="5203583"/>
            <a:chOff x="6528502" y="1455320"/>
            <a:chExt cx="4842538" cy="5203583"/>
          </a:xfrm>
        </p:grpSpPr>
        <p:sp>
          <p:nvSpPr>
            <p:cNvPr id="11" name="TextBox 11"/>
            <p:cNvSpPr txBox="1"/>
            <p:nvPr/>
          </p:nvSpPr>
          <p:spPr>
            <a:xfrm>
              <a:off x="6528502" y="1455320"/>
              <a:ext cx="776302" cy="812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00" b="1" dirty="0">
                  <a:solidFill>
                    <a:srgbClr val="183A6A"/>
                  </a:solidFill>
                  <a:latin typeface="Source Han Sans CN"/>
                  <a:ea typeface="Microsoft YaHei"/>
                  <a:cs typeface="Source Han Sans CN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75290" y="1501902"/>
              <a:ext cx="4095750" cy="5232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0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研究背景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28502" y="2333525"/>
              <a:ext cx="776302" cy="812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00" b="1" dirty="0">
                  <a:solidFill>
                    <a:srgbClr val="183A6A"/>
                  </a:solidFill>
                  <a:latin typeface="Source Han Sans CN"/>
                  <a:ea typeface="Microsoft YaHei"/>
                  <a:cs typeface="Source Han Sans CN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75290" y="2380107"/>
              <a:ext cx="4095750" cy="5232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0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目的及意义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28502" y="3211635"/>
              <a:ext cx="776302" cy="812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00" b="1" dirty="0">
                  <a:solidFill>
                    <a:srgbClr val="183A6A"/>
                  </a:solidFill>
                  <a:latin typeface="Source Han Sans CN"/>
                  <a:ea typeface="Microsoft YaHei"/>
                  <a:cs typeface="Source Han Sans CN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75290" y="3258217"/>
              <a:ext cx="4095750" cy="5232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0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材料与方法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28502" y="4089840"/>
              <a:ext cx="776302" cy="812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00" b="1" dirty="0">
                  <a:solidFill>
                    <a:srgbClr val="183A6A"/>
                  </a:solidFill>
                  <a:latin typeface="Source Han Sans CN"/>
                  <a:ea typeface="Microsoft YaHei"/>
                  <a:cs typeface="Source Han Sans CN"/>
                </a:rPr>
                <a:t>04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75290" y="4136422"/>
              <a:ext cx="4095750" cy="5232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0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结果与分析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28502" y="4967949"/>
              <a:ext cx="776302" cy="812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00" b="1" dirty="0">
                  <a:solidFill>
                    <a:srgbClr val="183A6A"/>
                  </a:solidFill>
                  <a:latin typeface="Source Han Sans CN"/>
                  <a:ea typeface="Microsoft YaHei"/>
                  <a:cs typeface="Source Han Sans CN"/>
                </a:rPr>
                <a:t>05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75290" y="5014627"/>
              <a:ext cx="4095750" cy="5232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0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结论与讨论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28502" y="5846154"/>
              <a:ext cx="776302" cy="812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00" b="1" dirty="0">
                  <a:solidFill>
                    <a:srgbClr val="183A6A"/>
                  </a:solidFill>
                  <a:latin typeface="Source Han Sans CN"/>
                  <a:ea typeface="Microsoft YaHei"/>
                  <a:cs typeface="Source Han Sans CN"/>
                </a:rPr>
                <a:t>06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75290" y="5892736"/>
              <a:ext cx="4095750" cy="5232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0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参考文献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263557" y="1058704"/>
            <a:ext cx="11664886" cy="9525"/>
          </a:xfrm>
          <a:custGeom>
            <a:avLst/>
            <a:gdLst/>
            <a:ahLst/>
            <a:cxnLst/>
            <a:rect l="l" t="t" r="r" b="b"/>
            <a:pathLst>
              <a:path w="11664886" h="9525">
                <a:moveTo>
                  <a:pt x="0" y="0"/>
                </a:moveTo>
                <a:lnTo>
                  <a:pt x="11664886" y="0"/>
                </a:lnTo>
              </a:path>
            </a:pathLst>
          </a:custGeom>
          <a:noFill/>
          <a:ln w="25403">
            <a:solidFill>
              <a:srgbClr val="183A6A"/>
            </a:solidFill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191792" cy="6858000"/>
          </a:xfrm>
          <a:prstGeom prst="rect">
            <a:avLst/>
          </a:prstGeom>
          <a:solidFill>
            <a:srgbClr val="183A6A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529590" y="1363028"/>
            <a:ext cx="4131945" cy="4131945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785938" y="2334578"/>
            <a:ext cx="1619250" cy="20373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035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01</a:t>
            </a:r>
          </a:p>
        </p:txBody>
      </p:sp>
      <p:sp>
        <p:nvSpPr>
          <p:cNvPr id="7" name="Rectangle 7"/>
          <p:cNvSpPr/>
          <p:nvPr/>
        </p:nvSpPr>
        <p:spPr>
          <a:xfrm>
            <a:off x="6191250" y="2324100"/>
            <a:ext cx="4495800" cy="38100"/>
          </a:xfrm>
          <a:prstGeom prst="rect">
            <a:avLst/>
          </a:prstGeom>
          <a:solidFill>
            <a:srgbClr val="183A6A">
              <a:alpha val="2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191250" y="2705100"/>
            <a:ext cx="48577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000000"/>
                </a:solidFill>
                <a:latin typeface="Source Han Sans CN"/>
                <a:ea typeface="Microsoft YaHei"/>
                <a:cs typeface="Source Han Sans CN"/>
              </a:rPr>
              <a:t>研究背景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191250" y="3524250"/>
            <a:ext cx="48577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800" dirty="0">
                <a:solidFill>
                  <a:srgbClr val="595959"/>
                </a:solidFill>
                <a:latin typeface="Source Han Sans CN"/>
                <a:ea typeface="Microsoft YaHei"/>
                <a:cs typeface="Source Han Sans CN"/>
              </a:rPr>
              <a:t>Research Background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191250" y="4400550"/>
            <a:ext cx="2209800" cy="95250"/>
          </a:xfrm>
          <a:prstGeom prst="roundRect">
            <a:avLst>
              <a:gd name="adj" fmla="val 50000"/>
            </a:avLst>
          </a:prstGeom>
          <a:solidFill>
            <a:srgbClr val="183A6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174105" y="4807268"/>
            <a:ext cx="15623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Defense Section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0" y="0"/>
            <a:ext cx="12192000" cy="963454"/>
            <a:chOff x="0" y="0"/>
            <a:chExt cx="12192000" cy="963454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83A6A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952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5403">
              <a:solidFill>
                <a:srgbClr val="183A6A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78403" y="115062"/>
              <a:ext cx="722376" cy="7223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287655" y="295275"/>
              <a:ext cx="502920" cy="390525"/>
            </a:xfrm>
            <a:custGeom>
              <a:avLst/>
              <a:gdLst/>
              <a:ahLst/>
              <a:cxnLst/>
              <a:rect l="l" t="t" r="r" b="b"/>
              <a:pathLst>
                <a:path w="502920" h="390525">
                  <a:moveTo>
                    <a:pt x="251460" y="0"/>
                  </a:moveTo>
                  <a:lnTo>
                    <a:pt x="502920" y="104775"/>
                  </a:lnTo>
                  <a:lnTo>
                    <a:pt x="251460" y="209550"/>
                  </a:lnTo>
                  <a:lnTo>
                    <a:pt x="0" y="104775"/>
                  </a:lnTo>
                  <a:close/>
                  <a:moveTo>
                    <a:pt x="93345" y="180975"/>
                  </a:moveTo>
                  <a:lnTo>
                    <a:pt x="251460" y="247650"/>
                  </a:lnTo>
                  <a:lnTo>
                    <a:pt x="409575" y="180975"/>
                  </a:lnTo>
                  <a:lnTo>
                    <a:pt x="409575" y="333375"/>
                  </a:lnTo>
                  <a:cubicBezTo>
                    <a:pt x="310515" y="390525"/>
                    <a:pt x="192405" y="390525"/>
                    <a:pt x="93345" y="333375"/>
                  </a:cubicBezTo>
                  <a:close/>
                </a:path>
              </a:pathLst>
            </a:custGeom>
            <a:solidFill>
              <a:srgbClr val="183A6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70610" y="0"/>
              <a:ext cx="1960721" cy="9634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00045" y="290989"/>
              <a:ext cx="10473499" cy="453818"/>
              <a:chOff x="1500045" y="290989"/>
              <a:chExt cx="10473499" cy="45381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500045" y="290989"/>
                <a:ext cx="1101947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研究背景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93652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Background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439251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目的及意义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809637" y="569547"/>
                <a:ext cx="506885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Purpose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498747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材料与方法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856536" y="569547"/>
                <a:ext cx="53207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Methods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55290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结果与分析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41421" y="569547"/>
                <a:ext cx="475393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Results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67135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结论与讨论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665089" y="569547"/>
                <a:ext cx="65174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Conclusion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967418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参考文献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113115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References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462058" y="1215580"/>
            <a:ext cx="11138630" cy="476917"/>
            <a:chOff x="462058" y="1215580"/>
            <a:chExt cx="11138630" cy="476917"/>
          </a:xfrm>
        </p:grpSpPr>
        <p:sp>
          <p:nvSpPr>
            <p:cNvPr id="22" name="TextBox 22"/>
            <p:cNvSpPr txBox="1"/>
            <p:nvPr/>
          </p:nvSpPr>
          <p:spPr>
            <a:xfrm>
              <a:off x="462058" y="1223200"/>
              <a:ext cx="1877473" cy="4616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研究背景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91740" y="1215580"/>
              <a:ext cx="9108948" cy="476917"/>
            </a:xfrm>
            <a:prstGeom prst="roundRect">
              <a:avLst>
                <a:gd name="adj" fmla="val 11604"/>
              </a:avLst>
            </a:prstGeom>
            <a:solidFill>
              <a:srgbClr val="E7E6E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43200" y="1260824"/>
              <a:ext cx="8553450" cy="3864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导师制不仅是培养制度，也直接塑造研究生的学术与关系体验。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14350" y="1790700"/>
            <a:ext cx="11163300" cy="4629150"/>
            <a:chOff x="514350" y="1790700"/>
            <a:chExt cx="11163300" cy="4629150"/>
          </a:xfrm>
        </p:grpSpPr>
        <p:sp>
          <p:nvSpPr>
            <p:cNvPr id="26" name="Rectangle 26"/>
            <p:cNvSpPr/>
            <p:nvPr/>
          </p:nvSpPr>
          <p:spPr>
            <a:xfrm>
              <a:off x="514350" y="1790700"/>
              <a:ext cx="11163300" cy="4629150"/>
            </a:xfrm>
            <a:prstGeom prst="rect">
              <a:avLst/>
            </a:prstGeom>
            <a:noFill/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97689" y="1885950"/>
              <a:ext cx="10755880" cy="2895600"/>
              <a:chOff x="697689" y="1885950"/>
              <a:chExt cx="10755880" cy="28956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97689" y="1971675"/>
                <a:ext cx="122226" cy="114300"/>
              </a:xfrm>
              <a:prstGeom prst="roundRect">
                <a:avLst>
                  <a:gd name="adj" fmla="val 17822"/>
                </a:avLst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962512" y="1885950"/>
                <a:ext cx="10491057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47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导师制是研究生培养的基本制度，导师水平与指导能力直接影响培养质量。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697689" y="2714625"/>
                <a:ext cx="122226" cy="114300"/>
              </a:xfrm>
              <a:prstGeom prst="roundRect">
                <a:avLst>
                  <a:gd name="adj" fmla="val 17822"/>
                </a:avLst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962512" y="2628900"/>
                <a:ext cx="10491057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47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导生关系已超越传统师生关系，兼具学术、情感、管理与伦理维度。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697689" y="3457575"/>
                <a:ext cx="122226" cy="114300"/>
              </a:xfrm>
              <a:prstGeom prst="roundRect">
                <a:avLst>
                  <a:gd name="adj" fmla="val 17822"/>
                </a:avLst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62512" y="3371850"/>
                <a:ext cx="10491057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47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扩招与制度成熟不足，使沟通、匹配和评价问题更容易在微观关系中显影。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97689" y="4200525"/>
                <a:ext cx="122226" cy="114300"/>
              </a:xfrm>
              <a:prstGeom prst="roundRect">
                <a:avLst>
                  <a:gd name="adj" fmla="val 17822"/>
                </a:avLst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962512" y="4114800"/>
                <a:ext cx="10491057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47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本研究以换导师事件为入口，观察制度安排如何进入一段真实关系。</a:t>
                </a:r>
              </a:p>
            </p:txBody>
          </p:sp>
        </p:grpSp>
      </p:grpSp>
      <p:sp>
        <p:nvSpPr>
          <p:cNvPr id="37" name="TextBox 37"/>
          <p:cNvSpPr txBox="1"/>
          <p:nvPr/>
        </p:nvSpPr>
        <p:spPr>
          <a:xfrm>
            <a:off x="10696575" y="6373178"/>
            <a:ext cx="857250" cy="265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0" y="0"/>
            <a:ext cx="12192000" cy="963454"/>
            <a:chOff x="0" y="0"/>
            <a:chExt cx="12192000" cy="963454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83A6A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952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5403">
              <a:solidFill>
                <a:srgbClr val="183A6A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78403" y="115062"/>
              <a:ext cx="722376" cy="7223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287655" y="295275"/>
              <a:ext cx="502920" cy="390525"/>
            </a:xfrm>
            <a:custGeom>
              <a:avLst/>
              <a:gdLst/>
              <a:ahLst/>
              <a:cxnLst/>
              <a:rect l="l" t="t" r="r" b="b"/>
              <a:pathLst>
                <a:path w="502920" h="390525">
                  <a:moveTo>
                    <a:pt x="251460" y="0"/>
                  </a:moveTo>
                  <a:lnTo>
                    <a:pt x="502920" y="104775"/>
                  </a:lnTo>
                  <a:lnTo>
                    <a:pt x="251460" y="209550"/>
                  </a:lnTo>
                  <a:lnTo>
                    <a:pt x="0" y="104775"/>
                  </a:lnTo>
                  <a:close/>
                  <a:moveTo>
                    <a:pt x="93345" y="180975"/>
                  </a:moveTo>
                  <a:lnTo>
                    <a:pt x="251460" y="247650"/>
                  </a:lnTo>
                  <a:lnTo>
                    <a:pt x="409575" y="180975"/>
                  </a:lnTo>
                  <a:lnTo>
                    <a:pt x="409575" y="333375"/>
                  </a:lnTo>
                  <a:cubicBezTo>
                    <a:pt x="310515" y="390525"/>
                    <a:pt x="192405" y="390525"/>
                    <a:pt x="93345" y="333375"/>
                  </a:cubicBezTo>
                  <a:close/>
                </a:path>
              </a:pathLst>
            </a:custGeom>
            <a:solidFill>
              <a:srgbClr val="183A6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70610" y="0"/>
              <a:ext cx="1960721" cy="9634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00045" y="290989"/>
              <a:ext cx="10473499" cy="453818"/>
              <a:chOff x="1500045" y="290989"/>
              <a:chExt cx="10473499" cy="45381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500045" y="290989"/>
                <a:ext cx="1101947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研究背景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93652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Background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439251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目的及意义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809637" y="569547"/>
                <a:ext cx="506885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Purpose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498747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材料与方法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856536" y="569547"/>
                <a:ext cx="53207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Methods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55290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结果与分析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41421" y="569547"/>
                <a:ext cx="475393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Results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67135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结论与讨论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665089" y="569547"/>
                <a:ext cx="65174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Conclusion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967418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参考文献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113115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References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462058" y="1215580"/>
            <a:ext cx="11138630" cy="476917"/>
            <a:chOff x="462058" y="1215580"/>
            <a:chExt cx="11138630" cy="476917"/>
          </a:xfrm>
        </p:grpSpPr>
        <p:sp>
          <p:nvSpPr>
            <p:cNvPr id="22" name="TextBox 22"/>
            <p:cNvSpPr txBox="1"/>
            <p:nvPr/>
          </p:nvSpPr>
          <p:spPr>
            <a:xfrm>
              <a:off x="462058" y="1223200"/>
              <a:ext cx="1877473" cy="4616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议题演进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91740" y="1215580"/>
              <a:ext cx="9108948" cy="476917"/>
            </a:xfrm>
            <a:prstGeom prst="roundRect">
              <a:avLst>
                <a:gd name="adj" fmla="val 11604"/>
              </a:avLst>
            </a:prstGeom>
            <a:solidFill>
              <a:srgbClr val="E7E6E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43200" y="1260824"/>
              <a:ext cx="8553450" cy="3864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导生关系研究从制度安排转向真实关系质量与冲突机制。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14350" y="1790700"/>
            <a:ext cx="11163300" cy="4629150"/>
            <a:chOff x="514350" y="1790700"/>
            <a:chExt cx="11163300" cy="4629150"/>
          </a:xfrm>
        </p:grpSpPr>
        <p:sp>
          <p:nvSpPr>
            <p:cNvPr id="26" name="Rectangle 26"/>
            <p:cNvSpPr/>
            <p:nvPr/>
          </p:nvSpPr>
          <p:spPr>
            <a:xfrm>
              <a:off x="514350" y="1790700"/>
              <a:ext cx="11163300" cy="4629150"/>
            </a:xfrm>
            <a:prstGeom prst="rect">
              <a:avLst/>
            </a:prstGeom>
            <a:noFill/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514350" y="1905000"/>
              <a:ext cx="11163300" cy="3219450"/>
              <a:chOff x="514350" y="1905000"/>
              <a:chExt cx="11163300" cy="3219450"/>
            </a:xfrm>
          </p:grpSpPr>
          <p:sp>
            <p:nvSpPr>
              <p:cNvPr id="27" name="Line 27"/>
              <p:cNvSpPr/>
              <p:nvPr/>
            </p:nvSpPr>
            <p:spPr>
              <a:xfrm>
                <a:off x="1756980" y="3429000"/>
                <a:ext cx="867804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78040" h="9525">
                    <a:moveTo>
                      <a:pt x="0" y="0"/>
                    </a:moveTo>
                    <a:lnTo>
                      <a:pt x="8678040" y="0"/>
                    </a:lnTo>
                  </a:path>
                </a:pathLst>
              </a:custGeom>
              <a:noFill/>
              <a:ln w="28575">
                <a:solidFill>
                  <a:srgbClr val="183A6A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1624569" y="3296589"/>
                <a:ext cx="264823" cy="264823"/>
              </a:xfrm>
              <a:prstGeom prst="ellipse">
                <a:avLst/>
              </a:prstGeom>
              <a:solidFill>
                <a:srgbClr val="183A6A"/>
              </a:solidFill>
              <a:ln w="38100">
                <a:solidFill>
                  <a:srgbClr val="FFFFFF"/>
                </a:solidFill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514350" y="1905000"/>
                <a:ext cx="2485260" cy="1200150"/>
              </a:xfrm>
              <a:prstGeom prst="roundRect">
                <a:avLst>
                  <a:gd name="adj" fmla="val 5092"/>
                </a:avLst>
              </a:prstGeom>
              <a:solidFill>
                <a:srgbClr val="FFFFFF"/>
              </a:solidFill>
              <a:ln w="15240">
                <a:solidFill>
                  <a:srgbClr val="183A6A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437012" y="2038426"/>
                <a:ext cx="639936" cy="358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64" b="1" dirty="0">
                    <a:solidFill>
                      <a:srgbClr val="183A6A"/>
                    </a:solidFill>
                    <a:latin typeface="Arial"/>
                    <a:ea typeface="Microsoft YaHei"/>
                    <a:cs typeface="Arial"/>
                  </a:rPr>
                  <a:t>1953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287455" y="2355914"/>
                <a:ext cx="939051" cy="2987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70" b="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制度确立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97689" y="2628900"/>
                <a:ext cx="2118582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066" dirty="0">
                    <a:solidFill>
                      <a:srgbClr val="595959"/>
                    </a:solidFill>
                    <a:latin typeface="微软雅黑"/>
                    <a:ea typeface="Microsoft YaHei"/>
                    <a:cs typeface="微软雅黑"/>
                  </a:rPr>
                  <a:t>《暂行办法》正式确立指导教师负责</a:t>
                </a:r>
              </a:p>
              <a:p>
                <a:pPr algn="l"/>
                <a:r>
                  <a:rPr lang="zh-CN" sz="1066" dirty="0">
                    <a:solidFill>
                      <a:srgbClr val="595959"/>
                    </a:solidFill>
                    <a:latin typeface="微软雅黑"/>
                    <a:ea typeface="Microsoft YaHei"/>
                    <a:cs typeface="微软雅黑"/>
                  </a:rPr>
                  <a:t>制。</a:t>
                </a:r>
              </a:p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4517249" y="3296589"/>
                <a:ext cx="264823" cy="264823"/>
              </a:xfrm>
              <a:prstGeom prst="ellipse">
                <a:avLst/>
              </a:prstGeom>
              <a:solidFill>
                <a:srgbClr val="183A6A"/>
              </a:solidFill>
              <a:ln w="38100">
                <a:solidFill>
                  <a:srgbClr val="FFFFFF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3407030" y="3810000"/>
                <a:ext cx="2485260" cy="1314450"/>
              </a:xfrm>
              <a:prstGeom prst="roundRect">
                <a:avLst>
                  <a:gd name="adj" fmla="val 4649"/>
                </a:avLst>
              </a:prstGeom>
              <a:solidFill>
                <a:srgbClr val="FFFFFF"/>
              </a:solidFill>
              <a:ln w="15240">
                <a:solidFill>
                  <a:srgbClr val="183A6A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4255301" y="3943426"/>
                <a:ext cx="788719" cy="358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64" b="1" dirty="0">
                    <a:solidFill>
                      <a:srgbClr val="183A6A"/>
                    </a:solidFill>
                    <a:latin typeface="Arial"/>
                    <a:ea typeface="Microsoft YaHei"/>
                    <a:cs typeface="Arial"/>
                  </a:rPr>
                  <a:t>1980s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180135" y="4260914"/>
                <a:ext cx="939051" cy="2987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70" b="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普遍实施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590369" y="4533900"/>
                <a:ext cx="2118582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066" dirty="0">
                    <a:solidFill>
                      <a:srgbClr val="595959"/>
                    </a:solidFill>
                    <a:latin typeface="微软雅黑"/>
                    <a:ea typeface="Microsoft YaHei"/>
                    <a:cs typeface="微软雅黑"/>
                  </a:rPr>
                  <a:t>研究生培养普遍采取导师制，</a:t>
                </a:r>
              </a:p>
              <a:p>
                <a:pPr algn="l"/>
                <a:r>
                  <a:rPr lang="zh-CN" sz="1066" dirty="0">
                    <a:solidFill>
                      <a:srgbClr val="595959"/>
                    </a:solidFill>
                    <a:latin typeface="微软雅黑"/>
                    <a:ea typeface="Microsoft YaHei"/>
                    <a:cs typeface="微软雅黑"/>
                  </a:rPr>
                  <a:t>导师成为培养链条核心。</a:t>
                </a:r>
              </a:p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7409929" y="3296589"/>
                <a:ext cx="264823" cy="264823"/>
              </a:xfrm>
              <a:prstGeom prst="ellipse">
                <a:avLst/>
              </a:prstGeom>
              <a:solidFill>
                <a:srgbClr val="183A6A"/>
              </a:solidFill>
              <a:ln w="38100">
                <a:solidFill>
                  <a:srgbClr val="FFFFFF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6299710" y="1905000"/>
                <a:ext cx="2485260" cy="1200150"/>
              </a:xfrm>
              <a:prstGeom prst="roundRect">
                <a:avLst>
                  <a:gd name="adj" fmla="val 5092"/>
                </a:avLst>
              </a:prstGeom>
              <a:solidFill>
                <a:srgbClr val="FFFFFF"/>
              </a:solidFill>
              <a:ln w="15240">
                <a:solidFill>
                  <a:srgbClr val="183A6A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147981" y="2038426"/>
                <a:ext cx="788719" cy="358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64" b="1" dirty="0">
                    <a:solidFill>
                      <a:srgbClr val="183A6A"/>
                    </a:solidFill>
                    <a:latin typeface="Arial"/>
                    <a:ea typeface="Microsoft YaHei"/>
                    <a:cs typeface="Arial"/>
                  </a:rPr>
                  <a:t>2000s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072815" y="2355914"/>
                <a:ext cx="939051" cy="2987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70" b="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研究转向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483049" y="2628900"/>
                <a:ext cx="2118582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066" dirty="0">
                    <a:solidFill>
                      <a:srgbClr val="595959"/>
                    </a:solidFill>
                    <a:latin typeface="微软雅黑"/>
                    <a:ea typeface="Microsoft YaHei"/>
                    <a:cs typeface="微软雅黑"/>
                  </a:rPr>
                  <a:t>研究逐渐走向鲜活教育事实。</a:t>
                </a:r>
              </a:p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10302608" y="3296589"/>
                <a:ext cx="264823" cy="264823"/>
              </a:xfrm>
              <a:prstGeom prst="ellipse">
                <a:avLst/>
              </a:prstGeom>
              <a:solidFill>
                <a:srgbClr val="183A6A"/>
              </a:solidFill>
              <a:ln w="38100">
                <a:solidFill>
                  <a:srgbClr val="FFFFFF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9192390" y="3810000"/>
                <a:ext cx="2485260" cy="1314450"/>
              </a:xfrm>
              <a:prstGeom prst="roundRect">
                <a:avLst>
                  <a:gd name="adj" fmla="val 4649"/>
                </a:avLst>
              </a:prstGeom>
              <a:solidFill>
                <a:srgbClr val="FFFFFF"/>
              </a:solidFill>
              <a:ln w="15240">
                <a:solidFill>
                  <a:srgbClr val="183A6A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10142103" y="3943426"/>
                <a:ext cx="585833" cy="358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64" b="1" dirty="0">
                    <a:solidFill>
                      <a:srgbClr val="183A6A"/>
                    </a:solidFill>
                    <a:latin typeface="Arial"/>
                    <a:ea typeface="Microsoft YaHei"/>
                    <a:cs typeface="Arial"/>
                  </a:rPr>
                  <a:t>近年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965495" y="4260914"/>
                <a:ext cx="939051" cy="2987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70" b="1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质量焦点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375729" y="4533900"/>
                <a:ext cx="2118582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066" dirty="0">
                    <a:solidFill>
                      <a:srgbClr val="595959"/>
                    </a:solidFill>
                    <a:latin typeface="微软雅黑"/>
                    <a:ea typeface="Microsoft YaHei"/>
                    <a:cs typeface="微软雅黑"/>
                  </a:rPr>
                  <a:t>扩招、冲突与评价缺失，</a:t>
                </a:r>
              </a:p>
              <a:p>
                <a:pPr algn="l"/>
                <a:r>
                  <a:rPr lang="zh-CN" sz="1066" dirty="0">
                    <a:solidFill>
                      <a:srgbClr val="595959"/>
                    </a:solidFill>
                    <a:latin typeface="微软雅黑"/>
                    <a:ea typeface="Microsoft YaHei"/>
                    <a:cs typeface="微软雅黑"/>
                  </a:rPr>
                  <a:t>推动关系质量反思。</a:t>
                </a:r>
              </a:p>
            </p:txBody>
          </p:sp>
        </p:grpSp>
      </p:grpSp>
      <p:sp>
        <p:nvSpPr>
          <p:cNvPr id="50" name="TextBox 50"/>
          <p:cNvSpPr txBox="1"/>
          <p:nvPr/>
        </p:nvSpPr>
        <p:spPr>
          <a:xfrm>
            <a:off x="10696575" y="6373178"/>
            <a:ext cx="857250" cy="265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0" y="0"/>
            <a:ext cx="12192000" cy="963454"/>
            <a:chOff x="0" y="0"/>
            <a:chExt cx="12192000" cy="963454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83A6A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952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5403">
              <a:solidFill>
                <a:srgbClr val="183A6A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78403" y="115062"/>
              <a:ext cx="722376" cy="7223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287655" y="295275"/>
              <a:ext cx="502920" cy="390525"/>
            </a:xfrm>
            <a:custGeom>
              <a:avLst/>
              <a:gdLst/>
              <a:ahLst/>
              <a:cxnLst/>
              <a:rect l="l" t="t" r="r" b="b"/>
              <a:pathLst>
                <a:path w="502920" h="390525">
                  <a:moveTo>
                    <a:pt x="251460" y="0"/>
                  </a:moveTo>
                  <a:lnTo>
                    <a:pt x="502920" y="104775"/>
                  </a:lnTo>
                  <a:lnTo>
                    <a:pt x="251460" y="209550"/>
                  </a:lnTo>
                  <a:lnTo>
                    <a:pt x="0" y="104775"/>
                  </a:lnTo>
                  <a:close/>
                  <a:moveTo>
                    <a:pt x="93345" y="180975"/>
                  </a:moveTo>
                  <a:lnTo>
                    <a:pt x="251460" y="247650"/>
                  </a:lnTo>
                  <a:lnTo>
                    <a:pt x="409575" y="180975"/>
                  </a:lnTo>
                  <a:lnTo>
                    <a:pt x="409575" y="333375"/>
                  </a:lnTo>
                  <a:cubicBezTo>
                    <a:pt x="310515" y="390525"/>
                    <a:pt x="192405" y="390525"/>
                    <a:pt x="93345" y="333375"/>
                  </a:cubicBezTo>
                  <a:close/>
                </a:path>
              </a:pathLst>
            </a:custGeom>
            <a:solidFill>
              <a:srgbClr val="183A6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70610" y="0"/>
              <a:ext cx="1960721" cy="9634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00045" y="290989"/>
              <a:ext cx="10473499" cy="453818"/>
              <a:chOff x="1500045" y="290989"/>
              <a:chExt cx="10473499" cy="45381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500045" y="290989"/>
                <a:ext cx="1101947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研究背景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93652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Background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439251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目的及意义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809637" y="569547"/>
                <a:ext cx="506885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Purpose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498747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材料与方法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856536" y="569547"/>
                <a:ext cx="53207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Methods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55290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结果与分析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41421" y="569547"/>
                <a:ext cx="475393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Results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67135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结论与讨论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665089" y="569547"/>
                <a:ext cx="65174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Conclusion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967418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参考文献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113115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References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462058" y="1215580"/>
            <a:ext cx="11138630" cy="476917"/>
            <a:chOff x="462058" y="1215580"/>
            <a:chExt cx="11138630" cy="476917"/>
          </a:xfrm>
        </p:grpSpPr>
        <p:sp>
          <p:nvSpPr>
            <p:cNvPr id="22" name="TextBox 22"/>
            <p:cNvSpPr txBox="1"/>
            <p:nvPr/>
          </p:nvSpPr>
          <p:spPr>
            <a:xfrm>
              <a:off x="462058" y="1223200"/>
              <a:ext cx="1877473" cy="4616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研究缺口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91740" y="1215580"/>
              <a:ext cx="9108948" cy="476917"/>
            </a:xfrm>
            <a:prstGeom prst="roundRect">
              <a:avLst>
                <a:gd name="adj" fmla="val 11604"/>
              </a:avLst>
            </a:prstGeom>
            <a:solidFill>
              <a:srgbClr val="E7E6E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43200" y="1260824"/>
              <a:ext cx="8553450" cy="3864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既有研究偏宏观与单侧资料，难以解释个案中关系如何裂变。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14350" y="1790700"/>
            <a:ext cx="11163300" cy="4629150"/>
            <a:chOff x="514350" y="1790700"/>
            <a:chExt cx="11163300" cy="4629150"/>
          </a:xfrm>
        </p:grpSpPr>
        <p:sp>
          <p:nvSpPr>
            <p:cNvPr id="26" name="Rectangle 26"/>
            <p:cNvSpPr/>
            <p:nvPr/>
          </p:nvSpPr>
          <p:spPr>
            <a:xfrm>
              <a:off x="514350" y="1790700"/>
              <a:ext cx="11163300" cy="4629150"/>
            </a:xfrm>
            <a:prstGeom prst="rect">
              <a:avLst/>
            </a:prstGeom>
            <a:noFill/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514350" y="1905000"/>
              <a:ext cx="11163300" cy="3028950"/>
              <a:chOff x="514350" y="1905000"/>
              <a:chExt cx="11163300" cy="30289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514350" y="1905000"/>
                <a:ext cx="5296456" cy="3028950"/>
              </a:xfrm>
              <a:custGeom>
                <a:avLst/>
                <a:gdLst/>
                <a:ahLst/>
                <a:cxnLst/>
                <a:rect l="l" t="t" r="r" b="b"/>
                <a:pathLst>
                  <a:path w="5296456" h="3028950">
                    <a:moveTo>
                      <a:pt x="81484" y="0"/>
                    </a:moveTo>
                    <a:lnTo>
                      <a:pt x="5214972" y="0"/>
                    </a:lnTo>
                    <a:cubicBezTo>
                      <a:pt x="5259974" y="0"/>
                      <a:pt x="5296456" y="34116"/>
                      <a:pt x="5296456" y="76200"/>
                    </a:cubicBezTo>
                    <a:lnTo>
                      <a:pt x="5296456" y="2952750"/>
                    </a:lnTo>
                    <a:cubicBezTo>
                      <a:pt x="5296456" y="2994834"/>
                      <a:pt x="5259974" y="3028950"/>
                      <a:pt x="5214972" y="3028950"/>
                    </a:cubicBezTo>
                    <a:lnTo>
                      <a:pt x="81484" y="3028950"/>
                    </a:lnTo>
                    <a:cubicBezTo>
                      <a:pt x="36482" y="3028950"/>
                      <a:pt x="0" y="2994834"/>
                      <a:pt x="0" y="295275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183A6A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514350" y="1905000"/>
                <a:ext cx="5296456" cy="495300"/>
              </a:xfrm>
              <a:prstGeom prst="rect">
                <a:avLst/>
              </a:prstGeom>
              <a:solidFill>
                <a:srgbClr val="E7E6E6"/>
              </a:solidFill>
              <a:ln w="0">
                <a:solidFill>
                  <a:srgbClr val="183A6A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2599148" y="2047951"/>
                <a:ext cx="1126861" cy="358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64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既有研究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60657" y="2552700"/>
                <a:ext cx="4603843" cy="209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多集中于内涵、本质、类型、影响因素和对策；</a:t>
                </a:r>
              </a:p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方法上偏问卷量化，且主要采集研究生一侧资料。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6381194" y="1905000"/>
                <a:ext cx="5296456" cy="3028950"/>
              </a:xfrm>
              <a:custGeom>
                <a:avLst/>
                <a:gdLst/>
                <a:ahLst/>
                <a:cxnLst/>
                <a:rect l="l" t="t" r="r" b="b"/>
                <a:pathLst>
                  <a:path w="5296456" h="3028950">
                    <a:moveTo>
                      <a:pt x="81484" y="0"/>
                    </a:moveTo>
                    <a:lnTo>
                      <a:pt x="5214972" y="0"/>
                    </a:lnTo>
                    <a:cubicBezTo>
                      <a:pt x="5259974" y="0"/>
                      <a:pt x="5296456" y="34116"/>
                      <a:pt x="5296456" y="76200"/>
                    </a:cubicBezTo>
                    <a:lnTo>
                      <a:pt x="5296456" y="2952750"/>
                    </a:lnTo>
                    <a:cubicBezTo>
                      <a:pt x="5296456" y="2994834"/>
                      <a:pt x="5259974" y="3028950"/>
                      <a:pt x="5214972" y="3028950"/>
                    </a:cubicBezTo>
                    <a:lnTo>
                      <a:pt x="81484" y="3028950"/>
                    </a:lnTo>
                    <a:cubicBezTo>
                      <a:pt x="36482" y="3028950"/>
                      <a:pt x="0" y="2994834"/>
                      <a:pt x="0" y="295275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183A6A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6381194" y="1905000"/>
                <a:ext cx="5296456" cy="495300"/>
              </a:xfrm>
              <a:prstGeom prst="rect">
                <a:avLst/>
              </a:prstGeom>
              <a:solidFill>
                <a:srgbClr val="E7E6E6"/>
              </a:solidFill>
              <a:ln w="0">
                <a:solidFill>
                  <a:srgbClr val="183A6A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465991" y="2047951"/>
                <a:ext cx="1126861" cy="358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64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本文切入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727501" y="2552700"/>
                <a:ext cx="4603843" cy="209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以换导师事件为个案，结合当事人、舍友、</a:t>
                </a:r>
              </a:p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同门与新导师访谈，重建事件过程与机制。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782160" y="3098940"/>
                <a:ext cx="627680" cy="6571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234" b="1" dirty="0">
                    <a:solidFill>
                      <a:srgbClr val="183A6A"/>
                    </a:solidFill>
                    <a:latin typeface="Arial"/>
                    <a:ea typeface="Microsoft YaHei"/>
                    <a:cs typeface="Arial"/>
                  </a:rPr>
                  <a:t>VS</a:t>
                </a:r>
              </a:p>
            </p:txBody>
          </p:sp>
        </p:grpSp>
      </p:grpSp>
      <p:sp>
        <p:nvSpPr>
          <p:cNvPr id="38" name="TextBox 38"/>
          <p:cNvSpPr txBox="1"/>
          <p:nvPr/>
        </p:nvSpPr>
        <p:spPr>
          <a:xfrm>
            <a:off x="10696575" y="6373178"/>
            <a:ext cx="857250" cy="265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263557" y="1058704"/>
            <a:ext cx="11664886" cy="9525"/>
          </a:xfrm>
          <a:custGeom>
            <a:avLst/>
            <a:gdLst/>
            <a:ahLst/>
            <a:cxnLst/>
            <a:rect l="l" t="t" r="r" b="b"/>
            <a:pathLst>
              <a:path w="11664886" h="9525">
                <a:moveTo>
                  <a:pt x="0" y="0"/>
                </a:moveTo>
                <a:lnTo>
                  <a:pt x="11664886" y="0"/>
                </a:lnTo>
              </a:path>
            </a:pathLst>
          </a:custGeom>
          <a:noFill/>
          <a:ln w="25403">
            <a:solidFill>
              <a:srgbClr val="183A6A"/>
            </a:solidFill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191792" cy="6858000"/>
          </a:xfrm>
          <a:prstGeom prst="rect">
            <a:avLst/>
          </a:prstGeom>
          <a:solidFill>
            <a:srgbClr val="183A6A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529590" y="1363028"/>
            <a:ext cx="4131945" cy="4131945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785938" y="2334578"/>
            <a:ext cx="1619250" cy="20373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035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02</a:t>
            </a:r>
          </a:p>
        </p:txBody>
      </p:sp>
      <p:sp>
        <p:nvSpPr>
          <p:cNvPr id="7" name="Rectangle 7"/>
          <p:cNvSpPr/>
          <p:nvPr/>
        </p:nvSpPr>
        <p:spPr>
          <a:xfrm>
            <a:off x="6191250" y="2324100"/>
            <a:ext cx="4495800" cy="38100"/>
          </a:xfrm>
          <a:prstGeom prst="rect">
            <a:avLst/>
          </a:prstGeom>
          <a:solidFill>
            <a:srgbClr val="183A6A">
              <a:alpha val="2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191250" y="2705100"/>
            <a:ext cx="48577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000000"/>
                </a:solidFill>
                <a:latin typeface="Source Han Sans CN"/>
                <a:ea typeface="Microsoft YaHei"/>
                <a:cs typeface="Source Han Sans CN"/>
              </a:rPr>
              <a:t>目的及意义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191250" y="3524250"/>
            <a:ext cx="48577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800" dirty="0">
                <a:solidFill>
                  <a:srgbClr val="595959"/>
                </a:solidFill>
                <a:latin typeface="Source Han Sans CN"/>
                <a:ea typeface="Microsoft YaHei"/>
                <a:cs typeface="Source Han Sans CN"/>
              </a:rPr>
              <a:t>Purpose and Significance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191250" y="4400550"/>
            <a:ext cx="2209800" cy="95250"/>
          </a:xfrm>
          <a:prstGeom prst="roundRect">
            <a:avLst>
              <a:gd name="adj" fmla="val 50000"/>
            </a:avLst>
          </a:prstGeom>
          <a:solidFill>
            <a:srgbClr val="183A6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174105" y="4807268"/>
            <a:ext cx="15623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Defense Section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0" y="0"/>
            <a:ext cx="12192000" cy="963454"/>
            <a:chOff x="0" y="0"/>
            <a:chExt cx="12192000" cy="963454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83A6A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952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5403">
              <a:solidFill>
                <a:srgbClr val="183A6A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78403" y="115062"/>
              <a:ext cx="722376" cy="7223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287655" y="295275"/>
              <a:ext cx="502920" cy="390525"/>
            </a:xfrm>
            <a:custGeom>
              <a:avLst/>
              <a:gdLst/>
              <a:ahLst/>
              <a:cxnLst/>
              <a:rect l="l" t="t" r="r" b="b"/>
              <a:pathLst>
                <a:path w="502920" h="390525">
                  <a:moveTo>
                    <a:pt x="251460" y="0"/>
                  </a:moveTo>
                  <a:lnTo>
                    <a:pt x="502920" y="104775"/>
                  </a:lnTo>
                  <a:lnTo>
                    <a:pt x="251460" y="209550"/>
                  </a:lnTo>
                  <a:lnTo>
                    <a:pt x="0" y="104775"/>
                  </a:lnTo>
                  <a:close/>
                  <a:moveTo>
                    <a:pt x="93345" y="180975"/>
                  </a:moveTo>
                  <a:lnTo>
                    <a:pt x="251460" y="247650"/>
                  </a:lnTo>
                  <a:lnTo>
                    <a:pt x="409575" y="180975"/>
                  </a:lnTo>
                  <a:lnTo>
                    <a:pt x="409575" y="333375"/>
                  </a:lnTo>
                  <a:cubicBezTo>
                    <a:pt x="310515" y="390525"/>
                    <a:pt x="192405" y="390525"/>
                    <a:pt x="93345" y="333375"/>
                  </a:cubicBezTo>
                  <a:close/>
                </a:path>
              </a:pathLst>
            </a:custGeom>
            <a:solidFill>
              <a:srgbClr val="183A6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3153537" y="0"/>
              <a:ext cx="1818989" cy="9634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47955" y="290989"/>
              <a:ext cx="10425589" cy="453818"/>
              <a:chOff x="1547955" y="290989"/>
              <a:chExt cx="10425589" cy="45381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547955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研究背景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93652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Background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379839" y="290989"/>
                <a:ext cx="1366480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目的及意义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809637" y="569547"/>
                <a:ext cx="506885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Purpose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498747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材料与方法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856536" y="569547"/>
                <a:ext cx="53207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Methods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55290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结果与分析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41421" y="569547"/>
                <a:ext cx="475393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Results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67135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结论与讨论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665089" y="569547"/>
                <a:ext cx="65174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Conclusion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967418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参考文献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113115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References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462058" y="1215580"/>
            <a:ext cx="11138630" cy="476917"/>
            <a:chOff x="462058" y="1215580"/>
            <a:chExt cx="11138630" cy="476917"/>
          </a:xfrm>
        </p:grpSpPr>
        <p:sp>
          <p:nvSpPr>
            <p:cNvPr id="22" name="TextBox 22"/>
            <p:cNvSpPr txBox="1"/>
            <p:nvPr/>
          </p:nvSpPr>
          <p:spPr>
            <a:xfrm>
              <a:off x="462058" y="1223200"/>
              <a:ext cx="1877473" cy="4616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研究问题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91740" y="1215580"/>
              <a:ext cx="9108948" cy="476917"/>
            </a:xfrm>
            <a:prstGeom prst="roundRect">
              <a:avLst>
                <a:gd name="adj" fmla="val 11604"/>
              </a:avLst>
            </a:prstGeom>
            <a:solidFill>
              <a:srgbClr val="E7E6E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43200" y="1260824"/>
              <a:ext cx="8553450" cy="3864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本研究要回答换导师为何发生，并厘清个体、互动与制度因素。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14350" y="1790700"/>
            <a:ext cx="11163300" cy="4629150"/>
            <a:chOff x="514350" y="1790700"/>
            <a:chExt cx="11163300" cy="4629150"/>
          </a:xfrm>
        </p:grpSpPr>
        <p:sp>
          <p:nvSpPr>
            <p:cNvPr id="26" name="Rectangle 26"/>
            <p:cNvSpPr/>
            <p:nvPr/>
          </p:nvSpPr>
          <p:spPr>
            <a:xfrm>
              <a:off x="514350" y="1790700"/>
              <a:ext cx="11163300" cy="4629150"/>
            </a:xfrm>
            <a:prstGeom prst="rect">
              <a:avLst/>
            </a:prstGeom>
            <a:noFill/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514350" y="1905000"/>
              <a:ext cx="11163300" cy="3028950"/>
              <a:chOff x="514350" y="1905000"/>
              <a:chExt cx="11163300" cy="30289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514350" y="1905000"/>
                <a:ext cx="5296456" cy="3028950"/>
              </a:xfrm>
              <a:custGeom>
                <a:avLst/>
                <a:gdLst/>
                <a:ahLst/>
                <a:cxnLst/>
                <a:rect l="l" t="t" r="r" b="b"/>
                <a:pathLst>
                  <a:path w="5296456" h="3028950">
                    <a:moveTo>
                      <a:pt x="81484" y="0"/>
                    </a:moveTo>
                    <a:lnTo>
                      <a:pt x="5214972" y="0"/>
                    </a:lnTo>
                    <a:cubicBezTo>
                      <a:pt x="5259974" y="0"/>
                      <a:pt x="5296456" y="34116"/>
                      <a:pt x="5296456" y="76200"/>
                    </a:cubicBezTo>
                    <a:lnTo>
                      <a:pt x="5296456" y="2952750"/>
                    </a:lnTo>
                    <a:cubicBezTo>
                      <a:pt x="5296456" y="2994834"/>
                      <a:pt x="5259974" y="3028950"/>
                      <a:pt x="5214972" y="3028950"/>
                    </a:cubicBezTo>
                    <a:lnTo>
                      <a:pt x="81484" y="3028950"/>
                    </a:lnTo>
                    <a:cubicBezTo>
                      <a:pt x="36482" y="3028950"/>
                      <a:pt x="0" y="2994834"/>
                      <a:pt x="0" y="295275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183A6A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514350" y="1905000"/>
                <a:ext cx="5296456" cy="495300"/>
              </a:xfrm>
              <a:prstGeom prst="rect">
                <a:avLst/>
              </a:prstGeom>
              <a:solidFill>
                <a:srgbClr val="E7E6E6"/>
              </a:solidFill>
              <a:ln w="0">
                <a:solidFill>
                  <a:srgbClr val="183A6A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2599148" y="2047951"/>
                <a:ext cx="1126861" cy="358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64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核心问题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60657" y="2552700"/>
                <a:ext cx="4603843" cy="209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A同学为什么更换导师？</a:t>
                </a:r>
              </a:p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这是一场单纯的个体选择，还是导生关系与导师制共同作用</a:t>
                </a:r>
              </a:p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的结果？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6381194" y="1905000"/>
                <a:ext cx="5296456" cy="3028950"/>
              </a:xfrm>
              <a:custGeom>
                <a:avLst/>
                <a:gdLst/>
                <a:ahLst/>
                <a:cxnLst/>
                <a:rect l="l" t="t" r="r" b="b"/>
                <a:pathLst>
                  <a:path w="5296456" h="3028950">
                    <a:moveTo>
                      <a:pt x="81484" y="0"/>
                    </a:moveTo>
                    <a:lnTo>
                      <a:pt x="5214972" y="0"/>
                    </a:lnTo>
                    <a:cubicBezTo>
                      <a:pt x="5259974" y="0"/>
                      <a:pt x="5296456" y="34116"/>
                      <a:pt x="5296456" y="76200"/>
                    </a:cubicBezTo>
                    <a:lnTo>
                      <a:pt x="5296456" y="2952750"/>
                    </a:lnTo>
                    <a:cubicBezTo>
                      <a:pt x="5296456" y="2994834"/>
                      <a:pt x="5259974" y="3028950"/>
                      <a:pt x="5214972" y="3028950"/>
                    </a:cubicBezTo>
                    <a:lnTo>
                      <a:pt x="81484" y="3028950"/>
                    </a:lnTo>
                    <a:cubicBezTo>
                      <a:pt x="36482" y="3028950"/>
                      <a:pt x="0" y="2994834"/>
                      <a:pt x="0" y="295275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183A6A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6381194" y="1905000"/>
                <a:ext cx="5296456" cy="495300"/>
              </a:xfrm>
              <a:prstGeom prst="rect">
                <a:avLst/>
              </a:prstGeom>
              <a:solidFill>
                <a:srgbClr val="E7E6E6"/>
              </a:solidFill>
              <a:ln w="0">
                <a:solidFill>
                  <a:srgbClr val="183A6A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465991" y="2047951"/>
                <a:ext cx="1126861" cy="358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64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研究目标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727501" y="2552700"/>
                <a:ext cx="4603843" cy="209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还原换导师事件的来龙去脉；厘清主观动因、</a:t>
                </a:r>
              </a:p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互动机制与制度因素；为导生关系建设提供反思。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782160" y="3098940"/>
                <a:ext cx="627680" cy="6571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234" b="1" dirty="0">
                    <a:solidFill>
                      <a:srgbClr val="183A6A"/>
                    </a:solidFill>
                    <a:latin typeface="Arial"/>
                    <a:ea typeface="Microsoft YaHei"/>
                    <a:cs typeface="Arial"/>
                  </a:rPr>
                  <a:t>VS</a:t>
                </a:r>
              </a:p>
            </p:txBody>
          </p:sp>
        </p:grpSp>
      </p:grpSp>
      <p:sp>
        <p:nvSpPr>
          <p:cNvPr id="38" name="TextBox 38"/>
          <p:cNvSpPr txBox="1"/>
          <p:nvPr/>
        </p:nvSpPr>
        <p:spPr>
          <a:xfrm>
            <a:off x="10696575" y="6373178"/>
            <a:ext cx="857250" cy="265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0" y="0"/>
            <a:ext cx="12192000" cy="963454"/>
            <a:chOff x="0" y="0"/>
            <a:chExt cx="12192000" cy="963454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83A6A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952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5403">
              <a:solidFill>
                <a:srgbClr val="183A6A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78403" y="115062"/>
              <a:ext cx="722376" cy="7223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287655" y="295275"/>
              <a:ext cx="502920" cy="390525"/>
            </a:xfrm>
            <a:custGeom>
              <a:avLst/>
              <a:gdLst/>
              <a:ahLst/>
              <a:cxnLst/>
              <a:rect l="l" t="t" r="r" b="b"/>
              <a:pathLst>
                <a:path w="502920" h="390525">
                  <a:moveTo>
                    <a:pt x="251460" y="0"/>
                  </a:moveTo>
                  <a:lnTo>
                    <a:pt x="502920" y="104775"/>
                  </a:lnTo>
                  <a:lnTo>
                    <a:pt x="251460" y="209550"/>
                  </a:lnTo>
                  <a:lnTo>
                    <a:pt x="0" y="104775"/>
                  </a:lnTo>
                  <a:close/>
                  <a:moveTo>
                    <a:pt x="93345" y="180975"/>
                  </a:moveTo>
                  <a:lnTo>
                    <a:pt x="251460" y="247650"/>
                  </a:lnTo>
                  <a:lnTo>
                    <a:pt x="409575" y="180975"/>
                  </a:lnTo>
                  <a:lnTo>
                    <a:pt x="409575" y="333375"/>
                  </a:lnTo>
                  <a:cubicBezTo>
                    <a:pt x="310515" y="390525"/>
                    <a:pt x="192405" y="390525"/>
                    <a:pt x="93345" y="333375"/>
                  </a:cubicBezTo>
                  <a:close/>
                </a:path>
              </a:pathLst>
            </a:custGeom>
            <a:solidFill>
              <a:srgbClr val="183A6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3153537" y="0"/>
              <a:ext cx="1818989" cy="9634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47955" y="290989"/>
              <a:ext cx="10425589" cy="453818"/>
              <a:chOff x="1547955" y="290989"/>
              <a:chExt cx="10425589" cy="45381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547955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研究背景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93652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Background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379839" y="290989"/>
                <a:ext cx="1366480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目的及意义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809637" y="569547"/>
                <a:ext cx="506885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Purpose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498747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材料与方法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856536" y="569547"/>
                <a:ext cx="53207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Methods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55290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结果与分析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41421" y="569547"/>
                <a:ext cx="475393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Results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67135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结论与讨论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665089" y="569547"/>
                <a:ext cx="65174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Conclusion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967418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参考文献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113115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References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462058" y="1215580"/>
            <a:ext cx="11138630" cy="476917"/>
            <a:chOff x="462058" y="1215580"/>
            <a:chExt cx="11138630" cy="476917"/>
          </a:xfrm>
        </p:grpSpPr>
        <p:sp>
          <p:nvSpPr>
            <p:cNvPr id="22" name="TextBox 22"/>
            <p:cNvSpPr txBox="1"/>
            <p:nvPr/>
          </p:nvSpPr>
          <p:spPr>
            <a:xfrm>
              <a:off x="462058" y="1223200"/>
              <a:ext cx="1877473" cy="4616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研究意义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91740" y="1215580"/>
              <a:ext cx="9108948" cy="476917"/>
            </a:xfrm>
            <a:prstGeom prst="roundRect">
              <a:avLst>
                <a:gd name="adj" fmla="val 11604"/>
              </a:avLst>
            </a:prstGeom>
            <a:solidFill>
              <a:srgbClr val="E7E6E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43200" y="1260824"/>
              <a:ext cx="8553450" cy="3864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个案研究的价值在于把导生关系问题放入可分析的制度现场。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14350" y="1790700"/>
            <a:ext cx="11163300" cy="4629150"/>
            <a:chOff x="514350" y="1790700"/>
            <a:chExt cx="11163300" cy="4629150"/>
          </a:xfrm>
        </p:grpSpPr>
        <p:sp>
          <p:nvSpPr>
            <p:cNvPr id="26" name="Rectangle 26"/>
            <p:cNvSpPr/>
            <p:nvPr/>
          </p:nvSpPr>
          <p:spPr>
            <a:xfrm>
              <a:off x="514350" y="1790700"/>
              <a:ext cx="11163300" cy="4629150"/>
            </a:xfrm>
            <a:prstGeom prst="rect">
              <a:avLst/>
            </a:prstGeom>
            <a:noFill/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514350" y="2019300"/>
              <a:ext cx="10857736" cy="2857500"/>
              <a:chOff x="514350" y="2019300"/>
              <a:chExt cx="10857736" cy="28575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514350" y="2019300"/>
                <a:ext cx="3320471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3320471" h="2857500">
                    <a:moveTo>
                      <a:pt x="81484" y="0"/>
                    </a:moveTo>
                    <a:lnTo>
                      <a:pt x="3238987" y="0"/>
                    </a:lnTo>
                    <a:cubicBezTo>
                      <a:pt x="3283989" y="0"/>
                      <a:pt x="3320471" y="34116"/>
                      <a:pt x="3320471" y="76200"/>
                    </a:cubicBezTo>
                    <a:lnTo>
                      <a:pt x="3320471" y="2781300"/>
                    </a:lnTo>
                    <a:cubicBezTo>
                      <a:pt x="3320471" y="2823384"/>
                      <a:pt x="3283989" y="2857500"/>
                      <a:pt x="3238987" y="2857500"/>
                    </a:cubicBezTo>
                    <a:lnTo>
                      <a:pt x="81484" y="2857500"/>
                    </a:lnTo>
                    <a:cubicBezTo>
                      <a:pt x="36482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183A6A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514350" y="2019300"/>
                <a:ext cx="529646" cy="495300"/>
              </a:xfrm>
              <a:prstGeom prst="roundRect">
                <a:avLst>
                  <a:gd name="adj" fmla="val 12339"/>
                </a:avLst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78346" y="2154317"/>
                <a:ext cx="201654" cy="373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38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206799" y="2187645"/>
                <a:ext cx="1032956" cy="328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17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理论意义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79173" y="2743200"/>
                <a:ext cx="2770454" cy="1885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补足研究生导生关系实证研究不足，</a:t>
                </a:r>
              </a:p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丰富关系质量与导师制研究。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4282982" y="2019300"/>
                <a:ext cx="3320471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3320471" h="2857500">
                    <a:moveTo>
                      <a:pt x="81484" y="0"/>
                    </a:moveTo>
                    <a:lnTo>
                      <a:pt x="3238987" y="0"/>
                    </a:lnTo>
                    <a:cubicBezTo>
                      <a:pt x="3283989" y="0"/>
                      <a:pt x="3320471" y="34116"/>
                      <a:pt x="3320471" y="76200"/>
                    </a:cubicBezTo>
                    <a:lnTo>
                      <a:pt x="3320471" y="2781300"/>
                    </a:lnTo>
                    <a:cubicBezTo>
                      <a:pt x="3320471" y="2823384"/>
                      <a:pt x="3283989" y="2857500"/>
                      <a:pt x="3238987" y="2857500"/>
                    </a:cubicBezTo>
                    <a:lnTo>
                      <a:pt x="81484" y="2857500"/>
                    </a:lnTo>
                    <a:cubicBezTo>
                      <a:pt x="36482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183A6A"/>
                </a:solidFill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4282982" y="2019300"/>
                <a:ext cx="529646" cy="495300"/>
              </a:xfrm>
              <a:prstGeom prst="roundRect">
                <a:avLst>
                  <a:gd name="adj" fmla="val 12339"/>
                </a:avLst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446978" y="2154317"/>
                <a:ext cx="201654" cy="373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38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975431" y="2187645"/>
                <a:ext cx="1032956" cy="328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17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实践意义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547805" y="2743200"/>
                <a:ext cx="2770454" cy="1885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回应导生冲突不断被曝光的现实，</a:t>
                </a:r>
              </a:p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提供可讨论的事件样本。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8051615" y="2019300"/>
                <a:ext cx="3320471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3320471" h="2857500">
                    <a:moveTo>
                      <a:pt x="81484" y="0"/>
                    </a:moveTo>
                    <a:lnTo>
                      <a:pt x="3238987" y="0"/>
                    </a:lnTo>
                    <a:cubicBezTo>
                      <a:pt x="3283989" y="0"/>
                      <a:pt x="3320471" y="34116"/>
                      <a:pt x="3320471" y="76200"/>
                    </a:cubicBezTo>
                    <a:lnTo>
                      <a:pt x="3320471" y="2781300"/>
                    </a:lnTo>
                    <a:cubicBezTo>
                      <a:pt x="3320471" y="2823384"/>
                      <a:pt x="3283989" y="2857500"/>
                      <a:pt x="3238987" y="2857500"/>
                    </a:cubicBezTo>
                    <a:lnTo>
                      <a:pt x="81484" y="2857500"/>
                    </a:lnTo>
                    <a:cubicBezTo>
                      <a:pt x="36482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183A6A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8051615" y="2019300"/>
                <a:ext cx="529646" cy="495300"/>
              </a:xfrm>
              <a:prstGeom prst="roundRect">
                <a:avLst>
                  <a:gd name="adj" fmla="val 12339"/>
                </a:avLst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215610" y="2154317"/>
                <a:ext cx="201654" cy="373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38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744063" y="2187645"/>
                <a:ext cx="1032956" cy="328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17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案例价值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316437" y="2743200"/>
                <a:ext cx="2770454" cy="1885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通过一个换导师事件，看见匹配、沟通、</a:t>
                </a:r>
              </a:p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评价与保障机制的薄弱处。</a:t>
                </a:r>
              </a:p>
            </p:txBody>
          </p:sp>
        </p:grpSp>
      </p:grpSp>
      <p:sp>
        <p:nvSpPr>
          <p:cNvPr id="44" name="TextBox 44"/>
          <p:cNvSpPr txBox="1"/>
          <p:nvPr/>
        </p:nvSpPr>
        <p:spPr>
          <a:xfrm>
            <a:off x="10696575" y="6373178"/>
            <a:ext cx="857250" cy="265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0" y="0"/>
            <a:ext cx="12192000" cy="963454"/>
            <a:chOff x="0" y="0"/>
            <a:chExt cx="12192000" cy="963454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83A6A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952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5403">
              <a:solidFill>
                <a:srgbClr val="183A6A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78403" y="115062"/>
              <a:ext cx="722376" cy="7223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287655" y="295275"/>
              <a:ext cx="502920" cy="390525"/>
            </a:xfrm>
            <a:custGeom>
              <a:avLst/>
              <a:gdLst/>
              <a:ahLst/>
              <a:cxnLst/>
              <a:rect l="l" t="t" r="r" b="b"/>
              <a:pathLst>
                <a:path w="502920" h="390525">
                  <a:moveTo>
                    <a:pt x="251460" y="0"/>
                  </a:moveTo>
                  <a:lnTo>
                    <a:pt x="502920" y="104775"/>
                  </a:lnTo>
                  <a:lnTo>
                    <a:pt x="251460" y="209550"/>
                  </a:lnTo>
                  <a:lnTo>
                    <a:pt x="0" y="104775"/>
                  </a:lnTo>
                  <a:close/>
                  <a:moveTo>
                    <a:pt x="93345" y="180975"/>
                  </a:moveTo>
                  <a:lnTo>
                    <a:pt x="251460" y="247650"/>
                  </a:lnTo>
                  <a:lnTo>
                    <a:pt x="409575" y="180975"/>
                  </a:lnTo>
                  <a:lnTo>
                    <a:pt x="409575" y="333375"/>
                  </a:lnTo>
                  <a:cubicBezTo>
                    <a:pt x="310515" y="390525"/>
                    <a:pt x="192405" y="390525"/>
                    <a:pt x="93345" y="333375"/>
                  </a:cubicBezTo>
                  <a:close/>
                </a:path>
              </a:pathLst>
            </a:custGeom>
            <a:solidFill>
              <a:srgbClr val="183A6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3153537" y="0"/>
              <a:ext cx="1818989" cy="9634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47955" y="290989"/>
              <a:ext cx="10425589" cy="453818"/>
              <a:chOff x="1547955" y="290989"/>
              <a:chExt cx="10425589" cy="45381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547955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研究背景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93652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Background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379839" y="290989"/>
                <a:ext cx="1366480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目的及意义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809637" y="569547"/>
                <a:ext cx="506885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Purpose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498747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材料与方法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856536" y="569547"/>
                <a:ext cx="53207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Methods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55290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结果与分析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41421" y="569547"/>
                <a:ext cx="475393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Results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67135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结论与讨论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665089" y="569547"/>
                <a:ext cx="65174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Conclusion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967418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参考文献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113115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References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462058" y="1215580"/>
            <a:ext cx="11138630" cy="476917"/>
            <a:chOff x="462058" y="1215580"/>
            <a:chExt cx="11138630" cy="476917"/>
          </a:xfrm>
        </p:grpSpPr>
        <p:sp>
          <p:nvSpPr>
            <p:cNvPr id="22" name="TextBox 22"/>
            <p:cNvSpPr txBox="1"/>
            <p:nvPr/>
          </p:nvSpPr>
          <p:spPr>
            <a:xfrm>
              <a:off x="462058" y="1223200"/>
              <a:ext cx="1877473" cy="4616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研究贡献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91740" y="1215580"/>
              <a:ext cx="9108948" cy="476917"/>
            </a:xfrm>
            <a:prstGeom prst="roundRect">
              <a:avLst>
                <a:gd name="adj" fmla="val 11604"/>
              </a:avLst>
            </a:prstGeom>
            <a:solidFill>
              <a:srgbClr val="E7E6E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43200" y="1260824"/>
              <a:ext cx="8553450" cy="3864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过程还原、多方互证与制度反思共同构成本研究的贡献。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14350" y="1790700"/>
            <a:ext cx="11163300" cy="4629150"/>
            <a:chOff x="514350" y="1790700"/>
            <a:chExt cx="11163300" cy="4629150"/>
          </a:xfrm>
        </p:grpSpPr>
        <p:sp>
          <p:nvSpPr>
            <p:cNvPr id="26" name="Rectangle 26"/>
            <p:cNvSpPr/>
            <p:nvPr/>
          </p:nvSpPr>
          <p:spPr>
            <a:xfrm>
              <a:off x="514350" y="1790700"/>
              <a:ext cx="11163300" cy="4629150"/>
            </a:xfrm>
            <a:prstGeom prst="rect">
              <a:avLst/>
            </a:prstGeom>
            <a:noFill/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514350" y="2019300"/>
              <a:ext cx="10857736" cy="2857500"/>
              <a:chOff x="514350" y="2019300"/>
              <a:chExt cx="10857736" cy="28575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514350" y="2019300"/>
                <a:ext cx="3320471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3320471" h="2857500">
                    <a:moveTo>
                      <a:pt x="81484" y="0"/>
                    </a:moveTo>
                    <a:lnTo>
                      <a:pt x="3238987" y="0"/>
                    </a:lnTo>
                    <a:cubicBezTo>
                      <a:pt x="3283989" y="0"/>
                      <a:pt x="3320471" y="34116"/>
                      <a:pt x="3320471" y="76200"/>
                    </a:cubicBezTo>
                    <a:lnTo>
                      <a:pt x="3320471" y="2781300"/>
                    </a:lnTo>
                    <a:cubicBezTo>
                      <a:pt x="3320471" y="2823384"/>
                      <a:pt x="3283989" y="2857500"/>
                      <a:pt x="3238987" y="2857500"/>
                    </a:cubicBezTo>
                    <a:lnTo>
                      <a:pt x="81484" y="2857500"/>
                    </a:lnTo>
                    <a:cubicBezTo>
                      <a:pt x="36482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183A6A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514350" y="2019300"/>
                <a:ext cx="529646" cy="495300"/>
              </a:xfrm>
              <a:prstGeom prst="roundRect">
                <a:avLst>
                  <a:gd name="adj" fmla="val 12339"/>
                </a:avLst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78346" y="2154317"/>
                <a:ext cx="201654" cy="373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38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206799" y="2187645"/>
                <a:ext cx="1032956" cy="328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17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过程还原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79173" y="2743200"/>
                <a:ext cx="2770454" cy="1885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用时间线梳理入师门、</a:t>
                </a:r>
              </a:p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写论文与最终更换导师的关键节点。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4282982" y="2019300"/>
                <a:ext cx="3320471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3320471" h="2857500">
                    <a:moveTo>
                      <a:pt x="81484" y="0"/>
                    </a:moveTo>
                    <a:lnTo>
                      <a:pt x="3238987" y="0"/>
                    </a:lnTo>
                    <a:cubicBezTo>
                      <a:pt x="3283989" y="0"/>
                      <a:pt x="3320471" y="34116"/>
                      <a:pt x="3320471" y="76200"/>
                    </a:cubicBezTo>
                    <a:lnTo>
                      <a:pt x="3320471" y="2781300"/>
                    </a:lnTo>
                    <a:cubicBezTo>
                      <a:pt x="3320471" y="2823384"/>
                      <a:pt x="3283989" y="2857500"/>
                      <a:pt x="3238987" y="2857500"/>
                    </a:cubicBezTo>
                    <a:lnTo>
                      <a:pt x="81484" y="2857500"/>
                    </a:lnTo>
                    <a:cubicBezTo>
                      <a:pt x="36482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183A6A"/>
                </a:solidFill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4282982" y="2019300"/>
                <a:ext cx="529646" cy="495300"/>
              </a:xfrm>
              <a:prstGeom prst="roundRect">
                <a:avLst>
                  <a:gd name="adj" fmla="val 12339"/>
                </a:avLst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446978" y="2154317"/>
                <a:ext cx="201654" cy="373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38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975431" y="2187645"/>
                <a:ext cx="1032956" cy="328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17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多方互证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547805" y="2743200"/>
                <a:ext cx="2770454" cy="1885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不只依赖A同学叙述，也纳入B、C、</a:t>
                </a:r>
              </a:p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Z等相关主体的证据。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8051615" y="2019300"/>
                <a:ext cx="3320471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3320471" h="2857500">
                    <a:moveTo>
                      <a:pt x="81484" y="0"/>
                    </a:moveTo>
                    <a:lnTo>
                      <a:pt x="3238987" y="0"/>
                    </a:lnTo>
                    <a:cubicBezTo>
                      <a:pt x="3283989" y="0"/>
                      <a:pt x="3320471" y="34116"/>
                      <a:pt x="3320471" y="76200"/>
                    </a:cubicBezTo>
                    <a:lnTo>
                      <a:pt x="3320471" y="2781300"/>
                    </a:lnTo>
                    <a:cubicBezTo>
                      <a:pt x="3320471" y="2823384"/>
                      <a:pt x="3283989" y="2857500"/>
                      <a:pt x="3238987" y="2857500"/>
                    </a:cubicBezTo>
                    <a:lnTo>
                      <a:pt x="81484" y="2857500"/>
                    </a:lnTo>
                    <a:cubicBezTo>
                      <a:pt x="36482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183A6A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8051615" y="2019300"/>
                <a:ext cx="529646" cy="495300"/>
              </a:xfrm>
              <a:prstGeom prst="roundRect">
                <a:avLst>
                  <a:gd name="adj" fmla="val 12339"/>
                </a:avLst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215610" y="2154317"/>
                <a:ext cx="201654" cy="373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38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744063" y="2187645"/>
                <a:ext cx="1032956" cy="328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17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制度反思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316437" y="2743200"/>
                <a:ext cx="2770454" cy="1885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把个体体验连接到导师准入、导生匹配、</a:t>
                </a:r>
              </a:p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评价与保障机制。</a:t>
                </a:r>
              </a:p>
            </p:txBody>
          </p:sp>
        </p:grpSp>
      </p:grpSp>
      <p:sp>
        <p:nvSpPr>
          <p:cNvPr id="44" name="TextBox 44"/>
          <p:cNvSpPr txBox="1"/>
          <p:nvPr/>
        </p:nvSpPr>
        <p:spPr>
          <a:xfrm>
            <a:off x="10696575" y="6373178"/>
            <a:ext cx="857250" cy="265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0" y="0"/>
            <a:ext cx="12192000" cy="963454"/>
            <a:chOff x="0" y="0"/>
            <a:chExt cx="12192000" cy="963454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83A6A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952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5403">
              <a:solidFill>
                <a:srgbClr val="183A6A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78403" y="115062"/>
              <a:ext cx="722376" cy="7223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287655" y="295275"/>
              <a:ext cx="502920" cy="390525"/>
            </a:xfrm>
            <a:custGeom>
              <a:avLst/>
              <a:gdLst/>
              <a:ahLst/>
              <a:cxnLst/>
              <a:rect l="l" t="t" r="r" b="b"/>
              <a:pathLst>
                <a:path w="502920" h="390525">
                  <a:moveTo>
                    <a:pt x="251460" y="0"/>
                  </a:moveTo>
                  <a:lnTo>
                    <a:pt x="502920" y="104775"/>
                  </a:lnTo>
                  <a:lnTo>
                    <a:pt x="251460" y="209550"/>
                  </a:lnTo>
                  <a:lnTo>
                    <a:pt x="0" y="104775"/>
                  </a:lnTo>
                  <a:close/>
                  <a:moveTo>
                    <a:pt x="93345" y="180975"/>
                  </a:moveTo>
                  <a:lnTo>
                    <a:pt x="251460" y="247650"/>
                  </a:lnTo>
                  <a:lnTo>
                    <a:pt x="409575" y="180975"/>
                  </a:lnTo>
                  <a:lnTo>
                    <a:pt x="409575" y="333375"/>
                  </a:lnTo>
                  <a:cubicBezTo>
                    <a:pt x="310515" y="390525"/>
                    <a:pt x="192405" y="390525"/>
                    <a:pt x="93345" y="333375"/>
                  </a:cubicBezTo>
                  <a:close/>
                </a:path>
              </a:pathLst>
            </a:custGeom>
            <a:solidFill>
              <a:srgbClr val="183A6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3153537" y="0"/>
              <a:ext cx="1818989" cy="9634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47955" y="290989"/>
              <a:ext cx="10425589" cy="453818"/>
              <a:chOff x="1547955" y="290989"/>
              <a:chExt cx="10425589" cy="45381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547955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研究背景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93652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Background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379839" y="290989"/>
                <a:ext cx="1366480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目的及意义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809637" y="569547"/>
                <a:ext cx="506885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Purpose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498747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材料与方法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856536" y="569547"/>
                <a:ext cx="53207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Methods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55290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结果与分析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41421" y="569547"/>
                <a:ext cx="475393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Results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67135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结论与讨论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665089" y="569547"/>
                <a:ext cx="65174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Conclusion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967418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参考文献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113115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References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462058" y="1215580"/>
            <a:ext cx="11138630" cy="476917"/>
            <a:chOff x="462058" y="1215580"/>
            <a:chExt cx="11138630" cy="476917"/>
          </a:xfrm>
        </p:grpSpPr>
        <p:sp>
          <p:nvSpPr>
            <p:cNvPr id="22" name="TextBox 22"/>
            <p:cNvSpPr txBox="1"/>
            <p:nvPr/>
          </p:nvSpPr>
          <p:spPr>
            <a:xfrm>
              <a:off x="462058" y="1223200"/>
              <a:ext cx="1877473" cy="4616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案例边界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91740" y="1215580"/>
              <a:ext cx="9108948" cy="476917"/>
            </a:xfrm>
            <a:prstGeom prst="roundRect">
              <a:avLst>
                <a:gd name="adj" fmla="val 11604"/>
              </a:avLst>
            </a:prstGeom>
            <a:solidFill>
              <a:srgbClr val="E7E6E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43200" y="1260824"/>
              <a:ext cx="8553450" cy="3864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围绕A同学及相关主体建立案例边界，是后续解释的证据基础。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14350" y="1790700"/>
            <a:ext cx="11163300" cy="4629150"/>
            <a:chOff x="514350" y="1790700"/>
            <a:chExt cx="11163300" cy="4629150"/>
          </a:xfrm>
        </p:grpSpPr>
        <p:sp>
          <p:nvSpPr>
            <p:cNvPr id="26" name="Rectangle 26"/>
            <p:cNvSpPr/>
            <p:nvPr/>
          </p:nvSpPr>
          <p:spPr>
            <a:xfrm>
              <a:off x="514350" y="1790700"/>
              <a:ext cx="11163300" cy="4629150"/>
            </a:xfrm>
            <a:prstGeom prst="rect">
              <a:avLst/>
            </a:prstGeom>
            <a:noFill/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97689" y="1885950"/>
              <a:ext cx="10755880" cy="2895600"/>
              <a:chOff x="697689" y="1885950"/>
              <a:chExt cx="10755880" cy="28956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97689" y="1971675"/>
                <a:ext cx="122226" cy="114300"/>
              </a:xfrm>
              <a:prstGeom prst="roundRect">
                <a:avLst>
                  <a:gd name="adj" fmla="val 17822"/>
                </a:avLst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962512" y="1885950"/>
                <a:ext cx="10491057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47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A同学：换导师事件当事人，第一志愿选择X导师，后被调剂至Y导师门下。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697689" y="2714625"/>
                <a:ext cx="122226" cy="114300"/>
              </a:xfrm>
              <a:prstGeom prst="roundRect">
                <a:avLst>
                  <a:gd name="adj" fmla="val 17822"/>
                </a:avLst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962512" y="2628900"/>
                <a:ext cx="10491057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47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Y导师：A同学前任导师，未参与正式访谈，研究尊重其拒访决定。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697689" y="3457575"/>
                <a:ext cx="122226" cy="114300"/>
              </a:xfrm>
              <a:prstGeom prst="roundRect">
                <a:avLst>
                  <a:gd name="adj" fmla="val 17822"/>
                </a:avLst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62512" y="3371850"/>
                <a:ext cx="10491057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47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Z导师：A同学更换后的导师，为事件后段提供补充视角。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97689" y="4200525"/>
                <a:ext cx="122226" cy="114300"/>
              </a:xfrm>
              <a:prstGeom prst="roundRect">
                <a:avLst>
                  <a:gd name="adj" fmla="val 17822"/>
                </a:avLst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962512" y="4114800"/>
                <a:ext cx="10491057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47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B同学与C同学：舍友和同门师兄，作为三角互证的重要来源。</a:t>
                </a:r>
              </a:p>
            </p:txBody>
          </p:sp>
        </p:grpSp>
      </p:grpSp>
      <p:sp>
        <p:nvSpPr>
          <p:cNvPr id="37" name="TextBox 37"/>
          <p:cNvSpPr txBox="1"/>
          <p:nvPr/>
        </p:nvSpPr>
        <p:spPr>
          <a:xfrm>
            <a:off x="10696575" y="6373178"/>
            <a:ext cx="857250" cy="265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263557" y="1058704"/>
            <a:ext cx="11664886" cy="9525"/>
          </a:xfrm>
          <a:custGeom>
            <a:avLst/>
            <a:gdLst/>
            <a:ahLst/>
            <a:cxnLst/>
            <a:rect l="l" t="t" r="r" b="b"/>
            <a:pathLst>
              <a:path w="11664886" h="9525">
                <a:moveTo>
                  <a:pt x="0" y="0"/>
                </a:moveTo>
                <a:lnTo>
                  <a:pt x="11664886" y="0"/>
                </a:lnTo>
              </a:path>
            </a:pathLst>
          </a:custGeom>
          <a:noFill/>
          <a:ln w="25403">
            <a:solidFill>
              <a:srgbClr val="183A6A"/>
            </a:solidFill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191792" cy="6858000"/>
          </a:xfrm>
          <a:prstGeom prst="rect">
            <a:avLst/>
          </a:prstGeom>
          <a:solidFill>
            <a:srgbClr val="183A6A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529590" y="1363028"/>
            <a:ext cx="4131945" cy="4131945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785938" y="2334578"/>
            <a:ext cx="1619250" cy="20373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035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03</a:t>
            </a:r>
          </a:p>
        </p:txBody>
      </p:sp>
      <p:sp>
        <p:nvSpPr>
          <p:cNvPr id="7" name="Rectangle 7"/>
          <p:cNvSpPr/>
          <p:nvPr/>
        </p:nvSpPr>
        <p:spPr>
          <a:xfrm>
            <a:off x="6191250" y="2324100"/>
            <a:ext cx="4495800" cy="38100"/>
          </a:xfrm>
          <a:prstGeom prst="rect">
            <a:avLst/>
          </a:prstGeom>
          <a:solidFill>
            <a:srgbClr val="183A6A">
              <a:alpha val="2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191250" y="2705100"/>
            <a:ext cx="48577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000000"/>
                </a:solidFill>
                <a:latin typeface="Source Han Sans CN"/>
                <a:ea typeface="Microsoft YaHei"/>
                <a:cs typeface="Source Han Sans CN"/>
              </a:rPr>
              <a:t>材料与方法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191250" y="3524250"/>
            <a:ext cx="48577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800" dirty="0">
                <a:solidFill>
                  <a:srgbClr val="595959"/>
                </a:solidFill>
                <a:latin typeface="Source Han Sans CN"/>
                <a:ea typeface="Microsoft YaHei"/>
                <a:cs typeface="Source Han Sans CN"/>
              </a:rPr>
              <a:t>Materials and Methods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191250" y="4400550"/>
            <a:ext cx="2209800" cy="95250"/>
          </a:xfrm>
          <a:prstGeom prst="roundRect">
            <a:avLst>
              <a:gd name="adj" fmla="val 50000"/>
            </a:avLst>
          </a:prstGeom>
          <a:solidFill>
            <a:srgbClr val="183A6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174105" y="4807268"/>
            <a:ext cx="15623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Defense Section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0" y="0"/>
            <a:ext cx="12192000" cy="963454"/>
            <a:chOff x="0" y="0"/>
            <a:chExt cx="12192000" cy="963454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83A6A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952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5403">
              <a:solidFill>
                <a:srgbClr val="183A6A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78403" y="115062"/>
              <a:ext cx="722376" cy="7223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287655" y="295275"/>
              <a:ext cx="502920" cy="390525"/>
            </a:xfrm>
            <a:custGeom>
              <a:avLst/>
              <a:gdLst/>
              <a:ahLst/>
              <a:cxnLst/>
              <a:rect l="l" t="t" r="r" b="b"/>
              <a:pathLst>
                <a:path w="502920" h="390525">
                  <a:moveTo>
                    <a:pt x="251460" y="0"/>
                  </a:moveTo>
                  <a:lnTo>
                    <a:pt x="502920" y="104775"/>
                  </a:lnTo>
                  <a:lnTo>
                    <a:pt x="251460" y="209550"/>
                  </a:lnTo>
                  <a:lnTo>
                    <a:pt x="0" y="104775"/>
                  </a:lnTo>
                  <a:close/>
                  <a:moveTo>
                    <a:pt x="93345" y="180975"/>
                  </a:moveTo>
                  <a:lnTo>
                    <a:pt x="251460" y="247650"/>
                  </a:lnTo>
                  <a:lnTo>
                    <a:pt x="409575" y="180975"/>
                  </a:lnTo>
                  <a:lnTo>
                    <a:pt x="409575" y="333375"/>
                  </a:lnTo>
                  <a:cubicBezTo>
                    <a:pt x="310515" y="390525"/>
                    <a:pt x="192405" y="390525"/>
                    <a:pt x="93345" y="333375"/>
                  </a:cubicBezTo>
                  <a:close/>
                </a:path>
              </a:pathLst>
            </a:custGeom>
            <a:solidFill>
              <a:srgbClr val="183A6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209032" y="0"/>
              <a:ext cx="1827086" cy="9634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47955" y="290989"/>
              <a:ext cx="10425589" cy="453818"/>
              <a:chOff x="1547955" y="290989"/>
              <a:chExt cx="10425589" cy="45381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547955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研究背景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93652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Background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439251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目的及意义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809637" y="569547"/>
                <a:ext cx="506885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Purpose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439335" y="290989"/>
                <a:ext cx="1366480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材料与方法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856536" y="569547"/>
                <a:ext cx="53207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Methods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55290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结果与分析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41421" y="569547"/>
                <a:ext cx="475393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Results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67135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结论与讨论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665089" y="569547"/>
                <a:ext cx="65174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Conclusion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967418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参考文献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113115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References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462058" y="1215580"/>
            <a:ext cx="11138630" cy="476917"/>
            <a:chOff x="462058" y="1215580"/>
            <a:chExt cx="11138630" cy="476917"/>
          </a:xfrm>
        </p:grpSpPr>
        <p:sp>
          <p:nvSpPr>
            <p:cNvPr id="22" name="TextBox 22"/>
            <p:cNvSpPr txBox="1"/>
            <p:nvPr/>
          </p:nvSpPr>
          <p:spPr>
            <a:xfrm>
              <a:off x="462058" y="1223200"/>
              <a:ext cx="1877473" cy="4616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研究设计流程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91740" y="1215580"/>
              <a:ext cx="9108948" cy="476917"/>
            </a:xfrm>
            <a:prstGeom prst="roundRect">
              <a:avLst>
                <a:gd name="adj" fmla="val 11604"/>
              </a:avLst>
            </a:prstGeom>
            <a:solidFill>
              <a:srgbClr val="E7E6E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43200" y="1260824"/>
              <a:ext cx="8553450" cy="3864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研究设计通过个案、访谈、互证与事实厘清形成解释路径。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14350" y="1790700"/>
            <a:ext cx="11163300" cy="4629150"/>
            <a:chOff x="514350" y="1790700"/>
            <a:chExt cx="11163300" cy="4629150"/>
          </a:xfrm>
        </p:grpSpPr>
        <p:sp>
          <p:nvSpPr>
            <p:cNvPr id="26" name="Rectangle 26"/>
            <p:cNvSpPr/>
            <p:nvPr/>
          </p:nvSpPr>
          <p:spPr>
            <a:xfrm>
              <a:off x="514350" y="1790700"/>
              <a:ext cx="11163300" cy="4629150"/>
            </a:xfrm>
            <a:prstGeom prst="rect">
              <a:avLst/>
            </a:prstGeom>
            <a:noFill/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514350" y="1905000"/>
              <a:ext cx="11163300" cy="3238500"/>
              <a:chOff x="514350" y="1905000"/>
              <a:chExt cx="11163300" cy="32385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514350" y="1905000"/>
                <a:ext cx="5296456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5296456" h="1428750">
                    <a:moveTo>
                      <a:pt x="81484" y="0"/>
                    </a:moveTo>
                    <a:lnTo>
                      <a:pt x="5214972" y="0"/>
                    </a:lnTo>
                    <a:cubicBezTo>
                      <a:pt x="5259974" y="0"/>
                      <a:pt x="5296456" y="34116"/>
                      <a:pt x="5296456" y="76200"/>
                    </a:cubicBezTo>
                    <a:lnTo>
                      <a:pt x="5296456" y="1352550"/>
                    </a:lnTo>
                    <a:cubicBezTo>
                      <a:pt x="5296456" y="1394634"/>
                      <a:pt x="5259974" y="1428750"/>
                      <a:pt x="5214972" y="1428750"/>
                    </a:cubicBezTo>
                    <a:lnTo>
                      <a:pt x="81484" y="1428750"/>
                    </a:lnTo>
                    <a:cubicBezTo>
                      <a:pt x="36482" y="1428750"/>
                      <a:pt x="0" y="1394634"/>
                      <a:pt x="0" y="135255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240">
                <a:solidFill>
                  <a:srgbClr val="183A6A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687503" y="2078988"/>
                <a:ext cx="509275" cy="509275"/>
              </a:xfrm>
              <a:prstGeom prst="ellipse">
                <a:avLst/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99486" y="2260664"/>
                <a:ext cx="285309" cy="2987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7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01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349395" y="2130495"/>
                <a:ext cx="1032956" cy="328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17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确定个案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354063" y="2513066"/>
                <a:ext cx="4411485" cy="2538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5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目的性抽样，聚焦上海某高校一名研究生换导师事件。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6381194" y="1905000"/>
                <a:ext cx="5296456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5296456" h="1428750">
                    <a:moveTo>
                      <a:pt x="81484" y="0"/>
                    </a:moveTo>
                    <a:lnTo>
                      <a:pt x="5214972" y="0"/>
                    </a:lnTo>
                    <a:cubicBezTo>
                      <a:pt x="5259974" y="0"/>
                      <a:pt x="5296456" y="34116"/>
                      <a:pt x="5296456" y="76200"/>
                    </a:cubicBezTo>
                    <a:lnTo>
                      <a:pt x="5296456" y="1352550"/>
                    </a:lnTo>
                    <a:cubicBezTo>
                      <a:pt x="5296456" y="1394634"/>
                      <a:pt x="5259974" y="1428750"/>
                      <a:pt x="5214972" y="1428750"/>
                    </a:cubicBezTo>
                    <a:lnTo>
                      <a:pt x="81484" y="1428750"/>
                    </a:lnTo>
                    <a:cubicBezTo>
                      <a:pt x="36482" y="1428750"/>
                      <a:pt x="0" y="1394634"/>
                      <a:pt x="0" y="135255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240">
                <a:solidFill>
                  <a:srgbClr val="183A6A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6554347" y="2078988"/>
                <a:ext cx="509275" cy="509275"/>
              </a:xfrm>
              <a:prstGeom prst="ellipse">
                <a:avLst/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666330" y="2260664"/>
                <a:ext cx="285309" cy="2987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7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02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216239" y="2130495"/>
                <a:ext cx="1032956" cy="328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17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深度访谈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220907" y="2513066"/>
                <a:ext cx="4046506" cy="2538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5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围绕事件起因、过程、结果访谈当事人及相关人。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514350" y="3714750"/>
                <a:ext cx="5296456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5296456" h="1428750">
                    <a:moveTo>
                      <a:pt x="81484" y="0"/>
                    </a:moveTo>
                    <a:lnTo>
                      <a:pt x="5214972" y="0"/>
                    </a:lnTo>
                    <a:cubicBezTo>
                      <a:pt x="5259974" y="0"/>
                      <a:pt x="5296456" y="34116"/>
                      <a:pt x="5296456" y="76200"/>
                    </a:cubicBezTo>
                    <a:lnTo>
                      <a:pt x="5296456" y="1352550"/>
                    </a:lnTo>
                    <a:cubicBezTo>
                      <a:pt x="5296456" y="1394634"/>
                      <a:pt x="5259974" y="1428750"/>
                      <a:pt x="5214972" y="1428750"/>
                    </a:cubicBezTo>
                    <a:lnTo>
                      <a:pt x="81484" y="1428750"/>
                    </a:lnTo>
                    <a:cubicBezTo>
                      <a:pt x="36482" y="1428750"/>
                      <a:pt x="0" y="1394634"/>
                      <a:pt x="0" y="135255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240">
                <a:solidFill>
                  <a:srgbClr val="183A6A"/>
                </a:solidFill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687503" y="3888738"/>
                <a:ext cx="509275" cy="509275"/>
              </a:xfrm>
              <a:prstGeom prst="ellipse">
                <a:avLst/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99486" y="4070413"/>
                <a:ext cx="285309" cy="2987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7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03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349395" y="3940245"/>
                <a:ext cx="1032956" cy="328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17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三角互证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354063" y="4322816"/>
                <a:ext cx="3718025" cy="2538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5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用A、B、C、Z等多源材料互相校验关键事实。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6381194" y="3714750"/>
                <a:ext cx="5296456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5296456" h="1428750">
                    <a:moveTo>
                      <a:pt x="81484" y="0"/>
                    </a:moveTo>
                    <a:lnTo>
                      <a:pt x="5214972" y="0"/>
                    </a:lnTo>
                    <a:cubicBezTo>
                      <a:pt x="5259974" y="0"/>
                      <a:pt x="5296456" y="34116"/>
                      <a:pt x="5296456" y="76200"/>
                    </a:cubicBezTo>
                    <a:lnTo>
                      <a:pt x="5296456" y="1352550"/>
                    </a:lnTo>
                    <a:cubicBezTo>
                      <a:pt x="5296456" y="1394634"/>
                      <a:pt x="5259974" y="1428750"/>
                      <a:pt x="5214972" y="1428750"/>
                    </a:cubicBezTo>
                    <a:lnTo>
                      <a:pt x="81484" y="1428750"/>
                    </a:lnTo>
                    <a:cubicBezTo>
                      <a:pt x="36482" y="1428750"/>
                      <a:pt x="0" y="1394634"/>
                      <a:pt x="0" y="135255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240">
                <a:solidFill>
                  <a:srgbClr val="183A6A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6554347" y="3888738"/>
                <a:ext cx="509275" cy="509275"/>
              </a:xfrm>
              <a:prstGeom prst="ellipse">
                <a:avLst/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666330" y="4070413"/>
                <a:ext cx="285309" cy="2987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7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04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216239" y="3940245"/>
                <a:ext cx="1032956" cy="328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17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事实厘清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220907" y="4322816"/>
                <a:ext cx="3864016" cy="2538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5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在情景还原基础上分析主观、互动和制度因素。</a:t>
                </a:r>
              </a:p>
            </p:txBody>
          </p:sp>
        </p:grpSp>
      </p:grpSp>
      <p:sp>
        <p:nvSpPr>
          <p:cNvPr id="49" name="TextBox 49"/>
          <p:cNvSpPr txBox="1"/>
          <p:nvPr/>
        </p:nvSpPr>
        <p:spPr>
          <a:xfrm>
            <a:off x="10696575" y="6373178"/>
            <a:ext cx="857250" cy="265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0" y="0"/>
            <a:ext cx="12192000" cy="963454"/>
            <a:chOff x="0" y="0"/>
            <a:chExt cx="12192000" cy="963454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83A6A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952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5403">
              <a:solidFill>
                <a:srgbClr val="183A6A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78403" y="115062"/>
              <a:ext cx="722376" cy="7223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287655" y="295275"/>
              <a:ext cx="502920" cy="390525"/>
            </a:xfrm>
            <a:custGeom>
              <a:avLst/>
              <a:gdLst/>
              <a:ahLst/>
              <a:cxnLst/>
              <a:rect l="l" t="t" r="r" b="b"/>
              <a:pathLst>
                <a:path w="502920" h="390525">
                  <a:moveTo>
                    <a:pt x="251460" y="0"/>
                  </a:moveTo>
                  <a:lnTo>
                    <a:pt x="502920" y="104775"/>
                  </a:lnTo>
                  <a:lnTo>
                    <a:pt x="251460" y="209550"/>
                  </a:lnTo>
                  <a:lnTo>
                    <a:pt x="0" y="104775"/>
                  </a:lnTo>
                  <a:close/>
                  <a:moveTo>
                    <a:pt x="93345" y="180975"/>
                  </a:moveTo>
                  <a:lnTo>
                    <a:pt x="251460" y="247650"/>
                  </a:lnTo>
                  <a:lnTo>
                    <a:pt x="409575" y="180975"/>
                  </a:lnTo>
                  <a:lnTo>
                    <a:pt x="409575" y="333375"/>
                  </a:lnTo>
                  <a:cubicBezTo>
                    <a:pt x="310515" y="390525"/>
                    <a:pt x="192405" y="390525"/>
                    <a:pt x="93345" y="333375"/>
                  </a:cubicBezTo>
                  <a:close/>
                </a:path>
              </a:pathLst>
            </a:custGeom>
            <a:solidFill>
              <a:srgbClr val="183A6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209032" y="0"/>
              <a:ext cx="1827086" cy="9634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47955" y="290989"/>
              <a:ext cx="10425589" cy="453818"/>
              <a:chOff x="1547955" y="290989"/>
              <a:chExt cx="10425589" cy="45381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547955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研究背景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93652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Background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439251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目的及意义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809637" y="569547"/>
                <a:ext cx="506885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Purpose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439335" y="290989"/>
                <a:ext cx="1366480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材料与方法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856536" y="569547"/>
                <a:ext cx="53207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Methods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55290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结果与分析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41421" y="569547"/>
                <a:ext cx="475393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Results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67135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结论与讨论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665089" y="569547"/>
                <a:ext cx="65174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Conclusion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967418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参考文献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113115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References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462058" y="1215580"/>
            <a:ext cx="11138630" cy="476917"/>
            <a:chOff x="462058" y="1215580"/>
            <a:chExt cx="11138630" cy="476917"/>
          </a:xfrm>
        </p:grpSpPr>
        <p:sp>
          <p:nvSpPr>
            <p:cNvPr id="22" name="TextBox 22"/>
            <p:cNvSpPr txBox="1"/>
            <p:nvPr/>
          </p:nvSpPr>
          <p:spPr>
            <a:xfrm>
              <a:off x="462058" y="1223200"/>
              <a:ext cx="1877473" cy="4616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资料互证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91740" y="1215580"/>
              <a:ext cx="9108948" cy="476917"/>
            </a:xfrm>
            <a:prstGeom prst="roundRect">
              <a:avLst>
                <a:gd name="adj" fmla="val 11604"/>
              </a:avLst>
            </a:prstGeom>
            <a:solidFill>
              <a:srgbClr val="E7E6E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43200" y="1260824"/>
              <a:ext cx="8553450" cy="3864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多源访谈材料让个人叙述、旁观证据与后续关系相互校验。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14350" y="1790700"/>
            <a:ext cx="11163300" cy="4629150"/>
            <a:chOff x="514350" y="1790700"/>
            <a:chExt cx="11163300" cy="4629150"/>
          </a:xfrm>
        </p:grpSpPr>
        <p:sp>
          <p:nvSpPr>
            <p:cNvPr id="26" name="Rectangle 26"/>
            <p:cNvSpPr/>
            <p:nvPr/>
          </p:nvSpPr>
          <p:spPr>
            <a:xfrm>
              <a:off x="514350" y="1790700"/>
              <a:ext cx="11163300" cy="4629150"/>
            </a:xfrm>
            <a:prstGeom prst="rect">
              <a:avLst/>
            </a:prstGeom>
            <a:noFill/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514350" y="1905000"/>
              <a:ext cx="11163300" cy="3524250"/>
              <a:chOff x="514350" y="1905000"/>
              <a:chExt cx="11163300" cy="35242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514350" y="1905000"/>
                <a:ext cx="11163300" cy="971550"/>
              </a:xfrm>
              <a:custGeom>
                <a:avLst/>
                <a:gdLst/>
                <a:ahLst/>
                <a:cxnLst/>
                <a:rect l="l" t="t" r="r" b="b"/>
                <a:pathLst>
                  <a:path w="11163300" h="971550">
                    <a:moveTo>
                      <a:pt x="81484" y="0"/>
                    </a:moveTo>
                    <a:lnTo>
                      <a:pt x="11081816" y="0"/>
                    </a:lnTo>
                    <a:cubicBezTo>
                      <a:pt x="11126818" y="0"/>
                      <a:pt x="11163300" y="34116"/>
                      <a:pt x="11163300" y="76200"/>
                    </a:cubicBezTo>
                    <a:lnTo>
                      <a:pt x="11163300" y="895350"/>
                    </a:lnTo>
                    <a:cubicBezTo>
                      <a:pt x="11163300" y="937434"/>
                      <a:pt x="11126818" y="971550"/>
                      <a:pt x="11081816" y="971550"/>
                    </a:cubicBezTo>
                    <a:lnTo>
                      <a:pt x="81484" y="971550"/>
                    </a:lnTo>
                    <a:cubicBezTo>
                      <a:pt x="36482" y="971550"/>
                      <a:pt x="0" y="937434"/>
                      <a:pt x="0" y="89535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">
                <a:solidFill>
                  <a:srgbClr val="183A6A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514350" y="1905000"/>
                <a:ext cx="937065" cy="971550"/>
              </a:xfrm>
              <a:custGeom>
                <a:avLst/>
                <a:gdLst/>
                <a:ahLst/>
                <a:cxnLst/>
                <a:rect l="l" t="t" r="r" b="b"/>
                <a:pathLst>
                  <a:path w="937065" h="971550">
                    <a:moveTo>
                      <a:pt x="81484" y="0"/>
                    </a:moveTo>
                    <a:lnTo>
                      <a:pt x="855581" y="0"/>
                    </a:lnTo>
                    <a:cubicBezTo>
                      <a:pt x="900583" y="0"/>
                      <a:pt x="937065" y="34116"/>
                      <a:pt x="937065" y="76200"/>
                    </a:cubicBezTo>
                    <a:lnTo>
                      <a:pt x="937065" y="895350"/>
                    </a:lnTo>
                    <a:cubicBezTo>
                      <a:pt x="937065" y="937434"/>
                      <a:pt x="900583" y="971550"/>
                      <a:pt x="855581" y="971550"/>
                    </a:cubicBezTo>
                    <a:lnTo>
                      <a:pt x="81484" y="971550"/>
                    </a:lnTo>
                    <a:cubicBezTo>
                      <a:pt x="36482" y="971550"/>
                      <a:pt x="0" y="937434"/>
                      <a:pt x="0" y="89535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E7E6E6"/>
              </a:solidFill>
              <a:ln w="0">
                <a:solidFill>
                  <a:srgbClr val="183A6A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68901" y="2257520"/>
                <a:ext cx="427963" cy="4480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05" b="1" dirty="0">
                    <a:solidFill>
                      <a:srgbClr val="183A6A"/>
                    </a:solidFill>
                    <a:latin typeface="Arial"/>
                    <a:ea typeface="Microsoft YaHei"/>
                    <a:cs typeface="Arial"/>
                  </a:rPr>
                  <a:t>01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776253" y="2103511"/>
                <a:ext cx="1339151" cy="3435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90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当事人叙述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780920" y="2476557"/>
                <a:ext cx="4777257" cy="268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23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A同学提供事件体验、动机变化、与前任导师互动细节。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514350" y="3181350"/>
                <a:ext cx="11163300" cy="971550"/>
              </a:xfrm>
              <a:custGeom>
                <a:avLst/>
                <a:gdLst/>
                <a:ahLst/>
                <a:cxnLst/>
                <a:rect l="l" t="t" r="r" b="b"/>
                <a:pathLst>
                  <a:path w="11163300" h="971550">
                    <a:moveTo>
                      <a:pt x="81484" y="0"/>
                    </a:moveTo>
                    <a:lnTo>
                      <a:pt x="11081816" y="0"/>
                    </a:lnTo>
                    <a:cubicBezTo>
                      <a:pt x="11126818" y="0"/>
                      <a:pt x="11163300" y="34116"/>
                      <a:pt x="11163300" y="76200"/>
                    </a:cubicBezTo>
                    <a:lnTo>
                      <a:pt x="11163300" y="895350"/>
                    </a:lnTo>
                    <a:cubicBezTo>
                      <a:pt x="11163300" y="937434"/>
                      <a:pt x="11126818" y="971550"/>
                      <a:pt x="11081816" y="971550"/>
                    </a:cubicBezTo>
                    <a:lnTo>
                      <a:pt x="81484" y="971550"/>
                    </a:lnTo>
                    <a:cubicBezTo>
                      <a:pt x="36482" y="971550"/>
                      <a:pt x="0" y="937434"/>
                      <a:pt x="0" y="89535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">
                <a:solidFill>
                  <a:srgbClr val="183A6A"/>
                </a:solidFill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514350" y="3181350"/>
                <a:ext cx="937065" cy="971550"/>
              </a:xfrm>
              <a:custGeom>
                <a:avLst/>
                <a:gdLst/>
                <a:ahLst/>
                <a:cxnLst/>
                <a:rect l="l" t="t" r="r" b="b"/>
                <a:pathLst>
                  <a:path w="937065" h="971550">
                    <a:moveTo>
                      <a:pt x="81484" y="0"/>
                    </a:moveTo>
                    <a:lnTo>
                      <a:pt x="855581" y="0"/>
                    </a:lnTo>
                    <a:cubicBezTo>
                      <a:pt x="900583" y="0"/>
                      <a:pt x="937065" y="34116"/>
                      <a:pt x="937065" y="76200"/>
                    </a:cubicBezTo>
                    <a:lnTo>
                      <a:pt x="937065" y="895350"/>
                    </a:lnTo>
                    <a:cubicBezTo>
                      <a:pt x="937065" y="937434"/>
                      <a:pt x="900583" y="971550"/>
                      <a:pt x="855581" y="971550"/>
                    </a:cubicBezTo>
                    <a:lnTo>
                      <a:pt x="81484" y="971550"/>
                    </a:lnTo>
                    <a:cubicBezTo>
                      <a:pt x="36482" y="971550"/>
                      <a:pt x="0" y="937434"/>
                      <a:pt x="0" y="89535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E7E6E6"/>
              </a:solidFill>
              <a:ln w="0">
                <a:solidFill>
                  <a:srgbClr val="183A6A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68901" y="3533870"/>
                <a:ext cx="427963" cy="4480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05" b="1" dirty="0">
                    <a:solidFill>
                      <a:srgbClr val="183A6A"/>
                    </a:solidFill>
                    <a:latin typeface="Arial"/>
                    <a:ea typeface="Microsoft YaHei"/>
                    <a:cs typeface="Arial"/>
                  </a:rPr>
                  <a:t>02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776253" y="3379861"/>
                <a:ext cx="1339151" cy="3435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90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旁观者证据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780920" y="3752907"/>
                <a:ext cx="4110634" cy="268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23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B同学、C同学从生活和师门经验补足事件情境。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514350" y="4457700"/>
                <a:ext cx="11163300" cy="971550"/>
              </a:xfrm>
              <a:custGeom>
                <a:avLst/>
                <a:gdLst/>
                <a:ahLst/>
                <a:cxnLst/>
                <a:rect l="l" t="t" r="r" b="b"/>
                <a:pathLst>
                  <a:path w="11163300" h="971550">
                    <a:moveTo>
                      <a:pt x="81484" y="0"/>
                    </a:moveTo>
                    <a:lnTo>
                      <a:pt x="11081816" y="0"/>
                    </a:lnTo>
                    <a:cubicBezTo>
                      <a:pt x="11126818" y="0"/>
                      <a:pt x="11163300" y="34116"/>
                      <a:pt x="11163300" y="76200"/>
                    </a:cubicBezTo>
                    <a:lnTo>
                      <a:pt x="11163300" y="895350"/>
                    </a:lnTo>
                    <a:cubicBezTo>
                      <a:pt x="11163300" y="937434"/>
                      <a:pt x="11126818" y="971550"/>
                      <a:pt x="11081816" y="971550"/>
                    </a:cubicBezTo>
                    <a:lnTo>
                      <a:pt x="81484" y="971550"/>
                    </a:lnTo>
                    <a:cubicBezTo>
                      <a:pt x="36482" y="971550"/>
                      <a:pt x="0" y="937434"/>
                      <a:pt x="0" y="89535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">
                <a:solidFill>
                  <a:srgbClr val="183A6A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514350" y="4457700"/>
                <a:ext cx="937065" cy="971550"/>
              </a:xfrm>
              <a:custGeom>
                <a:avLst/>
                <a:gdLst/>
                <a:ahLst/>
                <a:cxnLst/>
                <a:rect l="l" t="t" r="r" b="b"/>
                <a:pathLst>
                  <a:path w="937065" h="971550">
                    <a:moveTo>
                      <a:pt x="81484" y="0"/>
                    </a:moveTo>
                    <a:lnTo>
                      <a:pt x="855581" y="0"/>
                    </a:lnTo>
                    <a:cubicBezTo>
                      <a:pt x="900583" y="0"/>
                      <a:pt x="937065" y="34116"/>
                      <a:pt x="937065" y="76200"/>
                    </a:cubicBezTo>
                    <a:lnTo>
                      <a:pt x="937065" y="895350"/>
                    </a:lnTo>
                    <a:cubicBezTo>
                      <a:pt x="937065" y="937434"/>
                      <a:pt x="900583" y="971550"/>
                      <a:pt x="855581" y="971550"/>
                    </a:cubicBezTo>
                    <a:lnTo>
                      <a:pt x="81484" y="971550"/>
                    </a:lnTo>
                    <a:cubicBezTo>
                      <a:pt x="36482" y="971550"/>
                      <a:pt x="0" y="937434"/>
                      <a:pt x="0" y="89535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E7E6E6"/>
              </a:solidFill>
              <a:ln w="0">
                <a:solidFill>
                  <a:srgbClr val="183A6A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8901" y="4810220"/>
                <a:ext cx="427963" cy="4480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05" b="1" dirty="0">
                    <a:solidFill>
                      <a:srgbClr val="183A6A"/>
                    </a:solidFill>
                    <a:latin typeface="Arial"/>
                    <a:ea typeface="Microsoft YaHei"/>
                    <a:cs typeface="Arial"/>
                  </a:rPr>
                  <a:t>03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776253" y="4656211"/>
                <a:ext cx="1598393" cy="3435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90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后续关系视角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780920" y="5029257"/>
                <a:ext cx="4390809" cy="268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23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Z导师提供更换导师后的学术指导与信任形成线索。</a:t>
                </a:r>
              </a:p>
            </p:txBody>
          </p:sp>
        </p:grpSp>
      </p:grpSp>
      <p:sp>
        <p:nvSpPr>
          <p:cNvPr id="44" name="TextBox 44"/>
          <p:cNvSpPr txBox="1"/>
          <p:nvPr/>
        </p:nvSpPr>
        <p:spPr>
          <a:xfrm>
            <a:off x="10696575" y="6373178"/>
            <a:ext cx="857250" cy="265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0" y="0"/>
            <a:ext cx="12192000" cy="963454"/>
            <a:chOff x="0" y="0"/>
            <a:chExt cx="12192000" cy="963454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83A6A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952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5403">
              <a:solidFill>
                <a:srgbClr val="183A6A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78403" y="115062"/>
              <a:ext cx="722376" cy="7223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287655" y="295275"/>
              <a:ext cx="502920" cy="390525"/>
            </a:xfrm>
            <a:custGeom>
              <a:avLst/>
              <a:gdLst/>
              <a:ahLst/>
              <a:cxnLst/>
              <a:rect l="l" t="t" r="r" b="b"/>
              <a:pathLst>
                <a:path w="502920" h="390525">
                  <a:moveTo>
                    <a:pt x="251460" y="0"/>
                  </a:moveTo>
                  <a:lnTo>
                    <a:pt x="502920" y="104775"/>
                  </a:lnTo>
                  <a:lnTo>
                    <a:pt x="251460" y="209550"/>
                  </a:lnTo>
                  <a:lnTo>
                    <a:pt x="0" y="104775"/>
                  </a:lnTo>
                  <a:close/>
                  <a:moveTo>
                    <a:pt x="93345" y="180975"/>
                  </a:moveTo>
                  <a:lnTo>
                    <a:pt x="251460" y="247650"/>
                  </a:lnTo>
                  <a:lnTo>
                    <a:pt x="409575" y="180975"/>
                  </a:lnTo>
                  <a:lnTo>
                    <a:pt x="409575" y="333375"/>
                  </a:lnTo>
                  <a:cubicBezTo>
                    <a:pt x="310515" y="390525"/>
                    <a:pt x="192405" y="390525"/>
                    <a:pt x="93345" y="333375"/>
                  </a:cubicBezTo>
                  <a:close/>
                </a:path>
              </a:pathLst>
            </a:custGeom>
            <a:solidFill>
              <a:srgbClr val="183A6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209032" y="0"/>
              <a:ext cx="1827086" cy="9634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47955" y="290989"/>
              <a:ext cx="10425589" cy="453818"/>
              <a:chOff x="1547955" y="290989"/>
              <a:chExt cx="10425589" cy="45381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547955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研究背景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93652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Background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439251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目的及意义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809637" y="569547"/>
                <a:ext cx="506885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Purpose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439335" y="290989"/>
                <a:ext cx="1366480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材料与方法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856536" y="569547"/>
                <a:ext cx="53207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Methods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55290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结果与分析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41421" y="569547"/>
                <a:ext cx="475393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Results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67135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结论与讨论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665089" y="569547"/>
                <a:ext cx="65174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Conclusion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967418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参考文献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113115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References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462058" y="1215580"/>
            <a:ext cx="11138630" cy="476917"/>
            <a:chOff x="462058" y="1215580"/>
            <a:chExt cx="11138630" cy="476917"/>
          </a:xfrm>
        </p:grpSpPr>
        <p:sp>
          <p:nvSpPr>
            <p:cNvPr id="22" name="TextBox 22"/>
            <p:cNvSpPr txBox="1"/>
            <p:nvPr/>
          </p:nvSpPr>
          <p:spPr>
            <a:xfrm>
              <a:off x="462058" y="1223200"/>
              <a:ext cx="1877473" cy="4616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效度伦理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91740" y="1215580"/>
              <a:ext cx="9108948" cy="476917"/>
            </a:xfrm>
            <a:prstGeom prst="roundRect">
              <a:avLst>
                <a:gd name="adj" fmla="val 11604"/>
              </a:avLst>
            </a:prstGeom>
            <a:solidFill>
              <a:srgbClr val="E7E6E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43200" y="1260824"/>
              <a:ext cx="8553450" cy="3864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效度与伦理控制保证结论不被单一叙述或单一归因支配。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14350" y="1790700"/>
            <a:ext cx="11163300" cy="4629150"/>
            <a:chOff x="514350" y="1790700"/>
            <a:chExt cx="11163300" cy="4629150"/>
          </a:xfrm>
        </p:grpSpPr>
        <p:sp>
          <p:nvSpPr>
            <p:cNvPr id="26" name="Rectangle 26"/>
            <p:cNvSpPr/>
            <p:nvPr/>
          </p:nvSpPr>
          <p:spPr>
            <a:xfrm>
              <a:off x="514350" y="1790700"/>
              <a:ext cx="11163300" cy="4629150"/>
            </a:xfrm>
            <a:prstGeom prst="rect">
              <a:avLst/>
            </a:prstGeom>
            <a:noFill/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97689" y="1885950"/>
              <a:ext cx="10755880" cy="2895600"/>
              <a:chOff x="697689" y="1885950"/>
              <a:chExt cx="10755880" cy="28956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97689" y="1971675"/>
                <a:ext cx="122226" cy="114300"/>
              </a:xfrm>
              <a:prstGeom prst="roundRect">
                <a:avLst>
                  <a:gd name="adj" fmla="val 17822"/>
                </a:avLst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962512" y="1885950"/>
                <a:ext cx="10491057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47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采用多主体访谈进行资料交叉验证，避免只由单一叙述决定结论。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697689" y="2714625"/>
                <a:ext cx="122226" cy="114300"/>
              </a:xfrm>
              <a:prstGeom prst="roundRect">
                <a:avLst>
                  <a:gd name="adj" fmla="val 17822"/>
                </a:avLst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962512" y="2628900"/>
                <a:ext cx="10491057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47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访谈前说明研究主题与匿名保护，尊重受访者是否接受访问。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697689" y="3457575"/>
                <a:ext cx="122226" cy="114300"/>
              </a:xfrm>
              <a:prstGeom prst="roundRect">
                <a:avLst>
                  <a:gd name="adj" fmla="val 17822"/>
                </a:avLst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62512" y="3371850"/>
                <a:ext cx="10491057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47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前任导师Y不愿参与研究，论文出于伦理考虑尊重其决定。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97689" y="4200525"/>
                <a:ext cx="122226" cy="114300"/>
              </a:xfrm>
              <a:prstGeom prst="roundRect">
                <a:avLst>
                  <a:gd name="adj" fmla="val 17822"/>
                </a:avLst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962512" y="4114800"/>
                <a:ext cx="10491057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47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将个体经验放回具体情境中解释，避免把复杂关系归因为单一人格问题。</a:t>
                </a:r>
              </a:p>
            </p:txBody>
          </p:sp>
        </p:grpSp>
      </p:grpSp>
      <p:sp>
        <p:nvSpPr>
          <p:cNvPr id="37" name="TextBox 37"/>
          <p:cNvSpPr txBox="1"/>
          <p:nvPr/>
        </p:nvSpPr>
        <p:spPr>
          <a:xfrm>
            <a:off x="10696575" y="6373178"/>
            <a:ext cx="857250" cy="265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0" y="0"/>
            <a:ext cx="12192000" cy="963454"/>
            <a:chOff x="0" y="0"/>
            <a:chExt cx="12192000" cy="963454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83A6A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952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5403">
              <a:solidFill>
                <a:srgbClr val="183A6A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78403" y="115062"/>
              <a:ext cx="722376" cy="7223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287655" y="295275"/>
              <a:ext cx="502920" cy="390525"/>
            </a:xfrm>
            <a:custGeom>
              <a:avLst/>
              <a:gdLst/>
              <a:ahLst/>
              <a:cxnLst/>
              <a:rect l="l" t="t" r="r" b="b"/>
              <a:pathLst>
                <a:path w="502920" h="390525">
                  <a:moveTo>
                    <a:pt x="251460" y="0"/>
                  </a:moveTo>
                  <a:lnTo>
                    <a:pt x="502920" y="104775"/>
                  </a:lnTo>
                  <a:lnTo>
                    <a:pt x="251460" y="209550"/>
                  </a:lnTo>
                  <a:lnTo>
                    <a:pt x="0" y="104775"/>
                  </a:lnTo>
                  <a:close/>
                  <a:moveTo>
                    <a:pt x="93345" y="180975"/>
                  </a:moveTo>
                  <a:lnTo>
                    <a:pt x="251460" y="247650"/>
                  </a:lnTo>
                  <a:lnTo>
                    <a:pt x="409575" y="180975"/>
                  </a:lnTo>
                  <a:lnTo>
                    <a:pt x="409575" y="333375"/>
                  </a:lnTo>
                  <a:cubicBezTo>
                    <a:pt x="310515" y="390525"/>
                    <a:pt x="192405" y="390525"/>
                    <a:pt x="93345" y="333375"/>
                  </a:cubicBezTo>
                  <a:close/>
                </a:path>
              </a:pathLst>
            </a:custGeom>
            <a:solidFill>
              <a:srgbClr val="183A6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209032" y="0"/>
              <a:ext cx="1827086" cy="9634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47955" y="290989"/>
              <a:ext cx="10425589" cy="453818"/>
              <a:chOff x="1547955" y="290989"/>
              <a:chExt cx="10425589" cy="45381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547955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研究背景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93652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Background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439251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目的及意义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809637" y="569547"/>
                <a:ext cx="506885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Purpose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439335" y="290989"/>
                <a:ext cx="1366480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材料与方法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856536" y="569547"/>
                <a:ext cx="53207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Methods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55290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结果与分析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41421" y="569547"/>
                <a:ext cx="475393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Results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67135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结论与讨论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665089" y="569547"/>
                <a:ext cx="65174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Conclusion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967418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参考文献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113115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References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462058" y="1215580"/>
            <a:ext cx="11138630" cy="476917"/>
            <a:chOff x="462058" y="1215580"/>
            <a:chExt cx="11138630" cy="476917"/>
          </a:xfrm>
        </p:grpSpPr>
        <p:sp>
          <p:nvSpPr>
            <p:cNvPr id="22" name="TextBox 22"/>
            <p:cNvSpPr txBox="1"/>
            <p:nvPr/>
          </p:nvSpPr>
          <p:spPr>
            <a:xfrm>
              <a:off x="462058" y="1223200"/>
              <a:ext cx="1877473" cy="4616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分析框架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91740" y="1215580"/>
              <a:ext cx="9108948" cy="476917"/>
            </a:xfrm>
            <a:prstGeom prst="roundRect">
              <a:avLst>
                <a:gd name="adj" fmla="val 11604"/>
              </a:avLst>
            </a:prstGeom>
            <a:solidFill>
              <a:srgbClr val="E7E6E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43200" y="1260824"/>
              <a:ext cx="8553450" cy="3864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分析框架把叙事材料转化为过程复原与机制解释。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14350" y="1790700"/>
            <a:ext cx="11163300" cy="4629150"/>
            <a:chOff x="514350" y="1790700"/>
            <a:chExt cx="11163300" cy="4629150"/>
          </a:xfrm>
        </p:grpSpPr>
        <p:sp>
          <p:nvSpPr>
            <p:cNvPr id="26" name="Rectangle 26"/>
            <p:cNvSpPr/>
            <p:nvPr/>
          </p:nvSpPr>
          <p:spPr>
            <a:xfrm>
              <a:off x="514350" y="1790700"/>
              <a:ext cx="11163300" cy="4629150"/>
            </a:xfrm>
            <a:prstGeom prst="rect">
              <a:avLst/>
            </a:prstGeom>
            <a:noFill/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514350" y="1790700"/>
              <a:ext cx="11163300" cy="3152775"/>
              <a:chOff x="514350" y="1790700"/>
              <a:chExt cx="11163300" cy="3152775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514350" y="1790700"/>
                <a:ext cx="5296456" cy="1028700"/>
              </a:xfrm>
              <a:prstGeom prst="roundRect">
                <a:avLst>
                  <a:gd name="adj" fmla="val 6931"/>
                </a:avLst>
              </a:prstGeom>
              <a:solidFill>
                <a:srgbClr val="FFFFFF"/>
              </a:solidFill>
              <a:ln w="14288">
                <a:solidFill>
                  <a:srgbClr val="183A6A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17895" y="1939995"/>
                <a:ext cx="1032956" cy="328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17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纵向过程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23029" y="2307484"/>
                <a:ext cx="4458857" cy="246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13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第二章按时间线复原入师门、写论文、换导师三个阶段。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6381194" y="1790700"/>
                <a:ext cx="5296456" cy="1028700"/>
              </a:xfrm>
              <a:prstGeom prst="roundRect">
                <a:avLst>
                  <a:gd name="adj" fmla="val 6931"/>
                </a:avLst>
              </a:prstGeom>
              <a:solidFill>
                <a:srgbClr val="FFFFFF"/>
              </a:solidFill>
              <a:ln w="14288">
                <a:solidFill>
                  <a:srgbClr val="183A6A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584739" y="1939995"/>
                <a:ext cx="1032956" cy="328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17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横向机制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589873" y="2307484"/>
                <a:ext cx="4458857" cy="246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13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第三、四章分别厘清关系机制与导师制层面的制度反思。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799544" y="3190875"/>
                <a:ext cx="10592912" cy="1752600"/>
              </a:xfrm>
              <a:prstGeom prst="roundRect">
                <a:avLst>
                  <a:gd name="adj" fmla="val 2906"/>
                </a:avLst>
              </a:prstGeom>
              <a:solidFill>
                <a:srgbClr val="FFFFFF"/>
              </a:solidFill>
              <a:ln w="11430">
                <a:solidFill>
                  <a:srgbClr val="183A6A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799544" y="3190875"/>
                <a:ext cx="10592912" cy="438150"/>
              </a:xfrm>
              <a:prstGeom prst="roundRect">
                <a:avLst>
                  <a:gd name="adj" fmla="val 11623"/>
                </a:avLst>
              </a:prstGeom>
              <a:solidFill>
                <a:srgbClr val="E7E6E6"/>
              </a:solidFill>
              <a:ln w="0">
                <a:solidFill>
                  <a:srgbClr val="183A6A"/>
                </a:solidFill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3543032" y="3190875"/>
                <a:ext cx="9525" cy="1752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2600">
                    <a:moveTo>
                      <a:pt x="0" y="0"/>
                    </a:moveTo>
                    <a:lnTo>
                      <a:pt x="0" y="1752600"/>
                    </a:lnTo>
                  </a:path>
                </a:pathLst>
              </a:custGeom>
              <a:noFill/>
              <a:ln w="8572">
                <a:solidFill>
                  <a:srgbClr val="183A6A"/>
                </a:solidFill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7048600" y="3190875"/>
                <a:ext cx="9525" cy="1752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2600">
                    <a:moveTo>
                      <a:pt x="0" y="0"/>
                    </a:moveTo>
                    <a:lnTo>
                      <a:pt x="0" y="1752600"/>
                    </a:lnTo>
                  </a:path>
                </a:pathLst>
              </a:custGeom>
              <a:noFill/>
              <a:ln w="8572">
                <a:solidFill>
                  <a:srgbClr val="183A6A"/>
                </a:solidFill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799544" y="3629025"/>
                <a:ext cx="10592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92912" h="9525">
                    <a:moveTo>
                      <a:pt x="0" y="0"/>
                    </a:moveTo>
                    <a:lnTo>
                      <a:pt x="10592912" y="0"/>
                    </a:lnTo>
                  </a:path>
                </a:pathLst>
              </a:custGeom>
              <a:noFill/>
              <a:ln w="8572">
                <a:solidFill>
                  <a:srgbClr val="183A6A"/>
                </a:solidFill>
              </a:ln>
            </p:spPr>
          </p:sp>
          <p:sp>
            <p:nvSpPr>
              <p:cNvPr id="38" name="Line 38"/>
              <p:cNvSpPr/>
              <p:nvPr/>
            </p:nvSpPr>
            <p:spPr>
              <a:xfrm>
                <a:off x="799544" y="4067175"/>
                <a:ext cx="10592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92912" h="9525">
                    <a:moveTo>
                      <a:pt x="0" y="0"/>
                    </a:moveTo>
                    <a:lnTo>
                      <a:pt x="10592912" y="0"/>
                    </a:lnTo>
                  </a:path>
                </a:pathLst>
              </a:custGeom>
              <a:noFill/>
              <a:ln w="8572">
                <a:solidFill>
                  <a:srgbClr val="183A6A"/>
                </a:solidFill>
              </a:ln>
            </p:spPr>
          </p:sp>
          <p:sp>
            <p:nvSpPr>
              <p:cNvPr id="39" name="Line 39"/>
              <p:cNvSpPr/>
              <p:nvPr/>
            </p:nvSpPr>
            <p:spPr>
              <a:xfrm>
                <a:off x="799544" y="4505325"/>
                <a:ext cx="10592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92912" h="9525">
                    <a:moveTo>
                      <a:pt x="0" y="0"/>
                    </a:moveTo>
                    <a:lnTo>
                      <a:pt x="10592912" y="0"/>
                    </a:lnTo>
                  </a:path>
                </a:pathLst>
              </a:custGeom>
              <a:noFill/>
              <a:ln w="8572">
                <a:solidFill>
                  <a:srgbClr val="183A6A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885839" y="3321101"/>
                <a:ext cx="570898" cy="2389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76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材料层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920196" y="3321101"/>
                <a:ext cx="751241" cy="2389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76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分析动作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025250" y="3321101"/>
                <a:ext cx="390555" cy="2389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76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输出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87864" y="3752102"/>
                <a:ext cx="649681" cy="216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6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访谈叙事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3631352" y="3752102"/>
                <a:ext cx="649681" cy="216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6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情景还原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136920" y="3752102"/>
                <a:ext cx="649681" cy="216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6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事件过程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87864" y="4190252"/>
                <a:ext cx="649681" cy="216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6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多方证据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3631352" y="4190252"/>
                <a:ext cx="649681" cy="216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6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三角互证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136920" y="4190252"/>
                <a:ext cx="649681" cy="216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6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事实厘清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87864" y="4628402"/>
                <a:ext cx="1046596" cy="216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6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制度文本/文献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631352" y="4628402"/>
                <a:ext cx="805334" cy="216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6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导师制视角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136920" y="4628402"/>
                <a:ext cx="649681" cy="216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6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反思框架</a:t>
                </a:r>
              </a:p>
            </p:txBody>
          </p:sp>
        </p:grpSp>
      </p:grpSp>
      <p:sp>
        <p:nvSpPr>
          <p:cNvPr id="54" name="TextBox 54"/>
          <p:cNvSpPr txBox="1"/>
          <p:nvPr/>
        </p:nvSpPr>
        <p:spPr>
          <a:xfrm>
            <a:off x="10696575" y="6373178"/>
            <a:ext cx="857250" cy="265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5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263557" y="1058704"/>
            <a:ext cx="11664886" cy="9525"/>
          </a:xfrm>
          <a:custGeom>
            <a:avLst/>
            <a:gdLst/>
            <a:ahLst/>
            <a:cxnLst/>
            <a:rect l="l" t="t" r="r" b="b"/>
            <a:pathLst>
              <a:path w="11664886" h="9525">
                <a:moveTo>
                  <a:pt x="0" y="0"/>
                </a:moveTo>
                <a:lnTo>
                  <a:pt x="11664886" y="0"/>
                </a:lnTo>
              </a:path>
            </a:pathLst>
          </a:custGeom>
          <a:noFill/>
          <a:ln w="25403">
            <a:solidFill>
              <a:srgbClr val="183A6A"/>
            </a:solidFill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191792" cy="6858000"/>
          </a:xfrm>
          <a:prstGeom prst="rect">
            <a:avLst/>
          </a:prstGeom>
          <a:solidFill>
            <a:srgbClr val="183A6A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529590" y="1363028"/>
            <a:ext cx="4131945" cy="4131945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785938" y="2334578"/>
            <a:ext cx="1619250" cy="20373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035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04</a:t>
            </a:r>
          </a:p>
        </p:txBody>
      </p:sp>
      <p:sp>
        <p:nvSpPr>
          <p:cNvPr id="7" name="Rectangle 7"/>
          <p:cNvSpPr/>
          <p:nvPr/>
        </p:nvSpPr>
        <p:spPr>
          <a:xfrm>
            <a:off x="6191250" y="2324100"/>
            <a:ext cx="4495800" cy="38100"/>
          </a:xfrm>
          <a:prstGeom prst="rect">
            <a:avLst/>
          </a:prstGeom>
          <a:solidFill>
            <a:srgbClr val="183A6A">
              <a:alpha val="2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191250" y="2705100"/>
            <a:ext cx="48577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000000"/>
                </a:solidFill>
                <a:latin typeface="Source Han Sans CN"/>
                <a:ea typeface="Microsoft YaHei"/>
                <a:cs typeface="Source Han Sans CN"/>
              </a:rPr>
              <a:t>结果与分析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191250" y="3524250"/>
            <a:ext cx="48577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800" dirty="0">
                <a:solidFill>
                  <a:srgbClr val="595959"/>
                </a:solidFill>
                <a:latin typeface="Source Han Sans CN"/>
                <a:ea typeface="Microsoft YaHei"/>
                <a:cs typeface="Source Han Sans CN"/>
              </a:rPr>
              <a:t>Results and Analysis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191250" y="4400550"/>
            <a:ext cx="2209800" cy="95250"/>
          </a:xfrm>
          <a:prstGeom prst="roundRect">
            <a:avLst>
              <a:gd name="adj" fmla="val 50000"/>
            </a:avLst>
          </a:prstGeom>
          <a:solidFill>
            <a:srgbClr val="183A6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174105" y="4807268"/>
            <a:ext cx="15623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Defense Section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0" y="0"/>
            <a:ext cx="12192000" cy="963454"/>
            <a:chOff x="0" y="0"/>
            <a:chExt cx="12192000" cy="963454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83A6A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952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5403">
              <a:solidFill>
                <a:srgbClr val="183A6A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78403" y="115062"/>
              <a:ext cx="722376" cy="7223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287655" y="295275"/>
              <a:ext cx="502920" cy="390525"/>
            </a:xfrm>
            <a:custGeom>
              <a:avLst/>
              <a:gdLst/>
              <a:ahLst/>
              <a:cxnLst/>
              <a:rect l="l" t="t" r="r" b="b"/>
              <a:pathLst>
                <a:path w="502920" h="390525">
                  <a:moveTo>
                    <a:pt x="251460" y="0"/>
                  </a:moveTo>
                  <a:lnTo>
                    <a:pt x="502920" y="104775"/>
                  </a:lnTo>
                  <a:lnTo>
                    <a:pt x="251460" y="209550"/>
                  </a:lnTo>
                  <a:lnTo>
                    <a:pt x="0" y="104775"/>
                  </a:lnTo>
                  <a:close/>
                  <a:moveTo>
                    <a:pt x="93345" y="180975"/>
                  </a:moveTo>
                  <a:lnTo>
                    <a:pt x="251460" y="247650"/>
                  </a:lnTo>
                  <a:lnTo>
                    <a:pt x="409575" y="180975"/>
                  </a:lnTo>
                  <a:lnTo>
                    <a:pt x="409575" y="333375"/>
                  </a:lnTo>
                  <a:cubicBezTo>
                    <a:pt x="310515" y="390525"/>
                    <a:pt x="192405" y="390525"/>
                    <a:pt x="93345" y="333375"/>
                  </a:cubicBezTo>
                  <a:close/>
                </a:path>
              </a:pathLst>
            </a:custGeom>
            <a:solidFill>
              <a:srgbClr val="183A6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271099" y="0"/>
              <a:ext cx="1816132" cy="9634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47955" y="290989"/>
              <a:ext cx="10425589" cy="453818"/>
              <a:chOff x="1547955" y="290989"/>
              <a:chExt cx="10425589" cy="45381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547955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研究背景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93652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Background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439251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目的及意义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809637" y="569547"/>
                <a:ext cx="506885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Purpose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498747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材料与方法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856536" y="569547"/>
                <a:ext cx="53207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Methods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495877" y="290989"/>
                <a:ext cx="1366480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结果与分析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41421" y="569547"/>
                <a:ext cx="475393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Results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67135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结论与讨论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665089" y="569547"/>
                <a:ext cx="65174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Conclusion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967418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参考文献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113115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References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462058" y="1215580"/>
            <a:ext cx="11138630" cy="476917"/>
            <a:chOff x="462058" y="1215580"/>
            <a:chExt cx="11138630" cy="476917"/>
          </a:xfrm>
        </p:grpSpPr>
        <p:sp>
          <p:nvSpPr>
            <p:cNvPr id="22" name="TextBox 22"/>
            <p:cNvSpPr txBox="1"/>
            <p:nvPr/>
          </p:nvSpPr>
          <p:spPr>
            <a:xfrm>
              <a:off x="462058" y="1223200"/>
              <a:ext cx="1877473" cy="4616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事件主线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91740" y="1215580"/>
              <a:ext cx="9108948" cy="476917"/>
            </a:xfrm>
            <a:prstGeom prst="roundRect">
              <a:avLst>
                <a:gd name="adj" fmla="val 11604"/>
              </a:avLst>
            </a:prstGeom>
            <a:solidFill>
              <a:srgbClr val="E7E6E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43200" y="1260824"/>
              <a:ext cx="8553450" cy="3864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换导师不是突发决定，而是期待落差持续累积后的关系转折。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14350" y="1790700"/>
            <a:ext cx="11163300" cy="4629150"/>
            <a:chOff x="514350" y="1790700"/>
            <a:chExt cx="11163300" cy="4629150"/>
          </a:xfrm>
        </p:grpSpPr>
        <p:sp>
          <p:nvSpPr>
            <p:cNvPr id="26" name="Rectangle 26"/>
            <p:cNvSpPr/>
            <p:nvPr/>
          </p:nvSpPr>
          <p:spPr>
            <a:xfrm>
              <a:off x="514350" y="1790700"/>
              <a:ext cx="11163300" cy="4629150"/>
            </a:xfrm>
            <a:prstGeom prst="rect">
              <a:avLst/>
            </a:prstGeom>
            <a:noFill/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514350" y="1981200"/>
              <a:ext cx="11163300" cy="2228850"/>
              <a:chOff x="514350" y="1981200"/>
              <a:chExt cx="11163300" cy="22288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514350" y="1981200"/>
                <a:ext cx="11163300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w="11163300" h="647700">
                    <a:moveTo>
                      <a:pt x="81484" y="0"/>
                    </a:moveTo>
                    <a:lnTo>
                      <a:pt x="11081816" y="0"/>
                    </a:lnTo>
                    <a:cubicBezTo>
                      <a:pt x="11126818" y="0"/>
                      <a:pt x="11163300" y="34116"/>
                      <a:pt x="11163300" y="76200"/>
                    </a:cubicBezTo>
                    <a:lnTo>
                      <a:pt x="11163300" y="571500"/>
                    </a:lnTo>
                    <a:cubicBezTo>
                      <a:pt x="11163300" y="613584"/>
                      <a:pt x="11126818" y="647700"/>
                      <a:pt x="11081816" y="647700"/>
                    </a:cubicBezTo>
                    <a:lnTo>
                      <a:pt x="81484" y="647700"/>
                    </a:lnTo>
                    <a:cubicBezTo>
                      <a:pt x="36482" y="647700"/>
                      <a:pt x="0" y="613584"/>
                      <a:pt x="0" y="57150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E7E6E6"/>
              </a:solidFill>
              <a:ln w="11430">
                <a:solidFill>
                  <a:srgbClr val="183A6A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00312" y="2195579"/>
                <a:ext cx="6430094" cy="3136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43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换导师不是突发决定，而是期待落差持续累积后的关系转折。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779173" y="3429000"/>
                <a:ext cx="1711163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711163" h="781050">
                    <a:moveTo>
                      <a:pt x="81484" y="0"/>
                    </a:moveTo>
                    <a:lnTo>
                      <a:pt x="1629679" y="0"/>
                    </a:lnTo>
                    <a:cubicBezTo>
                      <a:pt x="1674681" y="0"/>
                      <a:pt x="1711163" y="34116"/>
                      <a:pt x="1711163" y="76200"/>
                    </a:cubicBezTo>
                    <a:lnTo>
                      <a:pt x="1711163" y="704850"/>
                    </a:lnTo>
                    <a:cubicBezTo>
                      <a:pt x="1711163" y="746934"/>
                      <a:pt x="1674681" y="781050"/>
                      <a:pt x="1629679" y="781050"/>
                    </a:cubicBezTo>
                    <a:lnTo>
                      <a:pt x="81484" y="781050"/>
                    </a:lnTo>
                    <a:cubicBezTo>
                      <a:pt x="36482" y="781050"/>
                      <a:pt x="0" y="746934"/>
                      <a:pt x="0" y="70485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E7E6E6"/>
              </a:solidFill>
              <a:ln w="19050">
                <a:solidFill>
                  <a:srgbClr val="183A6A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212181" y="3752907"/>
                <a:ext cx="845146" cy="268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23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跨考入学</a:t>
                </a:r>
              </a:p>
            </p:txBody>
          </p:sp>
          <p:sp>
            <p:nvSpPr>
              <p:cNvPr id="31" name="Line 31"/>
              <p:cNvSpPr/>
              <p:nvPr/>
            </p:nvSpPr>
            <p:spPr>
              <a:xfrm>
                <a:off x="2551449" y="3819525"/>
                <a:ext cx="31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5750" h="9525">
                    <a:moveTo>
                      <a:pt x="0" y="0"/>
                    </a:moveTo>
                    <a:lnTo>
                      <a:pt x="315750" y="0"/>
                    </a:lnTo>
                  </a:path>
                </a:pathLst>
              </a:custGeom>
              <a:noFill/>
              <a:ln w="28575">
                <a:solidFill>
                  <a:srgbClr val="183A6A"/>
                </a:solidFill>
              </a:ln>
            </p:spPr>
          </p:sp>
          <p:sp>
            <p:nvSpPr>
              <p:cNvPr id="32" name="Polygon 32"/>
              <p:cNvSpPr/>
              <p:nvPr/>
            </p:nvSpPr>
            <p:spPr>
              <a:xfrm>
                <a:off x="2765298" y="3752850"/>
                <a:ext cx="101917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1917" h="133350">
                    <a:moveTo>
                      <a:pt x="101917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2999610" y="3429000"/>
                <a:ext cx="1711163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711163" h="781050">
                    <a:moveTo>
                      <a:pt x="81484" y="0"/>
                    </a:moveTo>
                    <a:lnTo>
                      <a:pt x="1629679" y="0"/>
                    </a:lnTo>
                    <a:cubicBezTo>
                      <a:pt x="1674681" y="0"/>
                      <a:pt x="1711163" y="34116"/>
                      <a:pt x="1711163" y="76200"/>
                    </a:cubicBezTo>
                    <a:lnTo>
                      <a:pt x="1711163" y="704850"/>
                    </a:lnTo>
                    <a:cubicBezTo>
                      <a:pt x="1711163" y="746934"/>
                      <a:pt x="1674681" y="781050"/>
                      <a:pt x="1629679" y="781050"/>
                    </a:cubicBezTo>
                    <a:lnTo>
                      <a:pt x="81484" y="781050"/>
                    </a:lnTo>
                    <a:cubicBezTo>
                      <a:pt x="36482" y="781050"/>
                      <a:pt x="0" y="746934"/>
                      <a:pt x="0" y="70485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183A6A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3432619" y="3752907"/>
                <a:ext cx="845146" cy="268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23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调剂导师</a:t>
                </a:r>
              </a:p>
            </p:txBody>
          </p:sp>
          <p:sp>
            <p:nvSpPr>
              <p:cNvPr id="35" name="Line 35"/>
              <p:cNvSpPr/>
              <p:nvPr/>
            </p:nvSpPr>
            <p:spPr>
              <a:xfrm>
                <a:off x="4771886" y="3819525"/>
                <a:ext cx="31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5750" h="9525">
                    <a:moveTo>
                      <a:pt x="0" y="0"/>
                    </a:moveTo>
                    <a:lnTo>
                      <a:pt x="315750" y="0"/>
                    </a:lnTo>
                  </a:path>
                </a:pathLst>
              </a:custGeom>
              <a:noFill/>
              <a:ln w="28575">
                <a:solidFill>
                  <a:srgbClr val="183A6A"/>
                </a:solidFill>
              </a:ln>
            </p:spPr>
          </p:sp>
          <p:sp>
            <p:nvSpPr>
              <p:cNvPr id="36" name="Polygon 36"/>
              <p:cNvSpPr/>
              <p:nvPr/>
            </p:nvSpPr>
            <p:spPr>
              <a:xfrm>
                <a:off x="4985766" y="3752850"/>
                <a:ext cx="101917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1917" h="133350">
                    <a:moveTo>
                      <a:pt x="101917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5220048" y="3429000"/>
                <a:ext cx="1711163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711163" h="781050">
                    <a:moveTo>
                      <a:pt x="81484" y="0"/>
                    </a:moveTo>
                    <a:lnTo>
                      <a:pt x="1629679" y="0"/>
                    </a:lnTo>
                    <a:cubicBezTo>
                      <a:pt x="1674681" y="0"/>
                      <a:pt x="1711163" y="34116"/>
                      <a:pt x="1711163" y="76200"/>
                    </a:cubicBezTo>
                    <a:lnTo>
                      <a:pt x="1711163" y="704850"/>
                    </a:lnTo>
                    <a:cubicBezTo>
                      <a:pt x="1711163" y="746934"/>
                      <a:pt x="1674681" y="781050"/>
                      <a:pt x="1629679" y="781050"/>
                    </a:cubicBezTo>
                    <a:lnTo>
                      <a:pt x="81484" y="781050"/>
                    </a:lnTo>
                    <a:cubicBezTo>
                      <a:pt x="36482" y="781050"/>
                      <a:pt x="0" y="746934"/>
                      <a:pt x="0" y="70485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E7E6E6"/>
              </a:solidFill>
              <a:ln w="19050">
                <a:solidFill>
                  <a:srgbClr val="183A6A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5653056" y="3752907"/>
                <a:ext cx="845146" cy="268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23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短暂蜜月</a:t>
                </a:r>
              </a:p>
            </p:txBody>
          </p:sp>
          <p:sp>
            <p:nvSpPr>
              <p:cNvPr id="39" name="Line 39"/>
              <p:cNvSpPr/>
              <p:nvPr/>
            </p:nvSpPr>
            <p:spPr>
              <a:xfrm>
                <a:off x="6992323" y="3819525"/>
                <a:ext cx="31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5750" h="9525">
                    <a:moveTo>
                      <a:pt x="0" y="0"/>
                    </a:moveTo>
                    <a:lnTo>
                      <a:pt x="315750" y="0"/>
                    </a:lnTo>
                  </a:path>
                </a:pathLst>
              </a:custGeom>
              <a:noFill/>
              <a:ln w="28575">
                <a:solidFill>
                  <a:srgbClr val="183A6A"/>
                </a:solidFill>
              </a:ln>
            </p:spPr>
          </p:sp>
          <p:sp>
            <p:nvSpPr>
              <p:cNvPr id="40" name="Polygon 40"/>
              <p:cNvSpPr/>
              <p:nvPr/>
            </p:nvSpPr>
            <p:spPr>
              <a:xfrm>
                <a:off x="7206234" y="3752850"/>
                <a:ext cx="101822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1822" h="133350">
                    <a:moveTo>
                      <a:pt x="101822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7440485" y="3429000"/>
                <a:ext cx="1711163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711163" h="781050">
                    <a:moveTo>
                      <a:pt x="81484" y="0"/>
                    </a:moveTo>
                    <a:lnTo>
                      <a:pt x="1629679" y="0"/>
                    </a:lnTo>
                    <a:cubicBezTo>
                      <a:pt x="1674681" y="0"/>
                      <a:pt x="1711163" y="34116"/>
                      <a:pt x="1711163" y="76200"/>
                    </a:cubicBezTo>
                    <a:lnTo>
                      <a:pt x="1711163" y="704850"/>
                    </a:lnTo>
                    <a:cubicBezTo>
                      <a:pt x="1711163" y="746934"/>
                      <a:pt x="1674681" y="781050"/>
                      <a:pt x="1629679" y="781050"/>
                    </a:cubicBezTo>
                    <a:lnTo>
                      <a:pt x="81484" y="781050"/>
                    </a:lnTo>
                    <a:cubicBezTo>
                      <a:pt x="36482" y="781050"/>
                      <a:pt x="0" y="746934"/>
                      <a:pt x="0" y="70485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183A6A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873494" y="3752907"/>
                <a:ext cx="845146" cy="268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23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论文冲突</a:t>
                </a:r>
              </a:p>
            </p:txBody>
          </p:sp>
          <p:sp>
            <p:nvSpPr>
              <p:cNvPr id="43" name="Line 43"/>
              <p:cNvSpPr/>
              <p:nvPr/>
            </p:nvSpPr>
            <p:spPr>
              <a:xfrm>
                <a:off x="9212761" y="3819525"/>
                <a:ext cx="31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5750" h="9525">
                    <a:moveTo>
                      <a:pt x="0" y="0"/>
                    </a:moveTo>
                    <a:lnTo>
                      <a:pt x="315750" y="0"/>
                    </a:lnTo>
                  </a:path>
                </a:pathLst>
              </a:custGeom>
              <a:noFill/>
              <a:ln w="28575">
                <a:solidFill>
                  <a:srgbClr val="183A6A"/>
                </a:solidFill>
              </a:ln>
            </p:spPr>
          </p:sp>
          <p:sp>
            <p:nvSpPr>
              <p:cNvPr id="44" name="Polygon 44"/>
              <p:cNvSpPr/>
              <p:nvPr/>
            </p:nvSpPr>
            <p:spPr>
              <a:xfrm>
                <a:off x="9426702" y="3752850"/>
                <a:ext cx="101822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1822" h="133350">
                    <a:moveTo>
                      <a:pt x="101822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9660922" y="3429000"/>
                <a:ext cx="1711163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711163" h="781050">
                    <a:moveTo>
                      <a:pt x="81484" y="0"/>
                    </a:moveTo>
                    <a:lnTo>
                      <a:pt x="1629679" y="0"/>
                    </a:lnTo>
                    <a:cubicBezTo>
                      <a:pt x="1674681" y="0"/>
                      <a:pt x="1711163" y="34116"/>
                      <a:pt x="1711163" y="76200"/>
                    </a:cubicBezTo>
                    <a:lnTo>
                      <a:pt x="1711163" y="704850"/>
                    </a:lnTo>
                    <a:cubicBezTo>
                      <a:pt x="1711163" y="746934"/>
                      <a:pt x="1674681" y="781050"/>
                      <a:pt x="1629679" y="781050"/>
                    </a:cubicBezTo>
                    <a:lnTo>
                      <a:pt x="81484" y="781050"/>
                    </a:lnTo>
                    <a:cubicBezTo>
                      <a:pt x="36482" y="781050"/>
                      <a:pt x="0" y="746934"/>
                      <a:pt x="0" y="70485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E7E6E6"/>
              </a:solidFill>
              <a:ln w="19050">
                <a:solidFill>
                  <a:srgbClr val="183A6A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093931" y="3752907"/>
                <a:ext cx="845146" cy="268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23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更换导师</a:t>
                </a:r>
              </a:p>
            </p:txBody>
          </p:sp>
        </p:grpSp>
      </p:grpSp>
      <p:sp>
        <p:nvSpPr>
          <p:cNvPr id="49" name="TextBox 49"/>
          <p:cNvSpPr txBox="1"/>
          <p:nvPr/>
        </p:nvSpPr>
        <p:spPr>
          <a:xfrm>
            <a:off x="10696575" y="6373178"/>
            <a:ext cx="857250" cy="265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0" y="0"/>
            <a:ext cx="12192000" cy="963454"/>
            <a:chOff x="0" y="0"/>
            <a:chExt cx="12192000" cy="963454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83A6A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952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5403">
              <a:solidFill>
                <a:srgbClr val="183A6A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78403" y="115062"/>
              <a:ext cx="722376" cy="7223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287655" y="295275"/>
              <a:ext cx="502920" cy="390525"/>
            </a:xfrm>
            <a:custGeom>
              <a:avLst/>
              <a:gdLst/>
              <a:ahLst/>
              <a:cxnLst/>
              <a:rect l="l" t="t" r="r" b="b"/>
              <a:pathLst>
                <a:path w="502920" h="390525">
                  <a:moveTo>
                    <a:pt x="251460" y="0"/>
                  </a:moveTo>
                  <a:lnTo>
                    <a:pt x="502920" y="104775"/>
                  </a:lnTo>
                  <a:lnTo>
                    <a:pt x="251460" y="209550"/>
                  </a:lnTo>
                  <a:lnTo>
                    <a:pt x="0" y="104775"/>
                  </a:lnTo>
                  <a:close/>
                  <a:moveTo>
                    <a:pt x="93345" y="180975"/>
                  </a:moveTo>
                  <a:lnTo>
                    <a:pt x="251460" y="247650"/>
                  </a:lnTo>
                  <a:lnTo>
                    <a:pt x="409575" y="180975"/>
                  </a:lnTo>
                  <a:lnTo>
                    <a:pt x="409575" y="333375"/>
                  </a:lnTo>
                  <a:cubicBezTo>
                    <a:pt x="310515" y="390525"/>
                    <a:pt x="192405" y="390525"/>
                    <a:pt x="93345" y="333375"/>
                  </a:cubicBezTo>
                  <a:close/>
                </a:path>
              </a:pathLst>
            </a:custGeom>
            <a:solidFill>
              <a:srgbClr val="183A6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271099" y="0"/>
              <a:ext cx="1816132" cy="9634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47955" y="290989"/>
              <a:ext cx="10425589" cy="453818"/>
              <a:chOff x="1547955" y="290989"/>
              <a:chExt cx="10425589" cy="45381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547955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研究背景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93652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Background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439251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目的及意义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809637" y="569547"/>
                <a:ext cx="506885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Purpose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498747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材料与方法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856536" y="569547"/>
                <a:ext cx="53207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Methods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495877" y="290989"/>
                <a:ext cx="1366480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结果与分析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41421" y="569547"/>
                <a:ext cx="475393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Results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67135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结论与讨论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665089" y="569547"/>
                <a:ext cx="65174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Conclusion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967418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参考文献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113115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References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462058" y="1215580"/>
            <a:ext cx="11138630" cy="476917"/>
            <a:chOff x="462058" y="1215580"/>
            <a:chExt cx="11138630" cy="476917"/>
          </a:xfrm>
        </p:grpSpPr>
        <p:sp>
          <p:nvSpPr>
            <p:cNvPr id="22" name="TextBox 22"/>
            <p:cNvSpPr txBox="1"/>
            <p:nvPr/>
          </p:nvSpPr>
          <p:spPr>
            <a:xfrm>
              <a:off x="462058" y="1223200"/>
              <a:ext cx="1877473" cy="4616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相识与蜜月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91740" y="1215580"/>
              <a:ext cx="9108948" cy="476917"/>
            </a:xfrm>
            <a:prstGeom prst="roundRect">
              <a:avLst>
                <a:gd name="adj" fmla="val 11604"/>
              </a:avLst>
            </a:prstGeom>
            <a:solidFill>
              <a:srgbClr val="E7E6E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43200" y="1260824"/>
              <a:ext cx="8553450" cy="3864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初识阶段的结构落差没有立即爆发，却削弱了后续信任基础。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14350" y="1790700"/>
            <a:ext cx="11163300" cy="4629150"/>
            <a:chOff x="514350" y="1790700"/>
            <a:chExt cx="11163300" cy="4629150"/>
          </a:xfrm>
        </p:grpSpPr>
        <p:sp>
          <p:nvSpPr>
            <p:cNvPr id="26" name="Rectangle 26"/>
            <p:cNvSpPr/>
            <p:nvPr/>
          </p:nvSpPr>
          <p:spPr>
            <a:xfrm>
              <a:off x="514350" y="1790700"/>
              <a:ext cx="11163300" cy="4629150"/>
            </a:xfrm>
            <a:prstGeom prst="rect">
              <a:avLst/>
            </a:prstGeom>
            <a:noFill/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514350" y="2019300"/>
              <a:ext cx="11163300" cy="2857500"/>
              <a:chOff x="514350" y="2019300"/>
              <a:chExt cx="11163300" cy="28575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514350" y="2019300"/>
                <a:ext cx="5296456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5296456" h="2857500">
                    <a:moveTo>
                      <a:pt x="81484" y="0"/>
                    </a:moveTo>
                    <a:lnTo>
                      <a:pt x="5214972" y="0"/>
                    </a:lnTo>
                    <a:cubicBezTo>
                      <a:pt x="5259974" y="0"/>
                      <a:pt x="5296456" y="34116"/>
                      <a:pt x="5296456" y="76200"/>
                    </a:cubicBezTo>
                    <a:lnTo>
                      <a:pt x="5296456" y="2781300"/>
                    </a:lnTo>
                    <a:cubicBezTo>
                      <a:pt x="5296456" y="2823384"/>
                      <a:pt x="5259974" y="2857500"/>
                      <a:pt x="5214972" y="2857500"/>
                    </a:cubicBezTo>
                    <a:lnTo>
                      <a:pt x="81484" y="2857500"/>
                    </a:lnTo>
                    <a:cubicBezTo>
                      <a:pt x="36482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183A6A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2599148" y="2343226"/>
                <a:ext cx="1126861" cy="358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64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初见尴尬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63759" y="2958365"/>
                <a:ext cx="3917001" cy="2763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6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A同学未提前联系导师，首次见面即被批评；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63759" y="3210396"/>
                <a:ext cx="4026227" cy="2763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6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导师表达“如果不愿意待在这个师门可以走”。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6381194" y="2019300"/>
                <a:ext cx="5296456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5296456" h="2857500">
                    <a:moveTo>
                      <a:pt x="81484" y="0"/>
                    </a:moveTo>
                    <a:lnTo>
                      <a:pt x="5214972" y="0"/>
                    </a:lnTo>
                    <a:cubicBezTo>
                      <a:pt x="5259974" y="0"/>
                      <a:pt x="5296456" y="34116"/>
                      <a:pt x="5296456" y="76200"/>
                    </a:cubicBezTo>
                    <a:lnTo>
                      <a:pt x="5296456" y="2781300"/>
                    </a:lnTo>
                    <a:cubicBezTo>
                      <a:pt x="5296456" y="2823384"/>
                      <a:pt x="5259974" y="2857500"/>
                      <a:pt x="5214972" y="2857500"/>
                    </a:cubicBezTo>
                    <a:lnTo>
                      <a:pt x="81484" y="2857500"/>
                    </a:lnTo>
                    <a:cubicBezTo>
                      <a:pt x="36482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183A6A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465991" y="2343226"/>
                <a:ext cx="1126861" cy="358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64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短暂蜜月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730603" y="2958365"/>
                <a:ext cx="4800733" cy="2763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6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实习安排带来一段和谐时期，但双方了解停留在表层，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730603" y="3210396"/>
                <a:ext cx="2219044" cy="2763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6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深层期待并未真正对齐。</a:t>
                </a:r>
              </a:p>
            </p:txBody>
          </p:sp>
        </p:grpSp>
      </p:grpSp>
      <p:sp>
        <p:nvSpPr>
          <p:cNvPr id="37" name="TextBox 37"/>
          <p:cNvSpPr txBox="1"/>
          <p:nvPr/>
        </p:nvSpPr>
        <p:spPr>
          <a:xfrm>
            <a:off x="10696575" y="6373178"/>
            <a:ext cx="857250" cy="265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0" y="0"/>
            <a:ext cx="12192000" cy="963454"/>
            <a:chOff x="0" y="0"/>
            <a:chExt cx="12192000" cy="963454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83A6A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952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5403">
              <a:solidFill>
                <a:srgbClr val="183A6A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78403" y="115062"/>
              <a:ext cx="722376" cy="7223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287655" y="295275"/>
              <a:ext cx="502920" cy="390525"/>
            </a:xfrm>
            <a:custGeom>
              <a:avLst/>
              <a:gdLst/>
              <a:ahLst/>
              <a:cxnLst/>
              <a:rect l="l" t="t" r="r" b="b"/>
              <a:pathLst>
                <a:path w="502920" h="390525">
                  <a:moveTo>
                    <a:pt x="251460" y="0"/>
                  </a:moveTo>
                  <a:lnTo>
                    <a:pt x="502920" y="104775"/>
                  </a:lnTo>
                  <a:lnTo>
                    <a:pt x="251460" y="209550"/>
                  </a:lnTo>
                  <a:lnTo>
                    <a:pt x="0" y="104775"/>
                  </a:lnTo>
                  <a:close/>
                  <a:moveTo>
                    <a:pt x="93345" y="180975"/>
                  </a:moveTo>
                  <a:lnTo>
                    <a:pt x="251460" y="247650"/>
                  </a:lnTo>
                  <a:lnTo>
                    <a:pt x="409575" y="180975"/>
                  </a:lnTo>
                  <a:lnTo>
                    <a:pt x="409575" y="333375"/>
                  </a:lnTo>
                  <a:cubicBezTo>
                    <a:pt x="310515" y="390525"/>
                    <a:pt x="192405" y="390525"/>
                    <a:pt x="93345" y="333375"/>
                  </a:cubicBezTo>
                  <a:close/>
                </a:path>
              </a:pathLst>
            </a:custGeom>
            <a:solidFill>
              <a:srgbClr val="183A6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271099" y="0"/>
              <a:ext cx="1816132" cy="9634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47955" y="290989"/>
              <a:ext cx="10425589" cy="453818"/>
              <a:chOff x="1547955" y="290989"/>
              <a:chExt cx="10425589" cy="45381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547955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研究背景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93652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Background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439251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目的及意义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809637" y="569547"/>
                <a:ext cx="506885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Purpose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498747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材料与方法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856536" y="569547"/>
                <a:ext cx="53207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Methods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495877" y="290989"/>
                <a:ext cx="1366480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结果与分析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41421" y="569547"/>
                <a:ext cx="475393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Results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67135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结论与讨论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665089" y="569547"/>
                <a:ext cx="65174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Conclusion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967418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参考文献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113115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References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462058" y="1215580"/>
            <a:ext cx="11138630" cy="476917"/>
            <a:chOff x="462058" y="1215580"/>
            <a:chExt cx="11138630" cy="476917"/>
          </a:xfrm>
        </p:grpSpPr>
        <p:sp>
          <p:nvSpPr>
            <p:cNvPr id="22" name="TextBox 22"/>
            <p:cNvSpPr txBox="1"/>
            <p:nvPr/>
          </p:nvSpPr>
          <p:spPr>
            <a:xfrm>
              <a:off x="462058" y="1223200"/>
              <a:ext cx="1877473" cy="4616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冲突升级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91740" y="1215580"/>
              <a:ext cx="9108948" cy="476917"/>
            </a:xfrm>
            <a:prstGeom prst="roundRect">
              <a:avLst>
                <a:gd name="adj" fmla="val 11604"/>
              </a:avLst>
            </a:prstGeom>
            <a:solidFill>
              <a:srgbClr val="E7E6E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43200" y="1260824"/>
              <a:ext cx="8553450" cy="3864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论文写作把学术分歧转化为关系冲突，并推动换导师选择。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14350" y="1790700"/>
            <a:ext cx="11163300" cy="4629150"/>
            <a:chOff x="514350" y="1790700"/>
            <a:chExt cx="11163300" cy="4629150"/>
          </a:xfrm>
        </p:grpSpPr>
        <p:sp>
          <p:nvSpPr>
            <p:cNvPr id="26" name="Rectangle 26"/>
            <p:cNvSpPr/>
            <p:nvPr/>
          </p:nvSpPr>
          <p:spPr>
            <a:xfrm>
              <a:off x="514350" y="1790700"/>
              <a:ext cx="11163300" cy="4629150"/>
            </a:xfrm>
            <a:prstGeom prst="rect">
              <a:avLst/>
            </a:prstGeom>
            <a:noFill/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514350" y="1790700"/>
              <a:ext cx="11163300" cy="3152775"/>
              <a:chOff x="514350" y="1790700"/>
              <a:chExt cx="11163300" cy="3152775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514350" y="1790700"/>
                <a:ext cx="5296456" cy="1028700"/>
              </a:xfrm>
              <a:prstGeom prst="roundRect">
                <a:avLst>
                  <a:gd name="adj" fmla="val 6931"/>
                </a:avLst>
              </a:prstGeom>
              <a:solidFill>
                <a:srgbClr val="FFFFFF"/>
              </a:solidFill>
              <a:ln w="14288">
                <a:solidFill>
                  <a:srgbClr val="183A6A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17895" y="1939995"/>
                <a:ext cx="1032956" cy="328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17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主要矛盾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23029" y="2307484"/>
                <a:ext cx="4635979" cy="246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13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选题与研究兴趣冲突逐渐凸显，论文写作进入白热化阶段。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6381194" y="1790700"/>
                <a:ext cx="5296456" cy="1028700"/>
              </a:xfrm>
              <a:prstGeom prst="roundRect">
                <a:avLst>
                  <a:gd name="adj" fmla="val 6931"/>
                </a:avLst>
              </a:prstGeom>
              <a:solidFill>
                <a:srgbClr val="FFFFFF"/>
              </a:solidFill>
              <a:ln w="14288">
                <a:solidFill>
                  <a:srgbClr val="183A6A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584739" y="1939995"/>
                <a:ext cx="1032956" cy="328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17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触发机制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589873" y="2307484"/>
                <a:ext cx="4635979" cy="246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13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沟通方式强化了不信任，原本的学术分歧演变为关系冲突。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799544" y="3190875"/>
                <a:ext cx="10592912" cy="1752600"/>
              </a:xfrm>
              <a:prstGeom prst="roundRect">
                <a:avLst>
                  <a:gd name="adj" fmla="val 2906"/>
                </a:avLst>
              </a:prstGeom>
              <a:solidFill>
                <a:srgbClr val="FFFFFF"/>
              </a:solidFill>
              <a:ln w="11430">
                <a:solidFill>
                  <a:srgbClr val="183A6A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799544" y="3190875"/>
                <a:ext cx="10592912" cy="438150"/>
              </a:xfrm>
              <a:prstGeom prst="roundRect">
                <a:avLst>
                  <a:gd name="adj" fmla="val 11623"/>
                </a:avLst>
              </a:prstGeom>
              <a:solidFill>
                <a:srgbClr val="E7E6E6"/>
              </a:solidFill>
              <a:ln w="0">
                <a:solidFill>
                  <a:srgbClr val="183A6A"/>
                </a:solidFill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3390616" y="3190875"/>
                <a:ext cx="9525" cy="1752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2600">
                    <a:moveTo>
                      <a:pt x="0" y="0"/>
                    </a:moveTo>
                    <a:lnTo>
                      <a:pt x="0" y="1752600"/>
                    </a:lnTo>
                  </a:path>
                </a:pathLst>
              </a:custGeom>
              <a:noFill/>
              <a:ln w="8572">
                <a:solidFill>
                  <a:srgbClr val="183A6A"/>
                </a:solidFill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6743768" y="3190875"/>
                <a:ext cx="9525" cy="1752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2600">
                    <a:moveTo>
                      <a:pt x="0" y="0"/>
                    </a:moveTo>
                    <a:lnTo>
                      <a:pt x="0" y="1752600"/>
                    </a:lnTo>
                  </a:path>
                </a:pathLst>
              </a:custGeom>
              <a:noFill/>
              <a:ln w="8572">
                <a:solidFill>
                  <a:srgbClr val="183A6A"/>
                </a:solidFill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799544" y="3629025"/>
                <a:ext cx="10592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92912" h="9525">
                    <a:moveTo>
                      <a:pt x="0" y="0"/>
                    </a:moveTo>
                    <a:lnTo>
                      <a:pt x="10592912" y="0"/>
                    </a:lnTo>
                  </a:path>
                </a:pathLst>
              </a:custGeom>
              <a:noFill/>
              <a:ln w="8572">
                <a:solidFill>
                  <a:srgbClr val="183A6A"/>
                </a:solidFill>
              </a:ln>
            </p:spPr>
          </p:sp>
          <p:sp>
            <p:nvSpPr>
              <p:cNvPr id="38" name="Line 38"/>
              <p:cNvSpPr/>
              <p:nvPr/>
            </p:nvSpPr>
            <p:spPr>
              <a:xfrm>
                <a:off x="799544" y="4067175"/>
                <a:ext cx="10592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92912" h="9525">
                    <a:moveTo>
                      <a:pt x="0" y="0"/>
                    </a:moveTo>
                    <a:lnTo>
                      <a:pt x="10592912" y="0"/>
                    </a:lnTo>
                  </a:path>
                </a:pathLst>
              </a:custGeom>
              <a:noFill/>
              <a:ln w="8572">
                <a:solidFill>
                  <a:srgbClr val="183A6A"/>
                </a:solidFill>
              </a:ln>
            </p:spPr>
          </p:sp>
          <p:sp>
            <p:nvSpPr>
              <p:cNvPr id="39" name="Line 39"/>
              <p:cNvSpPr/>
              <p:nvPr/>
            </p:nvSpPr>
            <p:spPr>
              <a:xfrm>
                <a:off x="799544" y="4505325"/>
                <a:ext cx="10592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92912" h="9525">
                    <a:moveTo>
                      <a:pt x="0" y="0"/>
                    </a:moveTo>
                    <a:lnTo>
                      <a:pt x="10592912" y="0"/>
                    </a:lnTo>
                  </a:path>
                </a:pathLst>
              </a:custGeom>
              <a:noFill/>
              <a:ln w="8572">
                <a:solidFill>
                  <a:srgbClr val="183A6A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899802" y="3321101"/>
                <a:ext cx="390555" cy="2389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76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阶段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691572" y="3321101"/>
                <a:ext cx="751241" cy="2389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76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关系状态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692492" y="3321101"/>
                <a:ext cx="751241" cy="2389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76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关键变化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87864" y="3752102"/>
                <a:ext cx="338376" cy="216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6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选题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3478936" y="3752102"/>
                <a:ext cx="649681" cy="216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6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期待落差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832088" y="3752102"/>
                <a:ext cx="1894903" cy="216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6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研究方向难以形成共同目标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87864" y="4190252"/>
                <a:ext cx="338376" cy="216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6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写作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3478936" y="4190252"/>
                <a:ext cx="649681" cy="216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6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冲突显化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832088" y="4190252"/>
                <a:ext cx="2050556" cy="216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6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沟通压力与身份认同危机叠加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87864" y="4628402"/>
                <a:ext cx="338376" cy="216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6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放弃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478936" y="4628402"/>
                <a:ext cx="649681" cy="216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6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关系断裂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832088" y="4628402"/>
                <a:ext cx="2291818" cy="216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6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A同学开始寻找离开原关系的路径</a:t>
                </a:r>
              </a:p>
            </p:txBody>
          </p:sp>
        </p:grpSp>
      </p:grpSp>
      <p:sp>
        <p:nvSpPr>
          <p:cNvPr id="54" name="TextBox 54"/>
          <p:cNvSpPr txBox="1"/>
          <p:nvPr/>
        </p:nvSpPr>
        <p:spPr>
          <a:xfrm>
            <a:off x="10696575" y="6373178"/>
            <a:ext cx="857250" cy="265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5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0" y="0"/>
            <a:ext cx="12192000" cy="963454"/>
            <a:chOff x="0" y="0"/>
            <a:chExt cx="12192000" cy="963454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83A6A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952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5403">
              <a:solidFill>
                <a:srgbClr val="183A6A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78403" y="115062"/>
              <a:ext cx="722376" cy="7223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287655" y="295275"/>
              <a:ext cx="502920" cy="390525"/>
            </a:xfrm>
            <a:custGeom>
              <a:avLst/>
              <a:gdLst/>
              <a:ahLst/>
              <a:cxnLst/>
              <a:rect l="l" t="t" r="r" b="b"/>
              <a:pathLst>
                <a:path w="502920" h="390525">
                  <a:moveTo>
                    <a:pt x="251460" y="0"/>
                  </a:moveTo>
                  <a:lnTo>
                    <a:pt x="502920" y="104775"/>
                  </a:lnTo>
                  <a:lnTo>
                    <a:pt x="251460" y="209550"/>
                  </a:lnTo>
                  <a:lnTo>
                    <a:pt x="0" y="104775"/>
                  </a:lnTo>
                  <a:close/>
                  <a:moveTo>
                    <a:pt x="93345" y="180975"/>
                  </a:moveTo>
                  <a:lnTo>
                    <a:pt x="251460" y="247650"/>
                  </a:lnTo>
                  <a:lnTo>
                    <a:pt x="409575" y="180975"/>
                  </a:lnTo>
                  <a:lnTo>
                    <a:pt x="409575" y="333375"/>
                  </a:lnTo>
                  <a:cubicBezTo>
                    <a:pt x="310515" y="390525"/>
                    <a:pt x="192405" y="390525"/>
                    <a:pt x="93345" y="333375"/>
                  </a:cubicBezTo>
                  <a:close/>
                </a:path>
              </a:pathLst>
            </a:custGeom>
            <a:solidFill>
              <a:srgbClr val="183A6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271099" y="0"/>
              <a:ext cx="1816132" cy="9634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47955" y="290989"/>
              <a:ext cx="10425589" cy="453818"/>
              <a:chOff x="1547955" y="290989"/>
              <a:chExt cx="10425589" cy="45381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547955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研究背景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93652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Background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439251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目的及意义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809637" y="569547"/>
                <a:ext cx="506885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Purpose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498747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材料与方法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856536" y="569547"/>
                <a:ext cx="53207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Methods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495877" y="290989"/>
                <a:ext cx="1366480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结果与分析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41421" y="569547"/>
                <a:ext cx="475393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Results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67135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结论与讨论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665089" y="569547"/>
                <a:ext cx="65174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Conclusion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967418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参考文献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113115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References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462058" y="1215580"/>
            <a:ext cx="11138630" cy="476917"/>
            <a:chOff x="462058" y="1215580"/>
            <a:chExt cx="11138630" cy="476917"/>
          </a:xfrm>
        </p:grpSpPr>
        <p:sp>
          <p:nvSpPr>
            <p:cNvPr id="22" name="TextBox 22"/>
            <p:cNvSpPr txBox="1"/>
            <p:nvPr/>
          </p:nvSpPr>
          <p:spPr>
            <a:xfrm>
              <a:off x="462058" y="1223200"/>
              <a:ext cx="1877473" cy="4616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事实厘清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91740" y="1215580"/>
              <a:ext cx="9108948" cy="476917"/>
            </a:xfrm>
            <a:prstGeom prst="roundRect">
              <a:avLst>
                <a:gd name="adj" fmla="val 11604"/>
              </a:avLst>
            </a:prstGeom>
            <a:solidFill>
              <a:srgbClr val="E7E6E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43200" y="1260824"/>
              <a:ext cx="8553450" cy="3864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多方访谈显示，换导师由动机、认同、情感与制度协调共同促成。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14350" y="1790700"/>
            <a:ext cx="11163300" cy="4629150"/>
            <a:chOff x="514350" y="1790700"/>
            <a:chExt cx="11163300" cy="4629150"/>
          </a:xfrm>
        </p:grpSpPr>
        <p:sp>
          <p:nvSpPr>
            <p:cNvPr id="26" name="Rectangle 26"/>
            <p:cNvSpPr/>
            <p:nvPr/>
          </p:nvSpPr>
          <p:spPr>
            <a:xfrm>
              <a:off x="514350" y="1790700"/>
              <a:ext cx="11163300" cy="462915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70033" y="1905000"/>
              <a:ext cx="6451934" cy="3143250"/>
            </a:xfrm>
            <a:prstGeom prst="rect">
              <a:avLst/>
            </a:prstGeom>
          </p:spPr>
        </p:pic>
      </p:grpSp>
      <p:sp>
        <p:nvSpPr>
          <p:cNvPr id="29" name="TextBox 29"/>
          <p:cNvSpPr txBox="1"/>
          <p:nvPr/>
        </p:nvSpPr>
        <p:spPr>
          <a:xfrm>
            <a:off x="10696575" y="6373178"/>
            <a:ext cx="857250" cy="265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0" y="0"/>
            <a:ext cx="12192000" cy="963454"/>
            <a:chOff x="0" y="0"/>
            <a:chExt cx="12192000" cy="963454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83A6A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952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5403">
              <a:solidFill>
                <a:srgbClr val="183A6A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78403" y="115062"/>
              <a:ext cx="722376" cy="7223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287655" y="295275"/>
              <a:ext cx="502920" cy="390525"/>
            </a:xfrm>
            <a:custGeom>
              <a:avLst/>
              <a:gdLst/>
              <a:ahLst/>
              <a:cxnLst/>
              <a:rect l="l" t="t" r="r" b="b"/>
              <a:pathLst>
                <a:path w="502920" h="390525">
                  <a:moveTo>
                    <a:pt x="251460" y="0"/>
                  </a:moveTo>
                  <a:lnTo>
                    <a:pt x="502920" y="104775"/>
                  </a:lnTo>
                  <a:lnTo>
                    <a:pt x="251460" y="209550"/>
                  </a:lnTo>
                  <a:lnTo>
                    <a:pt x="0" y="104775"/>
                  </a:lnTo>
                  <a:close/>
                  <a:moveTo>
                    <a:pt x="93345" y="180975"/>
                  </a:moveTo>
                  <a:lnTo>
                    <a:pt x="251460" y="247650"/>
                  </a:lnTo>
                  <a:lnTo>
                    <a:pt x="409575" y="180975"/>
                  </a:lnTo>
                  <a:lnTo>
                    <a:pt x="409575" y="333375"/>
                  </a:lnTo>
                  <a:cubicBezTo>
                    <a:pt x="310515" y="390525"/>
                    <a:pt x="192405" y="390525"/>
                    <a:pt x="93345" y="333375"/>
                  </a:cubicBezTo>
                  <a:close/>
                </a:path>
              </a:pathLst>
            </a:custGeom>
            <a:solidFill>
              <a:srgbClr val="183A6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271099" y="0"/>
              <a:ext cx="1816132" cy="9634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47955" y="290989"/>
              <a:ext cx="10425589" cy="453818"/>
              <a:chOff x="1547955" y="290989"/>
              <a:chExt cx="10425589" cy="45381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547955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研究背景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93652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Background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439251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目的及意义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809637" y="569547"/>
                <a:ext cx="506885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Purpose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498747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材料与方法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856536" y="569547"/>
                <a:ext cx="53207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Methods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495877" y="290989"/>
                <a:ext cx="1366480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结果与分析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41421" y="569547"/>
                <a:ext cx="475393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Results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67135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结论与讨论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665089" y="569547"/>
                <a:ext cx="65174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Conclusion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967418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参考文献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113115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References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462058" y="1215580"/>
            <a:ext cx="11138630" cy="476917"/>
            <a:chOff x="462058" y="1215580"/>
            <a:chExt cx="11138630" cy="476917"/>
          </a:xfrm>
        </p:grpSpPr>
        <p:sp>
          <p:nvSpPr>
            <p:cNvPr id="22" name="TextBox 22"/>
            <p:cNvSpPr txBox="1"/>
            <p:nvPr/>
          </p:nvSpPr>
          <p:spPr>
            <a:xfrm>
              <a:off x="462058" y="1223200"/>
              <a:ext cx="1877473" cy="4616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主观原因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91740" y="1215580"/>
              <a:ext cx="9108948" cy="476917"/>
            </a:xfrm>
            <a:prstGeom prst="roundRect">
              <a:avLst>
                <a:gd name="adj" fmla="val 11604"/>
              </a:avLst>
            </a:prstGeom>
            <a:solidFill>
              <a:srgbClr val="E7E6E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43200" y="1260824"/>
              <a:ext cx="8553450" cy="3864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理想落差、志趣摇摆与生涯迷茫构成更换导师的主观基础。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14350" y="1790700"/>
            <a:ext cx="11163300" cy="4629150"/>
            <a:chOff x="514350" y="1790700"/>
            <a:chExt cx="11163300" cy="4629150"/>
          </a:xfrm>
        </p:grpSpPr>
        <p:sp>
          <p:nvSpPr>
            <p:cNvPr id="26" name="Rectangle 26"/>
            <p:cNvSpPr/>
            <p:nvPr/>
          </p:nvSpPr>
          <p:spPr>
            <a:xfrm>
              <a:off x="514350" y="1790700"/>
              <a:ext cx="11163300" cy="4629150"/>
            </a:xfrm>
            <a:prstGeom prst="rect">
              <a:avLst/>
            </a:prstGeom>
            <a:noFill/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514350" y="2019300"/>
              <a:ext cx="10857736" cy="2857500"/>
              <a:chOff x="514350" y="2019300"/>
              <a:chExt cx="10857736" cy="28575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514350" y="2019300"/>
                <a:ext cx="3320471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3320471" h="2857500">
                    <a:moveTo>
                      <a:pt x="81484" y="0"/>
                    </a:moveTo>
                    <a:lnTo>
                      <a:pt x="3238987" y="0"/>
                    </a:lnTo>
                    <a:cubicBezTo>
                      <a:pt x="3283989" y="0"/>
                      <a:pt x="3320471" y="34116"/>
                      <a:pt x="3320471" y="76200"/>
                    </a:cubicBezTo>
                    <a:lnTo>
                      <a:pt x="3320471" y="2781300"/>
                    </a:lnTo>
                    <a:cubicBezTo>
                      <a:pt x="3320471" y="2823384"/>
                      <a:pt x="3283989" y="2857500"/>
                      <a:pt x="3238987" y="2857500"/>
                    </a:cubicBezTo>
                    <a:lnTo>
                      <a:pt x="81484" y="2857500"/>
                    </a:lnTo>
                    <a:cubicBezTo>
                      <a:pt x="36482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183A6A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514350" y="2019300"/>
                <a:ext cx="529646" cy="495300"/>
              </a:xfrm>
              <a:prstGeom prst="roundRect">
                <a:avLst>
                  <a:gd name="adj" fmla="val 12339"/>
                </a:avLst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78346" y="2154317"/>
                <a:ext cx="201654" cy="373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38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206799" y="2187645"/>
                <a:ext cx="1032956" cy="328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17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理想落差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79173" y="2743200"/>
                <a:ext cx="2770454" cy="1885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入学前对研究生生活和导师关系有较高期</a:t>
                </a:r>
              </a:p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待，现实体验带来失落。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4282982" y="2019300"/>
                <a:ext cx="3320471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3320471" h="2857500">
                    <a:moveTo>
                      <a:pt x="81484" y="0"/>
                    </a:moveTo>
                    <a:lnTo>
                      <a:pt x="3238987" y="0"/>
                    </a:lnTo>
                    <a:cubicBezTo>
                      <a:pt x="3283989" y="0"/>
                      <a:pt x="3320471" y="34116"/>
                      <a:pt x="3320471" y="76200"/>
                    </a:cubicBezTo>
                    <a:lnTo>
                      <a:pt x="3320471" y="2781300"/>
                    </a:lnTo>
                    <a:cubicBezTo>
                      <a:pt x="3320471" y="2823384"/>
                      <a:pt x="3283989" y="2857500"/>
                      <a:pt x="3238987" y="2857500"/>
                    </a:cubicBezTo>
                    <a:lnTo>
                      <a:pt x="81484" y="2857500"/>
                    </a:lnTo>
                    <a:cubicBezTo>
                      <a:pt x="36482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183A6A"/>
                </a:solidFill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4282982" y="2019300"/>
                <a:ext cx="529646" cy="495300"/>
              </a:xfrm>
              <a:prstGeom prst="roundRect">
                <a:avLst>
                  <a:gd name="adj" fmla="val 12339"/>
                </a:avLst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446978" y="2154317"/>
                <a:ext cx="201654" cy="373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38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975431" y="2187645"/>
                <a:ext cx="1032956" cy="328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17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志趣摇摆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547805" y="2743200"/>
                <a:ext cx="2770454" cy="1885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研究兴趣与论文推进方向之间的张力，</a:t>
                </a:r>
              </a:p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使学术投入难以稳定。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8051615" y="2019300"/>
                <a:ext cx="3320471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3320471" h="2857500">
                    <a:moveTo>
                      <a:pt x="81484" y="0"/>
                    </a:moveTo>
                    <a:lnTo>
                      <a:pt x="3238987" y="0"/>
                    </a:lnTo>
                    <a:cubicBezTo>
                      <a:pt x="3283989" y="0"/>
                      <a:pt x="3320471" y="34116"/>
                      <a:pt x="3320471" y="76200"/>
                    </a:cubicBezTo>
                    <a:lnTo>
                      <a:pt x="3320471" y="2781300"/>
                    </a:lnTo>
                    <a:cubicBezTo>
                      <a:pt x="3320471" y="2823384"/>
                      <a:pt x="3283989" y="2857500"/>
                      <a:pt x="3238987" y="2857500"/>
                    </a:cubicBezTo>
                    <a:lnTo>
                      <a:pt x="81484" y="2857500"/>
                    </a:lnTo>
                    <a:cubicBezTo>
                      <a:pt x="36482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183A6A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8051615" y="2019300"/>
                <a:ext cx="529646" cy="495300"/>
              </a:xfrm>
              <a:prstGeom prst="roundRect">
                <a:avLst>
                  <a:gd name="adj" fmla="val 12339"/>
                </a:avLst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215610" y="2154317"/>
                <a:ext cx="201654" cy="373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38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744063" y="2187645"/>
                <a:ext cx="1032956" cy="328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17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生涯迷茫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316437" y="2743200"/>
                <a:ext cx="2770454" cy="1885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个人职业规划不清晰，</a:t>
                </a:r>
              </a:p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放大了对导师关系与研究方向的不确定感。</a:t>
                </a:r>
              </a:p>
            </p:txBody>
          </p:sp>
        </p:grpSp>
      </p:grpSp>
      <p:sp>
        <p:nvSpPr>
          <p:cNvPr id="44" name="TextBox 44"/>
          <p:cNvSpPr txBox="1"/>
          <p:nvPr/>
        </p:nvSpPr>
        <p:spPr>
          <a:xfrm>
            <a:off x="10696575" y="6373178"/>
            <a:ext cx="857250" cy="265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0" y="0"/>
            <a:ext cx="12192000" cy="963454"/>
            <a:chOff x="0" y="0"/>
            <a:chExt cx="12192000" cy="963454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83A6A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952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5403">
              <a:solidFill>
                <a:srgbClr val="183A6A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78403" y="115062"/>
              <a:ext cx="722376" cy="7223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287655" y="295275"/>
              <a:ext cx="502920" cy="390525"/>
            </a:xfrm>
            <a:custGeom>
              <a:avLst/>
              <a:gdLst/>
              <a:ahLst/>
              <a:cxnLst/>
              <a:rect l="l" t="t" r="r" b="b"/>
              <a:pathLst>
                <a:path w="502920" h="390525">
                  <a:moveTo>
                    <a:pt x="251460" y="0"/>
                  </a:moveTo>
                  <a:lnTo>
                    <a:pt x="502920" y="104775"/>
                  </a:lnTo>
                  <a:lnTo>
                    <a:pt x="251460" y="209550"/>
                  </a:lnTo>
                  <a:lnTo>
                    <a:pt x="0" y="104775"/>
                  </a:lnTo>
                  <a:close/>
                  <a:moveTo>
                    <a:pt x="93345" y="180975"/>
                  </a:moveTo>
                  <a:lnTo>
                    <a:pt x="251460" y="247650"/>
                  </a:lnTo>
                  <a:lnTo>
                    <a:pt x="409575" y="180975"/>
                  </a:lnTo>
                  <a:lnTo>
                    <a:pt x="409575" y="333375"/>
                  </a:lnTo>
                  <a:cubicBezTo>
                    <a:pt x="310515" y="390525"/>
                    <a:pt x="192405" y="390525"/>
                    <a:pt x="93345" y="333375"/>
                  </a:cubicBezTo>
                  <a:close/>
                </a:path>
              </a:pathLst>
            </a:custGeom>
            <a:solidFill>
              <a:srgbClr val="183A6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271099" y="0"/>
              <a:ext cx="1816132" cy="9634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47955" y="290989"/>
              <a:ext cx="10425589" cy="453818"/>
              <a:chOff x="1547955" y="290989"/>
              <a:chExt cx="10425589" cy="45381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547955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研究背景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93652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Background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439251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目的及意义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809637" y="569547"/>
                <a:ext cx="506885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Purpose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498747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材料与方法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856536" y="569547"/>
                <a:ext cx="53207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Methods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495877" y="290989"/>
                <a:ext cx="1366480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结果与分析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41421" y="569547"/>
                <a:ext cx="475393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Results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67135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结论与讨论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665089" y="569547"/>
                <a:ext cx="65174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Conclusion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967418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参考文献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113115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References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462058" y="1215580"/>
            <a:ext cx="11138630" cy="476917"/>
            <a:chOff x="462058" y="1215580"/>
            <a:chExt cx="11138630" cy="476917"/>
          </a:xfrm>
        </p:grpSpPr>
        <p:sp>
          <p:nvSpPr>
            <p:cNvPr id="22" name="TextBox 22"/>
            <p:cNvSpPr txBox="1"/>
            <p:nvPr/>
          </p:nvSpPr>
          <p:spPr>
            <a:xfrm>
              <a:off x="462058" y="1223200"/>
              <a:ext cx="1877473" cy="4616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关键机制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91740" y="1215580"/>
              <a:ext cx="9108948" cy="476917"/>
            </a:xfrm>
            <a:prstGeom prst="roundRect">
              <a:avLst>
                <a:gd name="adj" fmla="val 11604"/>
              </a:avLst>
            </a:prstGeom>
            <a:solidFill>
              <a:srgbClr val="E7E6E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43200" y="1260824"/>
              <a:ext cx="8553450" cy="3864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认同危机与情感淡漠共同削弱导生关系的稳定性。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14350" y="1790700"/>
            <a:ext cx="11163300" cy="4629150"/>
            <a:chOff x="514350" y="1790700"/>
            <a:chExt cx="11163300" cy="4629150"/>
          </a:xfrm>
        </p:grpSpPr>
        <p:sp>
          <p:nvSpPr>
            <p:cNvPr id="26" name="Rectangle 26"/>
            <p:cNvSpPr/>
            <p:nvPr/>
          </p:nvSpPr>
          <p:spPr>
            <a:xfrm>
              <a:off x="514350" y="1790700"/>
              <a:ext cx="11163300" cy="4629150"/>
            </a:xfrm>
            <a:prstGeom prst="rect">
              <a:avLst/>
            </a:prstGeom>
            <a:noFill/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514350" y="2019300"/>
              <a:ext cx="11163300" cy="2857500"/>
              <a:chOff x="514350" y="2019300"/>
              <a:chExt cx="11163300" cy="28575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514350" y="2019300"/>
                <a:ext cx="5296456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5296456" h="2857500">
                    <a:moveTo>
                      <a:pt x="81484" y="0"/>
                    </a:moveTo>
                    <a:lnTo>
                      <a:pt x="5214972" y="0"/>
                    </a:lnTo>
                    <a:cubicBezTo>
                      <a:pt x="5259974" y="0"/>
                      <a:pt x="5296456" y="34116"/>
                      <a:pt x="5296456" y="76200"/>
                    </a:cubicBezTo>
                    <a:lnTo>
                      <a:pt x="5296456" y="2781300"/>
                    </a:lnTo>
                    <a:cubicBezTo>
                      <a:pt x="5296456" y="2823384"/>
                      <a:pt x="5259974" y="2857500"/>
                      <a:pt x="5214972" y="2857500"/>
                    </a:cubicBezTo>
                    <a:lnTo>
                      <a:pt x="81484" y="2857500"/>
                    </a:lnTo>
                    <a:cubicBezTo>
                      <a:pt x="36482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183A6A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2599148" y="2343226"/>
                <a:ext cx="1126861" cy="358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64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认同危机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63759" y="2958365"/>
                <a:ext cx="4622001" cy="2763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6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A同学对前任导师Y的学术权威和指导方式产生怀疑，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63759" y="3210396"/>
                <a:ext cx="1623270" cy="2763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6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关系基础被削弱。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6381194" y="2019300"/>
                <a:ext cx="5296456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5296456" h="2857500">
                    <a:moveTo>
                      <a:pt x="81484" y="0"/>
                    </a:moveTo>
                    <a:lnTo>
                      <a:pt x="5214972" y="0"/>
                    </a:lnTo>
                    <a:cubicBezTo>
                      <a:pt x="5259974" y="0"/>
                      <a:pt x="5296456" y="34116"/>
                      <a:pt x="5296456" y="76200"/>
                    </a:cubicBezTo>
                    <a:lnTo>
                      <a:pt x="5296456" y="2781300"/>
                    </a:lnTo>
                    <a:cubicBezTo>
                      <a:pt x="5296456" y="2823384"/>
                      <a:pt x="5259974" y="2857500"/>
                      <a:pt x="5214972" y="2857500"/>
                    </a:cubicBezTo>
                    <a:lnTo>
                      <a:pt x="81484" y="2857500"/>
                    </a:lnTo>
                    <a:cubicBezTo>
                      <a:pt x="36482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183A6A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465991" y="2343226"/>
                <a:ext cx="1126861" cy="358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64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情感淡漠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730603" y="2958365"/>
                <a:ext cx="4006367" cy="2763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6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相处停留在表层，缺少稳定沟通和情感支持，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730603" y="3210396"/>
                <a:ext cx="1623270" cy="2763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60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冲突难以被缓冲。</a:t>
                </a:r>
              </a:p>
            </p:txBody>
          </p:sp>
        </p:grpSp>
      </p:grpSp>
      <p:sp>
        <p:nvSpPr>
          <p:cNvPr id="37" name="TextBox 37"/>
          <p:cNvSpPr txBox="1"/>
          <p:nvPr/>
        </p:nvSpPr>
        <p:spPr>
          <a:xfrm>
            <a:off x="10696575" y="6373178"/>
            <a:ext cx="857250" cy="265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0" y="0"/>
            <a:ext cx="12192000" cy="963454"/>
            <a:chOff x="0" y="0"/>
            <a:chExt cx="12192000" cy="963454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83A6A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952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5403">
              <a:solidFill>
                <a:srgbClr val="183A6A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78403" y="115062"/>
              <a:ext cx="722376" cy="7223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287655" y="295275"/>
              <a:ext cx="502920" cy="390525"/>
            </a:xfrm>
            <a:custGeom>
              <a:avLst/>
              <a:gdLst/>
              <a:ahLst/>
              <a:cxnLst/>
              <a:rect l="l" t="t" r="r" b="b"/>
              <a:pathLst>
                <a:path w="502920" h="390525">
                  <a:moveTo>
                    <a:pt x="251460" y="0"/>
                  </a:moveTo>
                  <a:lnTo>
                    <a:pt x="502920" y="104775"/>
                  </a:lnTo>
                  <a:lnTo>
                    <a:pt x="251460" y="209550"/>
                  </a:lnTo>
                  <a:lnTo>
                    <a:pt x="0" y="104775"/>
                  </a:lnTo>
                  <a:close/>
                  <a:moveTo>
                    <a:pt x="93345" y="180975"/>
                  </a:moveTo>
                  <a:lnTo>
                    <a:pt x="251460" y="247650"/>
                  </a:lnTo>
                  <a:lnTo>
                    <a:pt x="409575" y="180975"/>
                  </a:lnTo>
                  <a:lnTo>
                    <a:pt x="409575" y="333375"/>
                  </a:lnTo>
                  <a:cubicBezTo>
                    <a:pt x="310515" y="390525"/>
                    <a:pt x="192405" y="390525"/>
                    <a:pt x="93345" y="333375"/>
                  </a:cubicBezTo>
                  <a:close/>
                </a:path>
              </a:pathLst>
            </a:custGeom>
            <a:solidFill>
              <a:srgbClr val="183A6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271099" y="0"/>
              <a:ext cx="1816132" cy="9634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47955" y="290989"/>
              <a:ext cx="10425589" cy="453818"/>
              <a:chOff x="1547955" y="290989"/>
              <a:chExt cx="10425589" cy="45381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547955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研究背景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93652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Background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439251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目的及意义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809637" y="569547"/>
                <a:ext cx="506885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Purpose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498747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材料与方法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856536" y="569547"/>
                <a:ext cx="53207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Methods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495877" y="290989"/>
                <a:ext cx="1366480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结果与分析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41421" y="569547"/>
                <a:ext cx="475393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Results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67135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结论与讨论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665089" y="569547"/>
                <a:ext cx="65174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Conclusion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967418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参考文献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113115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References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462058" y="1215580"/>
            <a:ext cx="11138630" cy="476917"/>
            <a:chOff x="462058" y="1215580"/>
            <a:chExt cx="11138630" cy="476917"/>
          </a:xfrm>
        </p:grpSpPr>
        <p:sp>
          <p:nvSpPr>
            <p:cNvPr id="22" name="TextBox 22"/>
            <p:cNvSpPr txBox="1"/>
            <p:nvPr/>
          </p:nvSpPr>
          <p:spPr>
            <a:xfrm>
              <a:off x="462058" y="1223200"/>
              <a:ext cx="1877473" cy="4616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促成因素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91740" y="1215580"/>
              <a:ext cx="9108948" cy="476917"/>
            </a:xfrm>
            <a:prstGeom prst="roundRect">
              <a:avLst>
                <a:gd name="adj" fmla="val 11604"/>
              </a:avLst>
            </a:prstGeom>
            <a:solidFill>
              <a:srgbClr val="E7E6E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43200" y="1260824"/>
              <a:ext cx="8553450" cy="3864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系所协调与新导师信任为关系转换提供了现实通道。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14350" y="1790700"/>
            <a:ext cx="11163300" cy="4629150"/>
            <a:chOff x="514350" y="1790700"/>
            <a:chExt cx="11163300" cy="4629150"/>
          </a:xfrm>
        </p:grpSpPr>
        <p:sp>
          <p:nvSpPr>
            <p:cNvPr id="26" name="Rectangle 26"/>
            <p:cNvSpPr/>
            <p:nvPr/>
          </p:nvSpPr>
          <p:spPr>
            <a:xfrm>
              <a:off x="514350" y="1790700"/>
              <a:ext cx="11163300" cy="4629150"/>
            </a:xfrm>
            <a:prstGeom prst="rect">
              <a:avLst/>
            </a:prstGeom>
            <a:noFill/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514350" y="1981200"/>
              <a:ext cx="11163300" cy="2228850"/>
              <a:chOff x="514350" y="1981200"/>
              <a:chExt cx="11163300" cy="22288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514350" y="1981200"/>
                <a:ext cx="11163300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w="11163300" h="647700">
                    <a:moveTo>
                      <a:pt x="81484" y="0"/>
                    </a:moveTo>
                    <a:lnTo>
                      <a:pt x="11081816" y="0"/>
                    </a:lnTo>
                    <a:cubicBezTo>
                      <a:pt x="11126818" y="0"/>
                      <a:pt x="11163300" y="34116"/>
                      <a:pt x="11163300" y="76200"/>
                    </a:cubicBezTo>
                    <a:lnTo>
                      <a:pt x="11163300" y="571500"/>
                    </a:lnTo>
                    <a:cubicBezTo>
                      <a:pt x="11163300" y="613584"/>
                      <a:pt x="11126818" y="647700"/>
                      <a:pt x="11081816" y="647700"/>
                    </a:cubicBezTo>
                    <a:lnTo>
                      <a:pt x="81484" y="647700"/>
                    </a:lnTo>
                    <a:cubicBezTo>
                      <a:pt x="36482" y="647700"/>
                      <a:pt x="0" y="613584"/>
                      <a:pt x="0" y="57150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E7E6E6"/>
              </a:solidFill>
              <a:ln w="11430">
                <a:solidFill>
                  <a:srgbClr val="183A6A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00312" y="2195579"/>
                <a:ext cx="5483295" cy="3136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43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系所协调与新导师信任为关系转换提供了现实通道。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779173" y="3429000"/>
                <a:ext cx="1711163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711163" h="781050">
                    <a:moveTo>
                      <a:pt x="81484" y="0"/>
                    </a:moveTo>
                    <a:lnTo>
                      <a:pt x="1629679" y="0"/>
                    </a:lnTo>
                    <a:cubicBezTo>
                      <a:pt x="1674681" y="0"/>
                      <a:pt x="1711163" y="34116"/>
                      <a:pt x="1711163" y="76200"/>
                    </a:cubicBezTo>
                    <a:lnTo>
                      <a:pt x="1711163" y="704850"/>
                    </a:lnTo>
                    <a:cubicBezTo>
                      <a:pt x="1711163" y="746934"/>
                      <a:pt x="1674681" y="781050"/>
                      <a:pt x="1629679" y="781050"/>
                    </a:cubicBezTo>
                    <a:lnTo>
                      <a:pt x="81484" y="781050"/>
                    </a:lnTo>
                    <a:cubicBezTo>
                      <a:pt x="36482" y="781050"/>
                      <a:pt x="0" y="746934"/>
                      <a:pt x="0" y="70485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E7E6E6"/>
              </a:solidFill>
              <a:ln w="19050">
                <a:solidFill>
                  <a:srgbClr val="183A6A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212181" y="3752907"/>
                <a:ext cx="845146" cy="268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23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矛盾爆发</a:t>
                </a:r>
              </a:p>
            </p:txBody>
          </p:sp>
          <p:sp>
            <p:nvSpPr>
              <p:cNvPr id="31" name="Line 31"/>
              <p:cNvSpPr/>
              <p:nvPr/>
            </p:nvSpPr>
            <p:spPr>
              <a:xfrm>
                <a:off x="2551449" y="3819525"/>
                <a:ext cx="31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5750" h="9525">
                    <a:moveTo>
                      <a:pt x="0" y="0"/>
                    </a:moveTo>
                    <a:lnTo>
                      <a:pt x="315750" y="0"/>
                    </a:lnTo>
                  </a:path>
                </a:pathLst>
              </a:custGeom>
              <a:noFill/>
              <a:ln w="28575">
                <a:solidFill>
                  <a:srgbClr val="183A6A"/>
                </a:solidFill>
              </a:ln>
            </p:spPr>
          </p:sp>
          <p:sp>
            <p:nvSpPr>
              <p:cNvPr id="32" name="Polygon 32"/>
              <p:cNvSpPr/>
              <p:nvPr/>
            </p:nvSpPr>
            <p:spPr>
              <a:xfrm>
                <a:off x="2765298" y="3752850"/>
                <a:ext cx="101917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1917" h="133350">
                    <a:moveTo>
                      <a:pt x="101917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2999610" y="3429000"/>
                <a:ext cx="1711163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711163" h="781050">
                    <a:moveTo>
                      <a:pt x="81484" y="0"/>
                    </a:moveTo>
                    <a:lnTo>
                      <a:pt x="1629679" y="0"/>
                    </a:lnTo>
                    <a:cubicBezTo>
                      <a:pt x="1674681" y="0"/>
                      <a:pt x="1711163" y="34116"/>
                      <a:pt x="1711163" y="76200"/>
                    </a:cubicBezTo>
                    <a:lnTo>
                      <a:pt x="1711163" y="704850"/>
                    </a:lnTo>
                    <a:cubicBezTo>
                      <a:pt x="1711163" y="746934"/>
                      <a:pt x="1674681" y="781050"/>
                      <a:pt x="1629679" y="781050"/>
                    </a:cubicBezTo>
                    <a:lnTo>
                      <a:pt x="81484" y="781050"/>
                    </a:lnTo>
                    <a:cubicBezTo>
                      <a:pt x="36482" y="781050"/>
                      <a:pt x="0" y="746934"/>
                      <a:pt x="0" y="70485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183A6A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3432619" y="3752907"/>
                <a:ext cx="845146" cy="268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23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系所协调</a:t>
                </a:r>
              </a:p>
            </p:txBody>
          </p:sp>
          <p:sp>
            <p:nvSpPr>
              <p:cNvPr id="35" name="Line 35"/>
              <p:cNvSpPr/>
              <p:nvPr/>
            </p:nvSpPr>
            <p:spPr>
              <a:xfrm>
                <a:off x="4771886" y="3819525"/>
                <a:ext cx="31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5750" h="9525">
                    <a:moveTo>
                      <a:pt x="0" y="0"/>
                    </a:moveTo>
                    <a:lnTo>
                      <a:pt x="315750" y="0"/>
                    </a:lnTo>
                  </a:path>
                </a:pathLst>
              </a:custGeom>
              <a:noFill/>
              <a:ln w="28575">
                <a:solidFill>
                  <a:srgbClr val="183A6A"/>
                </a:solidFill>
              </a:ln>
            </p:spPr>
          </p:sp>
          <p:sp>
            <p:nvSpPr>
              <p:cNvPr id="36" name="Polygon 36"/>
              <p:cNvSpPr/>
              <p:nvPr/>
            </p:nvSpPr>
            <p:spPr>
              <a:xfrm>
                <a:off x="4985766" y="3752850"/>
                <a:ext cx="101917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1917" h="133350">
                    <a:moveTo>
                      <a:pt x="101917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5220048" y="3429000"/>
                <a:ext cx="1711163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711163" h="781050">
                    <a:moveTo>
                      <a:pt x="81484" y="0"/>
                    </a:moveTo>
                    <a:lnTo>
                      <a:pt x="1629679" y="0"/>
                    </a:lnTo>
                    <a:cubicBezTo>
                      <a:pt x="1674681" y="0"/>
                      <a:pt x="1711163" y="34116"/>
                      <a:pt x="1711163" y="76200"/>
                    </a:cubicBezTo>
                    <a:lnTo>
                      <a:pt x="1711163" y="704850"/>
                    </a:lnTo>
                    <a:cubicBezTo>
                      <a:pt x="1711163" y="746934"/>
                      <a:pt x="1674681" y="781050"/>
                      <a:pt x="1629679" y="781050"/>
                    </a:cubicBezTo>
                    <a:lnTo>
                      <a:pt x="81484" y="781050"/>
                    </a:lnTo>
                    <a:cubicBezTo>
                      <a:pt x="36482" y="781050"/>
                      <a:pt x="0" y="746934"/>
                      <a:pt x="0" y="70485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E7E6E6"/>
              </a:solidFill>
              <a:ln w="19050">
                <a:solidFill>
                  <a:srgbClr val="183A6A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5653056" y="3752907"/>
                <a:ext cx="845146" cy="268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23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导师转换</a:t>
                </a:r>
              </a:p>
            </p:txBody>
          </p:sp>
          <p:sp>
            <p:nvSpPr>
              <p:cNvPr id="39" name="Line 39"/>
              <p:cNvSpPr/>
              <p:nvPr/>
            </p:nvSpPr>
            <p:spPr>
              <a:xfrm>
                <a:off x="6992323" y="3819525"/>
                <a:ext cx="31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5750" h="9525">
                    <a:moveTo>
                      <a:pt x="0" y="0"/>
                    </a:moveTo>
                    <a:lnTo>
                      <a:pt x="315750" y="0"/>
                    </a:lnTo>
                  </a:path>
                </a:pathLst>
              </a:custGeom>
              <a:noFill/>
              <a:ln w="28575">
                <a:solidFill>
                  <a:srgbClr val="183A6A"/>
                </a:solidFill>
              </a:ln>
            </p:spPr>
          </p:sp>
          <p:sp>
            <p:nvSpPr>
              <p:cNvPr id="40" name="Polygon 40"/>
              <p:cNvSpPr/>
              <p:nvPr/>
            </p:nvSpPr>
            <p:spPr>
              <a:xfrm>
                <a:off x="7206234" y="3752850"/>
                <a:ext cx="101822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1822" h="133350">
                    <a:moveTo>
                      <a:pt x="101822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7440485" y="3429000"/>
                <a:ext cx="1711163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711163" h="781050">
                    <a:moveTo>
                      <a:pt x="81484" y="0"/>
                    </a:moveTo>
                    <a:lnTo>
                      <a:pt x="1629679" y="0"/>
                    </a:lnTo>
                    <a:cubicBezTo>
                      <a:pt x="1674681" y="0"/>
                      <a:pt x="1711163" y="34116"/>
                      <a:pt x="1711163" y="76200"/>
                    </a:cubicBezTo>
                    <a:lnTo>
                      <a:pt x="1711163" y="704850"/>
                    </a:lnTo>
                    <a:cubicBezTo>
                      <a:pt x="1711163" y="746934"/>
                      <a:pt x="1674681" y="781050"/>
                      <a:pt x="1629679" y="781050"/>
                    </a:cubicBezTo>
                    <a:lnTo>
                      <a:pt x="81484" y="781050"/>
                    </a:lnTo>
                    <a:cubicBezTo>
                      <a:pt x="36482" y="781050"/>
                      <a:pt x="0" y="746934"/>
                      <a:pt x="0" y="70485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183A6A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873494" y="3752907"/>
                <a:ext cx="845146" cy="268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23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学术认可</a:t>
                </a:r>
              </a:p>
            </p:txBody>
          </p:sp>
          <p:sp>
            <p:nvSpPr>
              <p:cNvPr id="43" name="Line 43"/>
              <p:cNvSpPr/>
              <p:nvPr/>
            </p:nvSpPr>
            <p:spPr>
              <a:xfrm>
                <a:off x="9212761" y="3819525"/>
                <a:ext cx="31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5750" h="9525">
                    <a:moveTo>
                      <a:pt x="0" y="0"/>
                    </a:moveTo>
                    <a:lnTo>
                      <a:pt x="315750" y="0"/>
                    </a:lnTo>
                  </a:path>
                </a:pathLst>
              </a:custGeom>
              <a:noFill/>
              <a:ln w="28575">
                <a:solidFill>
                  <a:srgbClr val="183A6A"/>
                </a:solidFill>
              </a:ln>
            </p:spPr>
          </p:sp>
          <p:sp>
            <p:nvSpPr>
              <p:cNvPr id="44" name="Polygon 44"/>
              <p:cNvSpPr/>
              <p:nvPr/>
            </p:nvSpPr>
            <p:spPr>
              <a:xfrm>
                <a:off x="9426702" y="3752850"/>
                <a:ext cx="101822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1822" h="133350">
                    <a:moveTo>
                      <a:pt x="101822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9660922" y="3429000"/>
                <a:ext cx="1711163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711163" h="781050">
                    <a:moveTo>
                      <a:pt x="81484" y="0"/>
                    </a:moveTo>
                    <a:lnTo>
                      <a:pt x="1629679" y="0"/>
                    </a:lnTo>
                    <a:cubicBezTo>
                      <a:pt x="1674681" y="0"/>
                      <a:pt x="1711163" y="34116"/>
                      <a:pt x="1711163" y="76200"/>
                    </a:cubicBezTo>
                    <a:lnTo>
                      <a:pt x="1711163" y="704850"/>
                    </a:lnTo>
                    <a:cubicBezTo>
                      <a:pt x="1711163" y="746934"/>
                      <a:pt x="1674681" y="781050"/>
                      <a:pt x="1629679" y="781050"/>
                    </a:cubicBezTo>
                    <a:lnTo>
                      <a:pt x="81484" y="781050"/>
                    </a:lnTo>
                    <a:cubicBezTo>
                      <a:pt x="36482" y="781050"/>
                      <a:pt x="0" y="746934"/>
                      <a:pt x="0" y="70485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E7E6E6"/>
              </a:solidFill>
              <a:ln w="19050">
                <a:solidFill>
                  <a:srgbClr val="183A6A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093931" y="3752907"/>
                <a:ext cx="845146" cy="268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23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关系重建</a:t>
                </a:r>
              </a:p>
            </p:txBody>
          </p:sp>
        </p:grpSp>
      </p:grpSp>
      <p:sp>
        <p:nvSpPr>
          <p:cNvPr id="49" name="TextBox 49"/>
          <p:cNvSpPr txBox="1"/>
          <p:nvPr/>
        </p:nvSpPr>
        <p:spPr>
          <a:xfrm>
            <a:off x="10696575" y="6373178"/>
            <a:ext cx="857250" cy="265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263557" y="1058704"/>
            <a:ext cx="11664886" cy="9525"/>
          </a:xfrm>
          <a:custGeom>
            <a:avLst/>
            <a:gdLst/>
            <a:ahLst/>
            <a:cxnLst/>
            <a:rect l="l" t="t" r="r" b="b"/>
            <a:pathLst>
              <a:path w="11664886" h="9525">
                <a:moveTo>
                  <a:pt x="0" y="0"/>
                </a:moveTo>
                <a:lnTo>
                  <a:pt x="11664886" y="0"/>
                </a:lnTo>
              </a:path>
            </a:pathLst>
          </a:custGeom>
          <a:noFill/>
          <a:ln w="25403">
            <a:solidFill>
              <a:srgbClr val="183A6A"/>
            </a:solidFill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191792" cy="6858000"/>
          </a:xfrm>
          <a:prstGeom prst="rect">
            <a:avLst/>
          </a:prstGeom>
          <a:solidFill>
            <a:srgbClr val="183A6A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529590" y="1363028"/>
            <a:ext cx="4131945" cy="4131945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785938" y="2334578"/>
            <a:ext cx="1619250" cy="20373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035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05</a:t>
            </a:r>
          </a:p>
        </p:txBody>
      </p:sp>
      <p:sp>
        <p:nvSpPr>
          <p:cNvPr id="7" name="Rectangle 7"/>
          <p:cNvSpPr/>
          <p:nvPr/>
        </p:nvSpPr>
        <p:spPr>
          <a:xfrm>
            <a:off x="6191250" y="2324100"/>
            <a:ext cx="4495800" cy="38100"/>
          </a:xfrm>
          <a:prstGeom prst="rect">
            <a:avLst/>
          </a:prstGeom>
          <a:solidFill>
            <a:srgbClr val="183A6A">
              <a:alpha val="2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191250" y="2705100"/>
            <a:ext cx="48577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000000"/>
                </a:solidFill>
                <a:latin typeface="Source Han Sans CN"/>
                <a:ea typeface="Microsoft YaHei"/>
                <a:cs typeface="Source Han Sans CN"/>
              </a:rPr>
              <a:t>结论与讨论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191250" y="3524250"/>
            <a:ext cx="48577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800" dirty="0">
                <a:solidFill>
                  <a:srgbClr val="595959"/>
                </a:solidFill>
                <a:latin typeface="Source Han Sans CN"/>
                <a:ea typeface="Microsoft YaHei"/>
                <a:cs typeface="Source Han Sans CN"/>
              </a:rPr>
              <a:t>Conclusion and Discussion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191250" y="4400550"/>
            <a:ext cx="2209800" cy="95250"/>
          </a:xfrm>
          <a:prstGeom prst="roundRect">
            <a:avLst>
              <a:gd name="adj" fmla="val 50000"/>
            </a:avLst>
          </a:prstGeom>
          <a:solidFill>
            <a:srgbClr val="183A6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174105" y="4807268"/>
            <a:ext cx="15623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Defense Section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0" y="0"/>
            <a:ext cx="12192000" cy="963454"/>
            <a:chOff x="0" y="0"/>
            <a:chExt cx="12192000" cy="963454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83A6A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952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5403">
              <a:solidFill>
                <a:srgbClr val="183A6A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78403" y="115062"/>
              <a:ext cx="722376" cy="7223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287655" y="295275"/>
              <a:ext cx="502920" cy="390525"/>
            </a:xfrm>
            <a:custGeom>
              <a:avLst/>
              <a:gdLst/>
              <a:ahLst/>
              <a:cxnLst/>
              <a:rect l="l" t="t" r="r" b="b"/>
              <a:pathLst>
                <a:path w="502920" h="390525">
                  <a:moveTo>
                    <a:pt x="251460" y="0"/>
                  </a:moveTo>
                  <a:lnTo>
                    <a:pt x="502920" y="104775"/>
                  </a:lnTo>
                  <a:lnTo>
                    <a:pt x="251460" y="209550"/>
                  </a:lnTo>
                  <a:lnTo>
                    <a:pt x="0" y="104775"/>
                  </a:lnTo>
                  <a:close/>
                  <a:moveTo>
                    <a:pt x="93345" y="180975"/>
                  </a:moveTo>
                  <a:lnTo>
                    <a:pt x="251460" y="247650"/>
                  </a:lnTo>
                  <a:lnTo>
                    <a:pt x="409575" y="180975"/>
                  </a:lnTo>
                  <a:lnTo>
                    <a:pt x="409575" y="333375"/>
                  </a:lnTo>
                  <a:cubicBezTo>
                    <a:pt x="310515" y="390525"/>
                    <a:pt x="192405" y="390525"/>
                    <a:pt x="93345" y="333375"/>
                  </a:cubicBezTo>
                  <a:close/>
                </a:path>
              </a:pathLst>
            </a:custGeom>
            <a:solidFill>
              <a:srgbClr val="183A6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325070" y="0"/>
              <a:ext cx="1331690" cy="9634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47955" y="290989"/>
              <a:ext cx="10425589" cy="453818"/>
              <a:chOff x="1547955" y="290989"/>
              <a:chExt cx="10425589" cy="45381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547955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研究背景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93652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Background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439251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目的及意义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809637" y="569547"/>
                <a:ext cx="506885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Purpose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498747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材料与方法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856536" y="569547"/>
                <a:ext cx="53207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Methods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55290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结果与分析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41421" y="569547"/>
                <a:ext cx="475393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Results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07723" y="290989"/>
                <a:ext cx="1366480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结论与讨论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665089" y="569547"/>
                <a:ext cx="65174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Conclusion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967418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参考文献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113115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References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462058" y="1215580"/>
            <a:ext cx="11138630" cy="476917"/>
            <a:chOff x="462058" y="1215580"/>
            <a:chExt cx="11138630" cy="476917"/>
          </a:xfrm>
        </p:grpSpPr>
        <p:sp>
          <p:nvSpPr>
            <p:cNvPr id="22" name="TextBox 22"/>
            <p:cNvSpPr txBox="1"/>
            <p:nvPr/>
          </p:nvSpPr>
          <p:spPr>
            <a:xfrm>
              <a:off x="462058" y="1223200"/>
              <a:ext cx="1877473" cy="4616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制度反思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91740" y="1215580"/>
              <a:ext cx="9108948" cy="476917"/>
            </a:xfrm>
            <a:prstGeom prst="roundRect">
              <a:avLst>
                <a:gd name="adj" fmla="val 11604"/>
              </a:avLst>
            </a:prstGeom>
            <a:solidFill>
              <a:srgbClr val="E7E6E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43200" y="1260824"/>
              <a:ext cx="8553450" cy="3864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导师制问题不只发生在个体之间，也暴露匹配与评价机制不足。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14350" y="1790700"/>
            <a:ext cx="11163300" cy="4629150"/>
            <a:chOff x="514350" y="1790700"/>
            <a:chExt cx="11163300" cy="4629150"/>
          </a:xfrm>
        </p:grpSpPr>
        <p:sp>
          <p:nvSpPr>
            <p:cNvPr id="26" name="Rectangle 26"/>
            <p:cNvSpPr/>
            <p:nvPr/>
          </p:nvSpPr>
          <p:spPr>
            <a:xfrm>
              <a:off x="514350" y="1790700"/>
              <a:ext cx="11163300" cy="4629150"/>
            </a:xfrm>
            <a:prstGeom prst="rect">
              <a:avLst/>
            </a:prstGeom>
            <a:noFill/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514350" y="1790700"/>
              <a:ext cx="11163300" cy="3448050"/>
              <a:chOff x="514350" y="1790700"/>
              <a:chExt cx="11163300" cy="34480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514350" y="1790700"/>
                <a:ext cx="5296456" cy="1028700"/>
              </a:xfrm>
              <a:prstGeom prst="roundRect">
                <a:avLst>
                  <a:gd name="adj" fmla="val 6931"/>
                </a:avLst>
              </a:prstGeom>
              <a:solidFill>
                <a:srgbClr val="FFFFFF"/>
              </a:solidFill>
              <a:ln w="14288">
                <a:solidFill>
                  <a:srgbClr val="183A6A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17895" y="1939995"/>
                <a:ext cx="1032956" cy="328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17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制度起点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23029" y="2307484"/>
                <a:ext cx="4458857" cy="246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13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导师准入和导生匹配存在固化、封闭与责权不一的问题。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6381194" y="1790700"/>
                <a:ext cx="5296456" cy="1028700"/>
              </a:xfrm>
              <a:prstGeom prst="roundRect">
                <a:avLst>
                  <a:gd name="adj" fmla="val 6931"/>
                </a:avLst>
              </a:prstGeom>
              <a:solidFill>
                <a:srgbClr val="FFFFFF"/>
              </a:solidFill>
              <a:ln w="14288">
                <a:solidFill>
                  <a:srgbClr val="183A6A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584739" y="1939995"/>
                <a:ext cx="1032956" cy="328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17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运行评价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589873" y="2307484"/>
                <a:ext cx="4635979" cy="246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13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教育性与学术性淡化，导师评价缺失，学生评价容易失声。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997513" y="2913116"/>
                <a:ext cx="2196975" cy="2538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50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表一 导生关系内涵及本质</a:t>
                </a:r>
              </a:p>
            </p:txBody>
          </p:sp>
          <p:pic>
            <p:nvPicPr>
              <p:cNvPr id="34" name="Image 3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407580" y="3190875"/>
                <a:ext cx="5376841" cy="2047875"/>
              </a:xfrm>
              <a:prstGeom prst="rect">
                <a:avLst/>
              </a:prstGeom>
            </p:spPr>
          </p:pic>
        </p:grpSp>
      </p:grpSp>
      <p:sp>
        <p:nvSpPr>
          <p:cNvPr id="37" name="TextBox 37"/>
          <p:cNvSpPr txBox="1"/>
          <p:nvPr/>
        </p:nvSpPr>
        <p:spPr>
          <a:xfrm>
            <a:off x="10696575" y="6373178"/>
            <a:ext cx="857250" cy="265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0" y="0"/>
            <a:ext cx="12192000" cy="963454"/>
            <a:chOff x="0" y="0"/>
            <a:chExt cx="12192000" cy="963454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83A6A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952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5403">
              <a:solidFill>
                <a:srgbClr val="183A6A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78403" y="115062"/>
              <a:ext cx="722376" cy="7223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287655" y="295275"/>
              <a:ext cx="502920" cy="390525"/>
            </a:xfrm>
            <a:custGeom>
              <a:avLst/>
              <a:gdLst/>
              <a:ahLst/>
              <a:cxnLst/>
              <a:rect l="l" t="t" r="r" b="b"/>
              <a:pathLst>
                <a:path w="502920" h="390525">
                  <a:moveTo>
                    <a:pt x="251460" y="0"/>
                  </a:moveTo>
                  <a:lnTo>
                    <a:pt x="502920" y="104775"/>
                  </a:lnTo>
                  <a:lnTo>
                    <a:pt x="251460" y="209550"/>
                  </a:lnTo>
                  <a:lnTo>
                    <a:pt x="0" y="104775"/>
                  </a:lnTo>
                  <a:close/>
                  <a:moveTo>
                    <a:pt x="93345" y="180975"/>
                  </a:moveTo>
                  <a:lnTo>
                    <a:pt x="251460" y="247650"/>
                  </a:lnTo>
                  <a:lnTo>
                    <a:pt x="409575" y="180975"/>
                  </a:lnTo>
                  <a:lnTo>
                    <a:pt x="409575" y="333375"/>
                  </a:lnTo>
                  <a:cubicBezTo>
                    <a:pt x="310515" y="390525"/>
                    <a:pt x="192405" y="390525"/>
                    <a:pt x="93345" y="333375"/>
                  </a:cubicBezTo>
                  <a:close/>
                </a:path>
              </a:pathLst>
            </a:custGeom>
            <a:solidFill>
              <a:srgbClr val="183A6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325070" y="0"/>
              <a:ext cx="1331690" cy="9634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47955" y="290989"/>
              <a:ext cx="10425589" cy="453818"/>
              <a:chOff x="1547955" y="290989"/>
              <a:chExt cx="10425589" cy="45381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547955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研究背景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93652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Background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439251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目的及意义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809637" y="569547"/>
                <a:ext cx="506885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Purpose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498747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材料与方法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856536" y="569547"/>
                <a:ext cx="53207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Methods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55290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结果与分析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41421" y="569547"/>
                <a:ext cx="475393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Results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07723" y="290989"/>
                <a:ext cx="1366480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结论与讨论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665089" y="569547"/>
                <a:ext cx="65174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Conclusion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967418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参考文献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113115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References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462058" y="1215580"/>
            <a:ext cx="11138630" cy="476917"/>
            <a:chOff x="462058" y="1215580"/>
            <a:chExt cx="11138630" cy="476917"/>
          </a:xfrm>
        </p:grpSpPr>
        <p:sp>
          <p:nvSpPr>
            <p:cNvPr id="22" name="TextBox 22"/>
            <p:cNvSpPr txBox="1"/>
            <p:nvPr/>
          </p:nvSpPr>
          <p:spPr>
            <a:xfrm>
              <a:off x="462058" y="1223200"/>
              <a:ext cx="1877473" cy="4616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结论建议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91740" y="1215580"/>
              <a:ext cx="9108948" cy="476917"/>
            </a:xfrm>
            <a:prstGeom prst="roundRect">
              <a:avLst>
                <a:gd name="adj" fmla="val 11604"/>
              </a:avLst>
            </a:prstGeom>
            <a:solidFill>
              <a:srgbClr val="E7E6E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43200" y="1260824"/>
              <a:ext cx="8553450" cy="3864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改进导生关系需要同步完善匹配、沟通和评价机制。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14350" y="1790700"/>
            <a:ext cx="11163300" cy="4629150"/>
            <a:chOff x="514350" y="1790700"/>
            <a:chExt cx="11163300" cy="4629150"/>
          </a:xfrm>
        </p:grpSpPr>
        <p:sp>
          <p:nvSpPr>
            <p:cNvPr id="26" name="Rectangle 26"/>
            <p:cNvSpPr/>
            <p:nvPr/>
          </p:nvSpPr>
          <p:spPr>
            <a:xfrm>
              <a:off x="514350" y="1790700"/>
              <a:ext cx="11163300" cy="4629150"/>
            </a:xfrm>
            <a:prstGeom prst="rect">
              <a:avLst/>
            </a:prstGeom>
            <a:noFill/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514350" y="2019300"/>
              <a:ext cx="10857736" cy="2857500"/>
              <a:chOff x="514350" y="2019300"/>
              <a:chExt cx="10857736" cy="28575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514350" y="2019300"/>
                <a:ext cx="3320471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3320471" h="2857500">
                    <a:moveTo>
                      <a:pt x="81484" y="0"/>
                    </a:moveTo>
                    <a:lnTo>
                      <a:pt x="3238987" y="0"/>
                    </a:lnTo>
                    <a:cubicBezTo>
                      <a:pt x="3283989" y="0"/>
                      <a:pt x="3320471" y="34116"/>
                      <a:pt x="3320471" y="76200"/>
                    </a:cubicBezTo>
                    <a:lnTo>
                      <a:pt x="3320471" y="2781300"/>
                    </a:lnTo>
                    <a:cubicBezTo>
                      <a:pt x="3320471" y="2823384"/>
                      <a:pt x="3283989" y="2857500"/>
                      <a:pt x="3238987" y="2857500"/>
                    </a:cubicBezTo>
                    <a:lnTo>
                      <a:pt x="81484" y="2857500"/>
                    </a:lnTo>
                    <a:cubicBezTo>
                      <a:pt x="36482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183A6A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514350" y="2019300"/>
                <a:ext cx="529646" cy="495300"/>
              </a:xfrm>
              <a:prstGeom prst="roundRect">
                <a:avLst>
                  <a:gd name="adj" fmla="val 12339"/>
                </a:avLst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78346" y="2154317"/>
                <a:ext cx="201654" cy="373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38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206799" y="2187645"/>
                <a:ext cx="1032956" cy="328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17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匹配机制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79173" y="2743200"/>
                <a:ext cx="2770454" cy="1885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减少单向分配和信息不对称，</a:t>
                </a:r>
              </a:p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建立更充分的互选基础。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4282982" y="2019300"/>
                <a:ext cx="3320471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3320471" h="2857500">
                    <a:moveTo>
                      <a:pt x="81484" y="0"/>
                    </a:moveTo>
                    <a:lnTo>
                      <a:pt x="3238987" y="0"/>
                    </a:lnTo>
                    <a:cubicBezTo>
                      <a:pt x="3283989" y="0"/>
                      <a:pt x="3320471" y="34116"/>
                      <a:pt x="3320471" y="76200"/>
                    </a:cubicBezTo>
                    <a:lnTo>
                      <a:pt x="3320471" y="2781300"/>
                    </a:lnTo>
                    <a:cubicBezTo>
                      <a:pt x="3320471" y="2823384"/>
                      <a:pt x="3283989" y="2857500"/>
                      <a:pt x="3238987" y="2857500"/>
                    </a:cubicBezTo>
                    <a:lnTo>
                      <a:pt x="81484" y="2857500"/>
                    </a:lnTo>
                    <a:cubicBezTo>
                      <a:pt x="36482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183A6A"/>
                </a:solidFill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4282982" y="2019300"/>
                <a:ext cx="529646" cy="495300"/>
              </a:xfrm>
              <a:prstGeom prst="roundRect">
                <a:avLst>
                  <a:gd name="adj" fmla="val 12339"/>
                </a:avLst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446978" y="2154317"/>
                <a:ext cx="201654" cy="373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38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975431" y="2187645"/>
                <a:ext cx="1032956" cy="328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17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沟通机制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547805" y="2743200"/>
                <a:ext cx="2770454" cy="1885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把学术、生活和情感支持纳入常态责任。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8051615" y="2019300"/>
                <a:ext cx="3320471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3320471" h="2857500">
                    <a:moveTo>
                      <a:pt x="81484" y="0"/>
                    </a:moveTo>
                    <a:lnTo>
                      <a:pt x="3238987" y="0"/>
                    </a:lnTo>
                    <a:cubicBezTo>
                      <a:pt x="3283989" y="0"/>
                      <a:pt x="3320471" y="34116"/>
                      <a:pt x="3320471" y="76200"/>
                    </a:cubicBezTo>
                    <a:lnTo>
                      <a:pt x="3320471" y="2781300"/>
                    </a:lnTo>
                    <a:cubicBezTo>
                      <a:pt x="3320471" y="2823384"/>
                      <a:pt x="3283989" y="2857500"/>
                      <a:pt x="3238987" y="2857500"/>
                    </a:cubicBezTo>
                    <a:lnTo>
                      <a:pt x="81484" y="2857500"/>
                    </a:lnTo>
                    <a:cubicBezTo>
                      <a:pt x="36482" y="2857500"/>
                      <a:pt x="0" y="2823384"/>
                      <a:pt x="0" y="2781300"/>
                    </a:cubicBezTo>
                    <a:lnTo>
                      <a:pt x="0" y="76200"/>
                    </a:lnTo>
                    <a:cubicBezTo>
                      <a:pt x="0" y="34116"/>
                      <a:pt x="36482" y="0"/>
                      <a:pt x="814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">
                <a:solidFill>
                  <a:srgbClr val="183A6A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8051615" y="2019300"/>
                <a:ext cx="529646" cy="495300"/>
              </a:xfrm>
              <a:prstGeom prst="roundRect">
                <a:avLst>
                  <a:gd name="adj" fmla="val 12339"/>
                </a:avLst>
              </a:pr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215610" y="2154317"/>
                <a:ext cx="201654" cy="373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38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744063" y="2187645"/>
                <a:ext cx="1032956" cy="328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17" b="1" dirty="0">
                    <a:solidFill>
                      <a:srgbClr val="183A6A"/>
                    </a:solidFill>
                    <a:latin typeface="微软雅黑"/>
                    <a:ea typeface="Microsoft YaHei"/>
                    <a:cs typeface="微软雅黑"/>
                  </a:rPr>
                  <a:t>评价机制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316437" y="2743200"/>
                <a:ext cx="2770454" cy="1885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完善学生评价和反馈渠道，</a:t>
                </a:r>
              </a:p>
              <a:p>
                <a:pPr algn="l"/>
                <a:r>
                  <a:rPr lang="zh-CN" sz="139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及时识别并调整失衡关系。</a:t>
                </a:r>
              </a:p>
            </p:txBody>
          </p:sp>
        </p:grpSp>
      </p:grpSp>
      <p:sp>
        <p:nvSpPr>
          <p:cNvPr id="44" name="TextBox 44"/>
          <p:cNvSpPr txBox="1"/>
          <p:nvPr/>
        </p:nvSpPr>
        <p:spPr>
          <a:xfrm>
            <a:off x="10696575" y="6373178"/>
            <a:ext cx="857250" cy="265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0" y="0"/>
            <a:ext cx="12192000" cy="963454"/>
            <a:chOff x="0" y="0"/>
            <a:chExt cx="12192000" cy="963454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183A6A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952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5403">
              <a:solidFill>
                <a:srgbClr val="183A6A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78403" y="115062"/>
              <a:ext cx="722376" cy="7223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287655" y="295275"/>
              <a:ext cx="502920" cy="390525"/>
            </a:xfrm>
            <a:custGeom>
              <a:avLst/>
              <a:gdLst/>
              <a:ahLst/>
              <a:cxnLst/>
              <a:rect l="l" t="t" r="r" b="b"/>
              <a:pathLst>
                <a:path w="502920" h="390525">
                  <a:moveTo>
                    <a:pt x="251460" y="0"/>
                  </a:moveTo>
                  <a:lnTo>
                    <a:pt x="502920" y="104775"/>
                  </a:lnTo>
                  <a:lnTo>
                    <a:pt x="251460" y="209550"/>
                  </a:lnTo>
                  <a:lnTo>
                    <a:pt x="0" y="104775"/>
                  </a:lnTo>
                  <a:close/>
                  <a:moveTo>
                    <a:pt x="93345" y="180975"/>
                  </a:moveTo>
                  <a:lnTo>
                    <a:pt x="251460" y="247650"/>
                  </a:lnTo>
                  <a:lnTo>
                    <a:pt x="409575" y="180975"/>
                  </a:lnTo>
                  <a:lnTo>
                    <a:pt x="409575" y="333375"/>
                  </a:lnTo>
                  <a:cubicBezTo>
                    <a:pt x="310515" y="390525"/>
                    <a:pt x="192405" y="390525"/>
                    <a:pt x="93345" y="333375"/>
                  </a:cubicBezTo>
                  <a:close/>
                </a:path>
              </a:pathLst>
            </a:custGeom>
            <a:solidFill>
              <a:srgbClr val="183A6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893266" y="0"/>
              <a:ext cx="1154525" cy="9634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47955" y="290989"/>
              <a:ext cx="10473500" cy="453818"/>
              <a:chOff x="1547955" y="290989"/>
              <a:chExt cx="10473500" cy="45381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547955" y="307181"/>
                <a:ext cx="100612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研究背景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93652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Background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439251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目的及意义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809637" y="569547"/>
                <a:ext cx="506885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Purpose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498747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材料与方法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856536" y="569547"/>
                <a:ext cx="53207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Methods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55290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结果与分析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41421" y="569547"/>
                <a:ext cx="475393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Results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67135" y="307181"/>
                <a:ext cx="124765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结论与讨论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665089" y="569547"/>
                <a:ext cx="65174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FFFFFF">
                        <a:alphaMod val="40000"/>
                      </a:srgbClr>
                    </a:solidFill>
                    <a:latin typeface="Source Han Sans CN"/>
                    <a:ea typeface="Microsoft YaHei"/>
                    <a:cs typeface="Source Han Sans CN"/>
                  </a:rPr>
                  <a:t>Conclusion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919508" y="290989"/>
                <a:ext cx="1101947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5" b="1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参考文献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113115" y="569547"/>
                <a:ext cx="714732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dirty="0">
                    <a:solidFill>
                      <a:srgbClr val="183A6A"/>
                    </a:solidFill>
                    <a:latin typeface="Source Han Sans CN"/>
                    <a:ea typeface="Microsoft YaHei"/>
                    <a:cs typeface="Source Han Sans CN"/>
                  </a:rPr>
                  <a:t>References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462058" y="1215580"/>
            <a:ext cx="11138630" cy="476917"/>
            <a:chOff x="462058" y="1215580"/>
            <a:chExt cx="11138630" cy="476917"/>
          </a:xfrm>
        </p:grpSpPr>
        <p:sp>
          <p:nvSpPr>
            <p:cNvPr id="22" name="TextBox 22"/>
            <p:cNvSpPr txBox="1"/>
            <p:nvPr/>
          </p:nvSpPr>
          <p:spPr>
            <a:xfrm>
              <a:off x="462058" y="1223200"/>
              <a:ext cx="1877473" cy="4616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22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主要参考文献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91740" y="1215580"/>
              <a:ext cx="9108948" cy="476917"/>
            </a:xfrm>
            <a:prstGeom prst="roundRect">
              <a:avLst>
                <a:gd name="adj" fmla="val 11604"/>
              </a:avLst>
            </a:prstGeom>
            <a:solidFill>
              <a:srgbClr val="E7E6E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43200" y="1260824"/>
              <a:ext cx="8553450" cy="3864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0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文献为导师制、关系质量与质性研究方法提供理论支撑。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98015" y="1790700"/>
            <a:ext cx="11179635" cy="4629150"/>
            <a:chOff x="498015" y="1790700"/>
            <a:chExt cx="11179635" cy="4629150"/>
          </a:xfrm>
        </p:grpSpPr>
        <p:sp>
          <p:nvSpPr>
            <p:cNvPr id="26" name="Rectangle 26"/>
            <p:cNvSpPr/>
            <p:nvPr/>
          </p:nvSpPr>
          <p:spPr>
            <a:xfrm>
              <a:off x="514350" y="1790700"/>
              <a:ext cx="11163300" cy="4629150"/>
            </a:xfrm>
            <a:prstGeom prst="rect">
              <a:avLst/>
            </a:prstGeom>
            <a:noFill/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498015" y="2032849"/>
              <a:ext cx="6927016" cy="3061716"/>
              <a:chOff x="498015" y="2032849"/>
              <a:chExt cx="6927016" cy="3061716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498015" y="2032849"/>
                <a:ext cx="4992091" cy="261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1. 潘懋元. 论高等教育[M]. 福州: 福建教育出版社, 2000.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98015" y="2432899"/>
                <a:ext cx="5555661" cy="261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2. 薛天祥. 研究生教育学[M]. 桂林: 广西师范大学出版社, 2004.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98015" y="2832949"/>
                <a:ext cx="5743518" cy="261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3. 于光远. 导师与研究生的对话[M]. 苏州: 苏州大学出版社, 2001.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98015" y="3232999"/>
                <a:ext cx="6494945" cy="261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4. 陈向明. 质的研究方法与社会科学研究[M]. 北京: 教育科学出版社, 2000.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98015" y="3633049"/>
                <a:ext cx="5705946" cy="261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5. 周光礼. “导师制”与“老板制”[J]. 高等工程教育研究, 2008(2).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98015" y="4033099"/>
                <a:ext cx="5076626" cy="261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6. 许克毅, 郑英蓉. 三重反思[J]. 教育发展研究, 2007(4).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98015" y="4433149"/>
                <a:ext cx="6231946" cy="261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7. 张静. 导师与研究生之间的和谐关系研究[J]. 中国高教研究, 2007(9).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98015" y="4833199"/>
                <a:ext cx="6927016" cy="261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6" dirty="0">
                    <a:solidFill>
                      <a:srgbClr val="000000"/>
                    </a:solidFill>
                    <a:latin typeface="微软雅黑"/>
                    <a:ea typeface="Microsoft YaHei"/>
                    <a:cs typeface="微软雅黑"/>
                  </a:rPr>
                  <a:t>8. 罗尧成, 曹海莹, 孙跃东. 导师制度内涵、困境及超越[J]. 江苏高教, 2011(3).</a:t>
                </a:r>
              </a:p>
            </p:txBody>
          </p:sp>
        </p:grpSp>
      </p:grpSp>
      <p:sp>
        <p:nvSpPr>
          <p:cNvPr id="37" name="TextBox 37"/>
          <p:cNvSpPr txBox="1"/>
          <p:nvPr/>
        </p:nvSpPr>
        <p:spPr>
          <a:xfrm>
            <a:off x="10696575" y="6373178"/>
            <a:ext cx="857250" cy="265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4476750" cy="5334000"/>
          </a:xfrm>
          <a:prstGeom prst="rect">
            <a:avLst/>
          </a:prstGeom>
          <a:solidFill>
            <a:srgbClr val="183A6A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19150" y="1276350"/>
            <a:ext cx="2838450" cy="283845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295400" y="1752600"/>
            <a:ext cx="1885950" cy="188595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790700" y="2247900"/>
            <a:ext cx="895350" cy="895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1876425" y="2476500"/>
            <a:ext cx="723900" cy="590550"/>
          </a:xfrm>
          <a:custGeom>
            <a:avLst/>
            <a:gdLst/>
            <a:ahLst/>
            <a:cxnLst/>
            <a:rect l="l" t="t" r="r" b="b"/>
            <a:pathLst>
              <a:path w="723900" h="590550">
                <a:moveTo>
                  <a:pt x="361950" y="0"/>
                </a:moveTo>
                <a:lnTo>
                  <a:pt x="723900" y="152400"/>
                </a:lnTo>
                <a:lnTo>
                  <a:pt x="361950" y="304800"/>
                </a:lnTo>
                <a:lnTo>
                  <a:pt x="0" y="152400"/>
                </a:lnTo>
                <a:close/>
                <a:moveTo>
                  <a:pt x="123825" y="276225"/>
                </a:moveTo>
                <a:lnTo>
                  <a:pt x="361950" y="371475"/>
                </a:lnTo>
                <a:lnTo>
                  <a:pt x="600075" y="276225"/>
                </a:lnTo>
                <a:lnTo>
                  <a:pt x="600075" y="504825"/>
                </a:lnTo>
                <a:cubicBezTo>
                  <a:pt x="457200" y="590550"/>
                  <a:pt x="266700" y="590550"/>
                  <a:pt x="123825" y="504825"/>
                </a:cubicBezTo>
                <a:close/>
              </a:path>
            </a:pathLst>
          </a:custGeom>
          <a:solidFill>
            <a:srgbClr val="183A6A"/>
          </a:solidFill>
          <a:ln>
            <a:noFill/>
          </a:ln>
        </p:spPr>
      </p:sp>
      <p:sp>
        <p:nvSpPr>
          <p:cNvPr id="8" name="Line 8"/>
          <p:cNvSpPr/>
          <p:nvPr/>
        </p:nvSpPr>
        <p:spPr>
          <a:xfrm>
            <a:off x="4953000" y="1295400"/>
            <a:ext cx="6096000" cy="9525"/>
          </a:xfrm>
          <a:custGeom>
            <a:avLst/>
            <a:gdLst/>
            <a:ahLst/>
            <a:cxnLst/>
            <a:rect l="l" t="t" r="r" b="b"/>
            <a:pathLst>
              <a:path w="6096000" h="9525">
                <a:moveTo>
                  <a:pt x="0" y="0"/>
                </a:moveTo>
                <a:lnTo>
                  <a:pt x="6096000" y="0"/>
                </a:lnTo>
              </a:path>
            </a:pathLst>
          </a:custGeom>
          <a:noFill/>
          <a:ln w="19050">
            <a:solidFill>
              <a:srgbClr val="183A6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4953000" y="2076450"/>
            <a:ext cx="6096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5100" b="1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恳请老师批评指正！</a:t>
            </a:r>
          </a:p>
        </p:txBody>
      </p:sp>
      <p:sp>
        <p:nvSpPr>
          <p:cNvPr id="10" name="Line 10"/>
          <p:cNvSpPr/>
          <p:nvPr/>
        </p:nvSpPr>
        <p:spPr>
          <a:xfrm>
            <a:off x="4953000" y="3124200"/>
            <a:ext cx="6096000" cy="9525"/>
          </a:xfrm>
          <a:custGeom>
            <a:avLst/>
            <a:gdLst/>
            <a:ahLst/>
            <a:cxnLst/>
            <a:rect l="l" t="t" r="r" b="b"/>
            <a:pathLst>
              <a:path w="6096000" h="9525">
                <a:moveTo>
                  <a:pt x="0" y="0"/>
                </a:moveTo>
                <a:lnTo>
                  <a:pt x="6096000" y="0"/>
                </a:lnTo>
              </a:path>
            </a:pathLst>
          </a:custGeom>
          <a:noFill/>
          <a:ln w="19050">
            <a:solidFill>
              <a:srgbClr val="183A6A">
                <a:alpha val="28000"/>
              </a:srgbClr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953000" y="3371850"/>
            <a:ext cx="60960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650" dirty="0">
                <a:solidFill>
                  <a:srgbClr val="183A6A"/>
                </a:solidFill>
                <a:latin typeface="Source Han Sans CN"/>
                <a:ea typeface="Microsoft YaHei"/>
                <a:cs typeface="Source Han Sans CN"/>
              </a:rPr>
              <a:t>一项导生关系的案例研究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5334000"/>
            <a:ext cx="12192000" cy="14288"/>
          </a:xfrm>
          <a:prstGeom prst="rect">
            <a:avLst/>
          </a:prstGeom>
          <a:solidFill>
            <a:srgbClr val="183A6A">
              <a:alpha val="22000"/>
            </a:srgbClr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1209675" y="5734050"/>
            <a:ext cx="10401300" cy="361950"/>
            <a:chOff x="1209675" y="5734050"/>
            <a:chExt cx="10401300" cy="361950"/>
          </a:xfrm>
        </p:grpSpPr>
        <p:grpSp>
          <p:nvGrpSpPr>
            <p:cNvPr id="15" name="Group 15"/>
            <p:cNvGrpSpPr/>
            <p:nvPr/>
          </p:nvGrpSpPr>
          <p:grpSpPr>
            <a:xfrm>
              <a:off x="1209675" y="5788819"/>
              <a:ext cx="190500" cy="214312"/>
              <a:chOff x="1209675" y="5788819"/>
              <a:chExt cx="190500" cy="214312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1245394" y="5788819"/>
                <a:ext cx="119062" cy="119062"/>
              </a:xfrm>
              <a:prstGeom prst="ellipse">
                <a:avLst/>
              </a:prstGeom>
              <a:noFill/>
              <a:ln w="21431">
                <a:solidFill>
                  <a:srgbClr val="183A6A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209675" y="5907881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190500" y="95250"/>
                    </a:moveTo>
                    <a:cubicBezTo>
                      <a:pt x="190500" y="42645"/>
                      <a:pt x="147855" y="0"/>
                      <a:pt x="95250" y="0"/>
                    </a:cubicBezTo>
                    <a:cubicBezTo>
                      <a:pt x="42645" y="0"/>
                      <a:pt x="0" y="42645"/>
                      <a:pt x="0" y="95250"/>
                    </a:cubicBezTo>
                  </a:path>
                </a:pathLst>
              </a:custGeom>
              <a:noFill/>
              <a:ln w="21431">
                <a:solidFill>
                  <a:srgbClr val="183A6A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562100" y="5734050"/>
              <a:ext cx="257175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答辩人：</a:t>
              </a:r>
              <a:r>
                <a:rPr lang="zh-CN" sz="16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王伟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4671916" y="5811911"/>
              <a:ext cx="247747" cy="167408"/>
              <a:chOff x="4671916" y="5811911"/>
              <a:chExt cx="247747" cy="16740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4671916" y="5811911"/>
                <a:ext cx="238489" cy="120503"/>
              </a:xfrm>
              <a:custGeom>
                <a:avLst/>
                <a:gdLst/>
                <a:ahLst/>
                <a:cxnLst/>
                <a:rect l="l" t="t" r="r" b="b"/>
                <a:pathLst>
                  <a:path w="238489" h="120503">
                    <a:moveTo>
                      <a:pt x="231316" y="71205"/>
                    </a:moveTo>
                    <a:cubicBezTo>
                      <a:pt x="235686" y="69287"/>
                      <a:pt x="238489" y="64945"/>
                      <a:pt x="238438" y="60173"/>
                    </a:cubicBezTo>
                    <a:cubicBezTo>
                      <a:pt x="238386" y="55400"/>
                      <a:pt x="235489" y="51120"/>
                      <a:pt x="231077" y="49298"/>
                    </a:cubicBezTo>
                    <a:lnTo>
                      <a:pt x="129041" y="2863"/>
                    </a:lnTo>
                    <a:cubicBezTo>
                      <a:pt x="122764" y="0"/>
                      <a:pt x="115554" y="0"/>
                      <a:pt x="109277" y="2863"/>
                    </a:cubicBezTo>
                    <a:lnTo>
                      <a:pt x="7240" y="49298"/>
                    </a:lnTo>
                    <a:cubicBezTo>
                      <a:pt x="2850" y="51168"/>
                      <a:pt x="0" y="55479"/>
                      <a:pt x="0" y="60251"/>
                    </a:cubicBezTo>
                    <a:cubicBezTo>
                      <a:pt x="0" y="65024"/>
                      <a:pt x="2850" y="69335"/>
                      <a:pt x="7240" y="71205"/>
                    </a:cubicBezTo>
                    <a:lnTo>
                      <a:pt x="109277" y="117639"/>
                    </a:lnTo>
                    <a:cubicBezTo>
                      <a:pt x="115554" y="120503"/>
                      <a:pt x="122764" y="120503"/>
                      <a:pt x="129041" y="117639"/>
                    </a:cubicBezTo>
                    <a:close/>
                  </a:path>
                </a:pathLst>
              </a:custGeom>
              <a:noFill/>
              <a:ln w="21431">
                <a:solidFill>
                  <a:srgbClr val="183A6A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910138" y="5872162"/>
                <a:ext cx="95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1438">
                    <a:moveTo>
                      <a:pt x="0" y="0"/>
                    </a:moveTo>
                    <a:lnTo>
                      <a:pt x="0" y="71438"/>
                    </a:lnTo>
                  </a:path>
                </a:pathLst>
              </a:custGeom>
              <a:noFill/>
              <a:ln w="21431">
                <a:solidFill>
                  <a:srgbClr val="183A6A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719638" y="5901928"/>
                <a:ext cx="142875" cy="77391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7391">
                    <a:moveTo>
                      <a:pt x="0" y="0"/>
                    </a:moveTo>
                    <a:lnTo>
                      <a:pt x="0" y="41672"/>
                    </a:lnTo>
                    <a:cubicBezTo>
                      <a:pt x="0" y="61399"/>
                      <a:pt x="31984" y="77391"/>
                      <a:pt x="71438" y="77391"/>
                    </a:cubicBezTo>
                    <a:cubicBezTo>
                      <a:pt x="110891" y="77391"/>
                      <a:pt x="142875" y="61399"/>
                      <a:pt x="142875" y="41672"/>
                    </a:cubicBezTo>
                    <a:lnTo>
                      <a:pt x="142875" y="0"/>
                    </a:lnTo>
                  </a:path>
                </a:pathLst>
              </a:custGeom>
              <a:noFill/>
              <a:ln w="21431">
                <a:solidFill>
                  <a:srgbClr val="183A6A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5048250" y="5734050"/>
              <a:ext cx="3000375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导师：</a:t>
              </a:r>
              <a:r>
                <a:rPr lang="zh-CN" sz="16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马和民 教授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8234362" y="5800725"/>
              <a:ext cx="238126" cy="190501"/>
              <a:chOff x="8234362" y="5800725"/>
              <a:chExt cx="238126" cy="19050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234362" y="5842814"/>
                <a:ext cx="238126" cy="148412"/>
              </a:xfrm>
              <a:custGeom>
                <a:avLst/>
                <a:gdLst/>
                <a:ahLst/>
                <a:cxnLst/>
                <a:rect l="l" t="t" r="r" b="b"/>
                <a:pathLst>
                  <a:path w="238126" h="148412">
                    <a:moveTo>
                      <a:pt x="238125" y="0"/>
                    </a:moveTo>
                    <a:lnTo>
                      <a:pt x="238125" y="112693"/>
                    </a:lnTo>
                    <a:cubicBezTo>
                      <a:pt x="238126" y="131606"/>
                      <a:pt x="223383" y="147242"/>
                      <a:pt x="204502" y="148352"/>
                    </a:cubicBezTo>
                    <a:lnTo>
                      <a:pt x="202406" y="148411"/>
                    </a:lnTo>
                    <a:lnTo>
                      <a:pt x="35719" y="148411"/>
                    </a:lnTo>
                    <a:cubicBezTo>
                      <a:pt x="16805" y="148412"/>
                      <a:pt x="1169" y="133669"/>
                      <a:pt x="60" y="114788"/>
                    </a:cubicBezTo>
                    <a:lnTo>
                      <a:pt x="0" y="112693"/>
                    </a:lnTo>
                    <a:lnTo>
                      <a:pt x="0" y="0"/>
                    </a:lnTo>
                    <a:lnTo>
                      <a:pt x="112455" y="74974"/>
                    </a:lnTo>
                    <a:lnTo>
                      <a:pt x="113836" y="75759"/>
                    </a:lnTo>
                    <a:cubicBezTo>
                      <a:pt x="117134" y="77371"/>
                      <a:pt x="120991" y="77371"/>
                      <a:pt x="124289" y="75759"/>
                    </a:cubicBezTo>
                    <a:lnTo>
                      <a:pt x="125670" y="74974"/>
                    </a:lnTo>
                    <a:lnTo>
                      <a:pt x="238125" y="0"/>
                    </a:lnTo>
                    <a:close/>
                  </a:path>
                </a:pathLst>
              </a:custGeom>
              <a:solidFill>
                <a:srgbClr val="183A6A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239661" y="5800725"/>
                <a:ext cx="227528" cy="92833"/>
              </a:xfrm>
              <a:custGeom>
                <a:avLst/>
                <a:gdLst/>
                <a:ahLst/>
                <a:cxnLst/>
                <a:rect l="l" t="t" r="r" b="b"/>
                <a:pathLst>
                  <a:path w="227528" h="92833">
                    <a:moveTo>
                      <a:pt x="197108" y="0"/>
                    </a:moveTo>
                    <a:cubicBezTo>
                      <a:pt x="209967" y="0"/>
                      <a:pt x="221242" y="6787"/>
                      <a:pt x="227528" y="16990"/>
                    </a:cubicBezTo>
                    <a:lnTo>
                      <a:pt x="113764" y="92833"/>
                    </a:lnTo>
                    <a:lnTo>
                      <a:pt x="0" y="16990"/>
                    </a:lnTo>
                    <a:cubicBezTo>
                      <a:pt x="6057" y="7152"/>
                      <a:pt x="16500" y="853"/>
                      <a:pt x="28027" y="83"/>
                    </a:cubicBezTo>
                    <a:lnTo>
                      <a:pt x="30420" y="0"/>
                    </a:lnTo>
                    <a:lnTo>
                      <a:pt x="197108" y="0"/>
                    </a:lnTo>
                    <a:close/>
                  </a:path>
                </a:pathLst>
              </a:custGeom>
              <a:solidFill>
                <a:srgbClr val="183A6A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8610600" y="5734050"/>
              <a:ext cx="3000375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专业：</a:t>
              </a:r>
              <a:r>
                <a:rPr lang="zh-CN" sz="1650" b="1" dirty="0">
                  <a:solidFill>
                    <a:srgbClr val="000000"/>
                  </a:solidFill>
                  <a:latin typeface="Source Han Sans CN"/>
                  <a:ea typeface="Microsoft YaHei"/>
                  <a:cs typeface="Source Han Sans CN"/>
                </a:rPr>
                <a:t>教育学原理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