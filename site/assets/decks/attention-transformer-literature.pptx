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1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Introduce the paper, authors, and why this 2017 NIPS paper matters.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Preview the five-part reading structure.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Transition into the bottleneck the paper attacks.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Explain why sequential computation is the central pain point.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Walk through Figure 1 and separate encoder, decoder, and position encoding.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Transition into mechanism details.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Explain scaled dot-product attention and why scaling matters.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Clarify the three uses of attention in the model.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Explain how FFN and positional encoding replace recurrence-side structure.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Use Table 1 to compare self-attention with recurrent and convolutional layers.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Transition to experiments.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Summarize the training setup and optimization choices.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Use Table 2 to state the main empirical result.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Use Table 3 to interpret design choices.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Close the technical argument and connect to later model families.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Invite discussion.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0588bfe9a65de62.jp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c5c382afcd46a86.jpg"/>
  <Relationship Id="rId3" Type="http://schemas.openxmlformats.org/officeDocument/2006/relationships/image" Target="../media/image_7a3bab22590c1ec5.jpg"/>
  <Relationship Id="rId4" Type="http://schemas.openxmlformats.org/officeDocument/2006/relationships/image" Target="../media/image_af285df37dd32dad.jpg"/>
  <Relationship Id="rId5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9052daef8100792.jpg"/>
  <Relationship Id="rId3" Type="http://schemas.openxmlformats.org/officeDocument/2006/relationships/image" Target="../media/image_fb2918387f0b2860.jpg"/>
  <Relationship Id="rId4" Type="http://schemas.openxmlformats.org/officeDocument/2006/relationships/image" Target="../media/image_7e069db2f4e67b14.jpg"/>
  <Relationship Id="rId5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16c2b85e1d29a85.jp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41158d1a79d02b4.jp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b0dc87151977c78.jp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1143000"/>
            <a:ext cx="12192000" cy="5715000"/>
            <a:chOff x="0" y="1143000"/>
            <a:chExt cx="12192000" cy="5715000"/>
          </a:xfrm>
        </p:grpSpPr>
        <p:sp>
          <p:nvSpPr>
            <p:cNvPr id="3" name="Freeform 3"/>
            <p:cNvSpPr/>
            <p:nvPr/>
          </p:nvSpPr>
          <p:spPr>
            <a:xfrm>
              <a:off x="0" y="5543550"/>
              <a:ext cx="12192000" cy="1314450"/>
            </a:xfrm>
            <a:custGeom>
              <a:avLst/>
              <a:gdLst/>
              <a:ahLst/>
              <a:cxnLst/>
              <a:rect l="l" t="t" r="r" b="b"/>
              <a:pathLst>
                <a:path w="12192000" h="1314450">
                  <a:moveTo>
                    <a:pt x="0" y="114300"/>
                  </a:moveTo>
                  <a:cubicBezTo>
                    <a:pt x="2095500" y="0"/>
                    <a:pt x="4095750" y="57150"/>
                    <a:pt x="5143500" y="228600"/>
                  </a:cubicBezTo>
                  <a:cubicBezTo>
                    <a:pt x="5715000" y="323850"/>
                    <a:pt x="5953125" y="571500"/>
                    <a:pt x="6096000" y="666750"/>
                  </a:cubicBezTo>
                  <a:cubicBezTo>
                    <a:pt x="6238875" y="571500"/>
                    <a:pt x="6572250" y="323850"/>
                    <a:pt x="7124700" y="228600"/>
                  </a:cubicBezTo>
                  <a:cubicBezTo>
                    <a:pt x="8191500" y="57150"/>
                    <a:pt x="10096500" y="0"/>
                    <a:pt x="12192000" y="114300"/>
                  </a:cubicBezTo>
                  <a:lnTo>
                    <a:pt x="1219200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5410200"/>
              <a:ext cx="12192000" cy="590550"/>
            </a:xfrm>
            <a:custGeom>
              <a:avLst/>
              <a:gdLst/>
              <a:ahLst/>
              <a:cxnLst/>
              <a:rect l="l" t="t" r="r" b="b"/>
              <a:pathLst>
                <a:path w="12192000" h="590550">
                  <a:moveTo>
                    <a:pt x="0" y="76200"/>
                  </a:moveTo>
                  <a:cubicBezTo>
                    <a:pt x="2143125" y="0"/>
                    <a:pt x="4095750" y="57150"/>
                    <a:pt x="5143500" y="209550"/>
                  </a:cubicBezTo>
                  <a:cubicBezTo>
                    <a:pt x="5715000" y="295275"/>
                    <a:pt x="5972175" y="495300"/>
                    <a:pt x="6096000" y="590550"/>
                  </a:cubicBezTo>
                  <a:cubicBezTo>
                    <a:pt x="6219825" y="495300"/>
                    <a:pt x="6572250" y="295275"/>
                    <a:pt x="7124700" y="209550"/>
                  </a:cubicBezTo>
                  <a:cubicBezTo>
                    <a:pt x="8191500" y="57150"/>
                    <a:pt x="10048875" y="0"/>
                    <a:pt x="12192000" y="76200"/>
                  </a:cubicBezTo>
                </a:path>
              </a:pathLst>
            </a:custGeom>
            <a:noFill/>
            <a:ln w="57150">
              <a:solidFill>
                <a:srgbClr val="0D5DBE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762000" y="1143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0D5DBE">
                  <a:alpha val="18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952500" y="2343150"/>
            <a:ext cx="10287000" cy="876300"/>
            <a:chOff x="952500" y="2343150"/>
            <a:chExt cx="10287000" cy="876300"/>
          </a:xfrm>
        </p:grpSpPr>
        <p:sp>
          <p:nvSpPr>
            <p:cNvPr id="7" name="Rectangle 7"/>
            <p:cNvSpPr/>
            <p:nvPr/>
          </p:nvSpPr>
          <p:spPr>
            <a:xfrm>
              <a:off x="952500" y="2343150"/>
              <a:ext cx="10287000" cy="8763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2500" y="2343150"/>
              <a:ext cx="102870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46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Attention Is All You Need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57250" y="3352800"/>
            <a:ext cx="10477500" cy="457200"/>
            <a:chOff x="857250" y="3352800"/>
            <a:chExt cx="10477500" cy="457200"/>
          </a:xfrm>
        </p:grpSpPr>
        <p:sp>
          <p:nvSpPr>
            <p:cNvPr id="10" name="Rectangle 10"/>
            <p:cNvSpPr/>
            <p:nvPr/>
          </p:nvSpPr>
          <p:spPr>
            <a:xfrm>
              <a:off x="857250" y="3352800"/>
              <a:ext cx="1047750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7250" y="3352800"/>
              <a:ext cx="10477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210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Transformer 论文精读 | NIPS 2017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76750" y="4410075"/>
            <a:ext cx="3238500" cy="609600"/>
            <a:chOff x="4476750" y="4410075"/>
            <a:chExt cx="3238500" cy="609600"/>
          </a:xfrm>
        </p:grpSpPr>
        <p:sp>
          <p:nvSpPr>
            <p:cNvPr id="13" name="TextBox 13"/>
            <p:cNvSpPr txBox="1"/>
            <p:nvPr/>
          </p:nvSpPr>
          <p:spPr>
            <a:xfrm>
              <a:off x="4476750" y="4410075"/>
              <a:ext cx="3238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汇报人：</a:t>
              </a:r>
              <a:r>
                <a:rPr lang="zh-CN" sz="13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梁同学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76750" y="4752975"/>
              <a:ext cx="3238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日期：</a:t>
              </a:r>
              <a:r>
                <a:rPr lang="zh-CN" sz="13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2026-05-22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-47754" y="0"/>
            <a:ext cx="4734054" cy="6858000"/>
            <a:chOff x="-47754" y="0"/>
            <a:chExt cx="4734054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24250" cy="3486150"/>
            </a:xfrm>
            <a:custGeom>
              <a:avLst/>
              <a:gdLst/>
              <a:ahLst/>
              <a:cxnLst/>
              <a:rect l="l" t="t" r="r" b="b"/>
              <a:pathLst>
                <a:path w="3524250" h="3486150">
                  <a:moveTo>
                    <a:pt x="0" y="0"/>
                  </a:moveTo>
                  <a:lnTo>
                    <a:pt x="1200150" y="0"/>
                  </a:lnTo>
                  <a:lnTo>
                    <a:pt x="3524250" y="2324100"/>
                  </a:lnTo>
                  <a:lnTo>
                    <a:pt x="2343150" y="348615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2F6FB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1162050"/>
              <a:ext cx="2343150" cy="4667250"/>
            </a:xfrm>
            <a:custGeom>
              <a:avLst/>
              <a:gdLst/>
              <a:ahLst/>
              <a:cxnLst/>
              <a:rect l="l" t="t" r="r" b="b"/>
              <a:pathLst>
                <a:path w="2343150" h="4667250">
                  <a:moveTo>
                    <a:pt x="0" y="0"/>
                  </a:moveTo>
                  <a:lnTo>
                    <a:pt x="2343150" y="2324100"/>
                  </a:lnTo>
                  <a:lnTo>
                    <a:pt x="0" y="4667250"/>
                  </a:lnTo>
                  <a:close/>
                </a:path>
              </a:pathLst>
            </a:custGeom>
            <a:solidFill>
              <a:srgbClr val="E5E7EB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3486150"/>
              <a:ext cx="4686300" cy="3371850"/>
            </a:xfrm>
            <a:custGeom>
              <a:avLst/>
              <a:gdLst/>
              <a:ahLst/>
              <a:cxnLst/>
              <a:rect l="l" t="t" r="r" b="b"/>
              <a:pathLst>
                <a:path w="4686300" h="3371850">
                  <a:moveTo>
                    <a:pt x="0" y="2343150"/>
                  </a:moveTo>
                  <a:lnTo>
                    <a:pt x="2343150" y="0"/>
                  </a:lnTo>
                  <a:lnTo>
                    <a:pt x="4686300" y="2343150"/>
                  </a:lnTo>
                  <a:lnTo>
                    <a:pt x="3543300" y="3371850"/>
                  </a:lnTo>
                  <a:lnTo>
                    <a:pt x="0" y="3371850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 rot="-2700000">
              <a:off x="-47754" y="2821658"/>
              <a:ext cx="3587951" cy="1127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5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292090" y="643890"/>
            <a:ext cx="3297322" cy="670560"/>
            <a:chOff x="5292090" y="643890"/>
            <a:chExt cx="3297322" cy="670560"/>
          </a:xfrm>
        </p:grpSpPr>
        <p:sp>
          <p:nvSpPr>
            <p:cNvPr id="8" name="TextBox 8"/>
            <p:cNvSpPr txBox="1"/>
            <p:nvPr/>
          </p:nvSpPr>
          <p:spPr>
            <a:xfrm>
              <a:off x="5292090" y="643890"/>
              <a:ext cx="3297322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目录</a:t>
              </a:r>
              <a:r>
                <a:rPr lang="zh-CN" sz="2550" b="1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 xml:space="preserve"> CONTENT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10300" y="1321118"/>
            <a:ext cx="5981700" cy="4436745"/>
            <a:chOff x="6210300" y="1321118"/>
            <a:chExt cx="5981700" cy="4436745"/>
          </a:xfrm>
        </p:grpSpPr>
        <p:grpSp>
          <p:nvGrpSpPr>
            <p:cNvPr id="15" name="Group 15"/>
            <p:cNvGrpSpPr/>
            <p:nvPr/>
          </p:nvGrpSpPr>
          <p:grpSpPr>
            <a:xfrm>
              <a:off x="6210300" y="1321118"/>
              <a:ext cx="5981700" cy="626745"/>
              <a:chOff x="6210300" y="1321118"/>
              <a:chExt cx="5981700" cy="626745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6210300" y="1371600"/>
                <a:ext cx="457200" cy="457200"/>
              </a:xfrm>
              <a:prstGeom prst="ellipse">
                <a:avLst/>
              </a:prstGeom>
              <a:solidFill>
                <a:srgbClr val="0D5DBE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6419850" y="1371600"/>
                <a:ext cx="457200" cy="457200"/>
              </a:xfrm>
              <a:prstGeom prst="ellipse">
                <a:avLst/>
              </a:prstGeom>
              <a:noFill/>
              <a:ln w="12382">
                <a:solidFill>
                  <a:srgbClr val="0D5DBE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6264221" y="1491615"/>
                <a:ext cx="34935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239000" y="1321118"/>
                <a:ext cx="4953000" cy="3838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950" b="1" dirty="0">
                    <a:solidFill>
                      <a:srgbClr val="000000"/>
                    </a:solidFill>
                    <a:latin typeface="Arial"/>
                    <a:ea typeface="Microsoft YaHei"/>
                    <a:cs typeface="Arial"/>
                  </a:rPr>
                  <a:t>论文问题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858000" y="1696879"/>
                <a:ext cx="5334000" cy="2509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为什么要摆脱循环与卷积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210300" y="2273618"/>
              <a:ext cx="5981700" cy="626745"/>
              <a:chOff x="6210300" y="2273618"/>
              <a:chExt cx="5981700" cy="626745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210300" y="2324100"/>
                <a:ext cx="457200" cy="457200"/>
              </a:xfrm>
              <a:prstGeom prst="ellipse">
                <a:avLst/>
              </a:prstGeom>
              <a:solidFill>
                <a:srgbClr val="0D5DBE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6419850" y="2324100"/>
                <a:ext cx="457200" cy="457200"/>
              </a:xfrm>
              <a:prstGeom prst="ellipse">
                <a:avLst/>
              </a:prstGeom>
              <a:noFill/>
              <a:ln w="12382">
                <a:solidFill>
                  <a:srgbClr val="0D5DBE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264221" y="2444115"/>
                <a:ext cx="34935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239000" y="2273618"/>
                <a:ext cx="4953000" cy="3838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950" b="1" dirty="0">
                    <a:solidFill>
                      <a:srgbClr val="000000"/>
                    </a:solidFill>
                    <a:latin typeface="Arial"/>
                    <a:ea typeface="Microsoft YaHei"/>
                    <a:cs typeface="Arial"/>
                  </a:rPr>
                  <a:t>模型结构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858000" y="2649379"/>
                <a:ext cx="5334000" cy="2509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编码器-解码器与三类注意力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210300" y="3226118"/>
              <a:ext cx="5981700" cy="626745"/>
              <a:chOff x="6210300" y="3226118"/>
              <a:chExt cx="5981700" cy="62674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210300" y="3276600"/>
                <a:ext cx="457200" cy="457200"/>
              </a:xfrm>
              <a:prstGeom prst="ellipse">
                <a:avLst/>
              </a:prstGeom>
              <a:solidFill>
                <a:srgbClr val="0D5DBE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6419850" y="3276600"/>
                <a:ext cx="457200" cy="457200"/>
              </a:xfrm>
              <a:prstGeom prst="ellipse">
                <a:avLst/>
              </a:prstGeom>
              <a:noFill/>
              <a:ln w="12382">
                <a:solidFill>
                  <a:srgbClr val="0D5DBE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264221" y="3396615"/>
                <a:ext cx="34935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239000" y="3226118"/>
                <a:ext cx="4953000" cy="3838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950" b="1" dirty="0">
                    <a:solidFill>
                      <a:srgbClr val="000000"/>
                    </a:solidFill>
                    <a:latin typeface="Arial"/>
                    <a:ea typeface="Microsoft YaHei"/>
                    <a:cs typeface="Arial"/>
                  </a:rPr>
                  <a:t>关键机制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858000" y="3601879"/>
                <a:ext cx="5334000" cy="2509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scaled dot-product、多头、位置编码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210300" y="4178618"/>
              <a:ext cx="5981700" cy="626745"/>
              <a:chOff x="6210300" y="4178618"/>
              <a:chExt cx="5981700" cy="626745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6210300" y="4229100"/>
                <a:ext cx="457200" cy="457200"/>
              </a:xfrm>
              <a:prstGeom prst="ellipse">
                <a:avLst/>
              </a:prstGeom>
              <a:solidFill>
                <a:srgbClr val="0D5DBE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6419850" y="4229100"/>
                <a:ext cx="457200" cy="457200"/>
              </a:xfrm>
              <a:prstGeom prst="ellipse">
                <a:avLst/>
              </a:prstGeom>
              <a:noFill/>
              <a:ln w="12382">
                <a:solidFill>
                  <a:srgbClr val="0D5DBE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264221" y="4349115"/>
                <a:ext cx="34935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239000" y="4178618"/>
                <a:ext cx="4953000" cy="3838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950" b="1" dirty="0">
                    <a:solidFill>
                      <a:srgbClr val="000000"/>
                    </a:solidFill>
                    <a:latin typeface="Arial"/>
                    <a:ea typeface="Microsoft YaHei"/>
                    <a:cs typeface="Arial"/>
                  </a:rPr>
                  <a:t>实验结果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858000" y="4554379"/>
                <a:ext cx="5334000" cy="2509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WMT 翻译质量与训练成本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210300" y="5131118"/>
              <a:ext cx="5981700" cy="626745"/>
              <a:chOff x="6210300" y="5131118"/>
              <a:chExt cx="5981700" cy="626745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6210300" y="5181600"/>
                <a:ext cx="457200" cy="457200"/>
              </a:xfrm>
              <a:prstGeom prst="ellipse">
                <a:avLst/>
              </a:prstGeom>
              <a:solidFill>
                <a:srgbClr val="0D5DBE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6419850" y="5181600"/>
                <a:ext cx="457200" cy="457200"/>
              </a:xfrm>
              <a:prstGeom prst="ellipse">
                <a:avLst/>
              </a:prstGeom>
              <a:noFill/>
              <a:ln w="12382">
                <a:solidFill>
                  <a:srgbClr val="0D5DBE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264221" y="5301615"/>
                <a:ext cx="34935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05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239000" y="5131118"/>
                <a:ext cx="4953000" cy="3838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950" b="1" dirty="0">
                    <a:solidFill>
                      <a:srgbClr val="000000"/>
                    </a:solidFill>
                    <a:latin typeface="Arial"/>
                    <a:ea typeface="Microsoft YaHei"/>
                    <a:cs typeface="Arial"/>
                  </a:rPr>
                  <a:t>讨论启发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858000" y="5506879"/>
                <a:ext cx="5334000" cy="2509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贡献、局限和后续影响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14350" y="1352550"/>
            <a:ext cx="11163300" cy="5000625"/>
            <a:chOff x="514350" y="1352550"/>
            <a:chExt cx="11163300" cy="5000625"/>
          </a:xfrm>
        </p:grpSpPr>
        <p:sp>
          <p:nvSpPr>
            <p:cNvPr id="3" name="Rectangle 3"/>
            <p:cNvSpPr/>
            <p:nvPr/>
          </p:nvSpPr>
          <p:spPr>
            <a:xfrm>
              <a:off x="514350" y="1352550"/>
              <a:ext cx="11163300" cy="4953000"/>
            </a:xfrm>
            <a:prstGeom prst="roundRect">
              <a:avLst>
                <a:gd name="adj" fmla="val 1538"/>
              </a:avLst>
            </a:prstGeom>
            <a:solidFill>
              <a:srgbClr val="FFFFFF"/>
            </a:solidFill>
            <a:ln w="15240">
              <a:solidFill>
                <a:srgbClr val="0D5DBE">
                  <a:alpha val="18000"/>
                </a:srgbClr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14350" y="6248400"/>
              <a:ext cx="11163300" cy="104775"/>
            </a:xfrm>
            <a:prstGeom prst="roundRect">
              <a:avLst>
                <a:gd name="adj" fmla="val 50000"/>
              </a:avLst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3295650" y="2971800"/>
              <a:ext cx="609600" cy="609600"/>
            </a:xfrm>
            <a:prstGeom prst="rect">
              <a:avLst/>
            </a:prstGeom>
            <a:solidFill>
              <a:srgbClr val="072F5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619500" y="3276600"/>
              <a:ext cx="914400" cy="9144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67690" y="196215"/>
            <a:ext cx="3170806" cy="670560"/>
            <a:chOff x="567690" y="196215"/>
            <a:chExt cx="3170806" cy="670560"/>
          </a:xfrm>
        </p:grpSpPr>
        <p:sp>
          <p:nvSpPr>
            <p:cNvPr id="8" name="TextBox 8"/>
            <p:cNvSpPr txBox="1"/>
            <p:nvPr/>
          </p:nvSpPr>
          <p:spPr>
            <a:xfrm>
              <a:off x="567690" y="196215"/>
              <a:ext cx="317080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章节</a:t>
              </a:r>
              <a:r>
                <a:rPr lang="zh-CN" sz="2550" b="1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 xml:space="preserve"> SECTION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286125" y="3333750"/>
            <a:ext cx="1619250" cy="800100"/>
            <a:chOff x="3286125" y="3333750"/>
            <a:chExt cx="1619250" cy="800100"/>
          </a:xfrm>
        </p:grpSpPr>
        <p:sp>
          <p:nvSpPr>
            <p:cNvPr id="10" name="Rectangle 10"/>
            <p:cNvSpPr/>
            <p:nvPr/>
          </p:nvSpPr>
          <p:spPr>
            <a:xfrm>
              <a:off x="3409950" y="3333750"/>
              <a:ext cx="1123950" cy="8001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286125" y="3348990"/>
              <a:ext cx="1619250" cy="708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0" y="2962275"/>
            <a:ext cx="7429500" cy="885825"/>
            <a:chOff x="4762500" y="2962275"/>
            <a:chExt cx="7429500" cy="885825"/>
          </a:xfrm>
        </p:grpSpPr>
        <p:sp>
          <p:nvSpPr>
            <p:cNvPr id="13" name="Rectangle 13"/>
            <p:cNvSpPr/>
            <p:nvPr/>
          </p:nvSpPr>
          <p:spPr>
            <a:xfrm>
              <a:off x="4876800" y="2971800"/>
              <a:ext cx="4762500" cy="8763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62500" y="2962275"/>
              <a:ext cx="7429500" cy="8858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450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论文问题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876800" y="4000500"/>
            <a:ext cx="6800850" cy="438150"/>
            <a:chOff x="4876800" y="4000500"/>
            <a:chExt cx="6800850" cy="438150"/>
          </a:xfrm>
        </p:grpSpPr>
        <p:sp>
          <p:nvSpPr>
            <p:cNvPr id="16" name="Rectangle 16"/>
            <p:cNvSpPr/>
            <p:nvPr/>
          </p:nvSpPr>
          <p:spPr>
            <a:xfrm>
              <a:off x="4876800" y="4000500"/>
              <a:ext cx="5143500" cy="4381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972050" y="4000500"/>
              <a:ext cx="67056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8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Why remove recurrence and convolution?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23850" y="248602"/>
            <a:ext cx="11544300" cy="599123"/>
            <a:chOff x="323850" y="248602"/>
            <a:chExt cx="11544300" cy="599123"/>
          </a:xfrm>
        </p:grpSpPr>
        <p:sp>
          <p:nvSpPr>
            <p:cNvPr id="3" name="Polygon 3"/>
            <p:cNvSpPr/>
            <p:nvPr/>
          </p:nvSpPr>
          <p:spPr>
            <a:xfrm>
              <a:off x="476250" y="733425"/>
              <a:ext cx="11239500" cy="76200"/>
            </a:xfrm>
            <a:custGeom>
              <a:avLst/>
              <a:gdLst/>
              <a:ahLst/>
              <a:cxnLst/>
              <a:rect l="l" t="t" r="r" b="b"/>
              <a:pathLst>
                <a:path w="11239500" h="76200">
                  <a:moveTo>
                    <a:pt x="19050" y="0"/>
                  </a:moveTo>
                  <a:lnTo>
                    <a:pt x="11220450" y="0"/>
                  </a:lnTo>
                  <a:lnTo>
                    <a:pt x="11239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>
                <a:alpha val="18000"/>
              </a:srgbClr>
            </a:solidFill>
            <a:ln>
              <a:noFill/>
            </a:ln>
          </p:spPr>
        </p:sp>
        <p:sp>
          <p:nvSpPr>
            <p:cNvPr id="4" name="Polygon 4"/>
            <p:cNvSpPr/>
            <p:nvPr/>
          </p:nvSpPr>
          <p:spPr>
            <a:xfrm>
              <a:off x="323850" y="771525"/>
              <a:ext cx="11544300" cy="76200"/>
            </a:xfrm>
            <a:custGeom>
              <a:avLst/>
              <a:gdLst/>
              <a:ahLst/>
              <a:cxnLst/>
              <a:rect l="l" t="t" r="r" b="b"/>
              <a:pathLst>
                <a:path w="11544300" h="76200">
                  <a:moveTo>
                    <a:pt x="19050" y="0"/>
                  </a:moveTo>
                  <a:lnTo>
                    <a:pt x="11525250" y="0"/>
                  </a:lnTo>
                  <a:lnTo>
                    <a:pt x="115443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81965" y="248602"/>
              <a:ext cx="1628966" cy="469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5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论文问题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79614" y="264795"/>
              <a:ext cx="4109466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r"/>
              <a:r>
                <a:rPr lang="zh-CN" sz="2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从序列递推转向全局依赖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1104900"/>
            <a:ext cx="11163300" cy="704850"/>
            <a:chOff x="514350" y="1104900"/>
            <a:chExt cx="11163300" cy="704850"/>
          </a:xfrm>
        </p:grpSpPr>
        <p:sp>
          <p:nvSpPr>
            <p:cNvPr id="8" name="Rectangle 8"/>
            <p:cNvSpPr/>
            <p:nvPr/>
          </p:nvSpPr>
          <p:spPr>
            <a:xfrm>
              <a:off x="514350" y="1104900"/>
              <a:ext cx="11163300" cy="704850"/>
            </a:xfrm>
            <a:prstGeom prst="roundRect">
              <a:avLst>
                <a:gd name="adj" fmla="val 5405"/>
              </a:avLst>
            </a:prstGeom>
            <a:solidFill>
              <a:srgbClr val="F5F9FE"/>
            </a:solidFill>
            <a:ln w="9525">
              <a:solidFill>
                <a:srgbClr val="0D5DBE">
                  <a:alpha val="18000"/>
                </a:srgbClr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14350" y="1104900"/>
              <a:ext cx="76200" cy="70485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1050" y="1104900"/>
              <a:ext cx="10629900" cy="704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8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Transformer 的出发点不是换一个模块，而是移除序列递推这个瓶颈。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66775" y="2257425"/>
            <a:ext cx="7496175" cy="457200"/>
            <a:chOff x="866775" y="2257425"/>
            <a:chExt cx="7496175" cy="457200"/>
          </a:xfrm>
        </p:grpSpPr>
        <p:sp>
          <p:nvSpPr>
            <p:cNvPr id="12" name="Ellipse 12"/>
            <p:cNvSpPr/>
            <p:nvPr/>
          </p:nvSpPr>
          <p:spPr>
            <a:xfrm>
              <a:off x="866775" y="2362200"/>
              <a:ext cx="95250" cy="95250"/>
            </a:xfrm>
            <a:prstGeom prst="ellipse">
              <a:avLst/>
            </a:prstGeom>
            <a:solidFill>
              <a:srgbClr val="0D5DBE">
                <a:alpha val="78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23950" y="2257425"/>
              <a:ext cx="7239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7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RNN/LSTM/GRU 在序列建模中强，但训练必须沿时间步展开。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66775" y="2714625"/>
            <a:ext cx="7496175" cy="457200"/>
            <a:chOff x="866775" y="2714625"/>
            <a:chExt cx="7496175" cy="457200"/>
          </a:xfrm>
        </p:grpSpPr>
        <p:sp>
          <p:nvSpPr>
            <p:cNvPr id="15" name="Ellipse 15"/>
            <p:cNvSpPr/>
            <p:nvPr/>
          </p:nvSpPr>
          <p:spPr>
            <a:xfrm>
              <a:off x="866775" y="2819400"/>
              <a:ext cx="95250" cy="95250"/>
            </a:xfrm>
            <a:prstGeom prst="ellipse">
              <a:avLst/>
            </a:prstGeom>
            <a:solidFill>
              <a:srgbClr val="0D5DBE">
                <a:alpha val="78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23950" y="2714625"/>
              <a:ext cx="7239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7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长序列下，串行依赖限制并行训练，也拉长远距离依赖路径。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66775" y="3171825"/>
            <a:ext cx="7496175" cy="457200"/>
            <a:chOff x="866775" y="3171825"/>
            <a:chExt cx="7496175" cy="457200"/>
          </a:xfrm>
        </p:grpSpPr>
        <p:sp>
          <p:nvSpPr>
            <p:cNvPr id="18" name="Ellipse 18"/>
            <p:cNvSpPr/>
            <p:nvPr/>
          </p:nvSpPr>
          <p:spPr>
            <a:xfrm>
              <a:off x="866775" y="3276600"/>
              <a:ext cx="95250" cy="95250"/>
            </a:xfrm>
            <a:prstGeom prst="ellipse">
              <a:avLst/>
            </a:prstGeom>
            <a:solidFill>
              <a:srgbClr val="0D5DBE">
                <a:alpha val="78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23950" y="3171825"/>
              <a:ext cx="7239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7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已有注意力通常只是 RNN/CNN 上的补充模块，而不是主体架构。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66775" y="3629025"/>
            <a:ext cx="7496175" cy="457200"/>
            <a:chOff x="866775" y="3629025"/>
            <a:chExt cx="7496175" cy="457200"/>
          </a:xfrm>
        </p:grpSpPr>
        <p:sp>
          <p:nvSpPr>
            <p:cNvPr id="21" name="Ellipse 21"/>
            <p:cNvSpPr/>
            <p:nvPr/>
          </p:nvSpPr>
          <p:spPr>
            <a:xfrm>
              <a:off x="866775" y="3733800"/>
              <a:ext cx="95250" cy="95250"/>
            </a:xfrm>
            <a:prstGeom prst="ellipse">
              <a:avLst/>
            </a:prstGeom>
            <a:solidFill>
              <a:srgbClr val="0D5DBE">
                <a:alpha val="7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23950" y="3629025"/>
              <a:ext cx="7239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7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论文的问题重构：是否可以完全用注意力完成序列转导？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620125" y="2452688"/>
            <a:ext cx="3156585" cy="762000"/>
            <a:chOff x="8620125" y="2452688"/>
            <a:chExt cx="3156585" cy="762000"/>
          </a:xfrm>
        </p:grpSpPr>
        <p:sp>
          <p:nvSpPr>
            <p:cNvPr id="24" name="TextBox 24"/>
            <p:cNvSpPr txBox="1"/>
            <p:nvPr/>
          </p:nvSpPr>
          <p:spPr>
            <a:xfrm>
              <a:off x="8620125" y="2452688"/>
              <a:ext cx="147542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O(n)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37395" y="2584132"/>
              <a:ext cx="1547448" cy="3038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RNN 串行步数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43110" y="2956560"/>
              <a:ext cx="213360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每个位置依赖前一隐藏状态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620125" y="3481388"/>
            <a:ext cx="3462980" cy="762000"/>
            <a:chOff x="8620125" y="3481388"/>
            <a:chExt cx="3462980" cy="762000"/>
          </a:xfrm>
        </p:grpSpPr>
        <p:sp>
          <p:nvSpPr>
            <p:cNvPr id="28" name="TextBox 28"/>
            <p:cNvSpPr txBox="1"/>
            <p:nvPr/>
          </p:nvSpPr>
          <p:spPr>
            <a:xfrm>
              <a:off x="8620125" y="3481388"/>
              <a:ext cx="147542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O(1)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37395" y="3612832"/>
              <a:ext cx="2445710" cy="3038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Self-attention 路径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43110" y="3985260"/>
              <a:ext cx="213360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任意位置一层内可直接交互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620125" y="4510088"/>
            <a:ext cx="2692146" cy="762000"/>
            <a:chOff x="8620125" y="4510088"/>
            <a:chExt cx="2692146" cy="762000"/>
          </a:xfrm>
        </p:grpSpPr>
        <p:sp>
          <p:nvSpPr>
            <p:cNvPr id="32" name="TextBox 32"/>
            <p:cNvSpPr txBox="1"/>
            <p:nvPr/>
          </p:nvSpPr>
          <p:spPr>
            <a:xfrm>
              <a:off x="8620125" y="4510088"/>
              <a:ext cx="104411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12h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37395" y="4641532"/>
              <a:ext cx="1180552" cy="3038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base 训练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43110" y="5013960"/>
              <a:ext cx="1669161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8 P100 上达到强结果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6439852"/>
            <a:ext cx="12192000" cy="427697"/>
            <a:chOff x="0" y="6439852"/>
            <a:chExt cx="12192000" cy="427697"/>
          </a:xfrm>
        </p:grpSpPr>
        <p:sp>
          <p:nvSpPr>
            <p:cNvPr id="36" name="Freeform 36"/>
            <p:cNvSpPr/>
            <p:nvPr/>
          </p:nvSpPr>
          <p:spPr>
            <a:xfrm>
              <a:off x="0" y="6791325"/>
              <a:ext cx="12192000" cy="66675"/>
            </a:xfrm>
            <a:custGeom>
              <a:avLst/>
              <a:gdLst/>
              <a:ahLst/>
              <a:cxnLst/>
              <a:rect l="l" t="t" r="r" b="b"/>
              <a:pathLst>
                <a:path w="12192000" h="66675">
                  <a:moveTo>
                    <a:pt x="0" y="0"/>
                  </a:moveTo>
                  <a:lnTo>
                    <a:pt x="11791950" y="0"/>
                  </a:lnTo>
                  <a:lnTo>
                    <a:pt x="11858625" y="38100"/>
                  </a:lnTo>
                  <a:lnTo>
                    <a:pt x="11925300" y="0"/>
                  </a:lnTo>
                  <a:lnTo>
                    <a:pt x="12192000" y="0"/>
                  </a:lnTo>
                  <a:lnTo>
                    <a:pt x="12192000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1015" y="6439852"/>
              <a:ext cx="2741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Abstract, Introduction, Background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798252" y="6643978"/>
              <a:ext cx="120746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23850" y="248602"/>
            <a:ext cx="11544300" cy="599123"/>
            <a:chOff x="323850" y="248602"/>
            <a:chExt cx="11544300" cy="599123"/>
          </a:xfrm>
        </p:grpSpPr>
        <p:sp>
          <p:nvSpPr>
            <p:cNvPr id="3" name="Polygon 3"/>
            <p:cNvSpPr/>
            <p:nvPr/>
          </p:nvSpPr>
          <p:spPr>
            <a:xfrm>
              <a:off x="476250" y="733425"/>
              <a:ext cx="11239500" cy="76200"/>
            </a:xfrm>
            <a:custGeom>
              <a:avLst/>
              <a:gdLst/>
              <a:ahLst/>
              <a:cxnLst/>
              <a:rect l="l" t="t" r="r" b="b"/>
              <a:pathLst>
                <a:path w="11239500" h="76200">
                  <a:moveTo>
                    <a:pt x="19050" y="0"/>
                  </a:moveTo>
                  <a:lnTo>
                    <a:pt x="11220450" y="0"/>
                  </a:lnTo>
                  <a:lnTo>
                    <a:pt x="11239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>
                <a:alpha val="18000"/>
              </a:srgbClr>
            </a:solidFill>
            <a:ln>
              <a:noFill/>
            </a:ln>
          </p:spPr>
        </p:sp>
        <p:sp>
          <p:nvSpPr>
            <p:cNvPr id="4" name="Polygon 4"/>
            <p:cNvSpPr/>
            <p:nvPr/>
          </p:nvSpPr>
          <p:spPr>
            <a:xfrm>
              <a:off x="323850" y="771525"/>
              <a:ext cx="11544300" cy="76200"/>
            </a:xfrm>
            <a:custGeom>
              <a:avLst/>
              <a:gdLst/>
              <a:ahLst/>
              <a:cxnLst/>
              <a:rect l="l" t="t" r="r" b="b"/>
              <a:pathLst>
                <a:path w="11544300" h="76200">
                  <a:moveTo>
                    <a:pt x="19050" y="0"/>
                  </a:moveTo>
                  <a:lnTo>
                    <a:pt x="11525250" y="0"/>
                  </a:lnTo>
                  <a:lnTo>
                    <a:pt x="115443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81965" y="248602"/>
              <a:ext cx="1628966" cy="469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5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模型结构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230395" y="264795"/>
              <a:ext cx="745868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r"/>
              <a:r>
                <a:rPr lang="zh-CN" sz="2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Transformer 是注意力堆叠的编码器-解码器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1104900"/>
            <a:ext cx="11163300" cy="704850"/>
            <a:chOff x="514350" y="1104900"/>
            <a:chExt cx="11163300" cy="704850"/>
          </a:xfrm>
        </p:grpSpPr>
        <p:sp>
          <p:nvSpPr>
            <p:cNvPr id="8" name="Rectangle 8"/>
            <p:cNvSpPr/>
            <p:nvPr/>
          </p:nvSpPr>
          <p:spPr>
            <a:xfrm>
              <a:off x="514350" y="1104900"/>
              <a:ext cx="11163300" cy="704850"/>
            </a:xfrm>
            <a:prstGeom prst="roundRect">
              <a:avLst>
                <a:gd name="adj" fmla="val 5405"/>
              </a:avLst>
            </a:prstGeom>
            <a:solidFill>
              <a:srgbClr val="F5F9FE"/>
            </a:solidFill>
            <a:ln w="9525">
              <a:solidFill>
                <a:srgbClr val="0D5DBE">
                  <a:alpha val="18000"/>
                </a:srgbClr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14350" y="1104900"/>
              <a:ext cx="76200" cy="70485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1050" y="1104900"/>
              <a:ext cx="10629900" cy="704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8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结构上的大胆之处：把 recurrence/convolution 全部拿掉，只保留注意力和逐位置 FFN。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800" y="2019300"/>
            <a:ext cx="4476750" cy="4095750"/>
            <a:chOff x="685800" y="2019300"/>
            <a:chExt cx="4476750" cy="4095750"/>
          </a:xfrm>
        </p:grpSpPr>
        <p:sp>
          <p:nvSpPr>
            <p:cNvPr id="12" name="Rectangle 12"/>
            <p:cNvSpPr/>
            <p:nvPr/>
          </p:nvSpPr>
          <p:spPr>
            <a:xfrm>
              <a:off x="685800" y="2019300"/>
              <a:ext cx="4476750" cy="4095750"/>
            </a:xfrm>
            <a:prstGeom prst="roundRect">
              <a:avLst>
                <a:gd name="adj" fmla="val 1395"/>
              </a:avLst>
            </a:prstGeom>
            <a:solidFill>
              <a:srgbClr val="FFFFFF"/>
            </a:solidFill>
            <a:ln w="13335">
              <a:solidFill>
                <a:srgbClr val="D9E4F2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3025" y="2133600"/>
              <a:ext cx="2422300" cy="35433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838200" y="5695950"/>
              <a:ext cx="41719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Figure 1: Transformer model architecture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657850" y="2114550"/>
            <a:ext cx="2571750" cy="1257300"/>
            <a:chOff x="5657850" y="2114550"/>
            <a:chExt cx="2571750" cy="1257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2114550"/>
              <a:ext cx="257175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1430">
              <a:solidFill>
                <a:srgbClr val="D9E4F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657850" y="2114550"/>
              <a:ext cx="66675" cy="12573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67400" y="2228850"/>
              <a:ext cx="21526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Encoder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67400" y="2571750"/>
              <a:ext cx="2152650" cy="742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N = 6 层堆叠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每层：self-attention + FFN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残差连接 + LayerNorm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72500" y="2114550"/>
            <a:ext cx="2571750" cy="1257300"/>
            <a:chOff x="8572500" y="2114550"/>
            <a:chExt cx="2571750" cy="1257300"/>
          </a:xfrm>
        </p:grpSpPr>
        <p:sp>
          <p:nvSpPr>
            <p:cNvPr id="21" name="Rectangle 21"/>
            <p:cNvSpPr/>
            <p:nvPr/>
          </p:nvSpPr>
          <p:spPr>
            <a:xfrm>
              <a:off x="8572500" y="2114550"/>
              <a:ext cx="257175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1430">
              <a:solidFill>
                <a:srgbClr val="D9E4F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572500" y="2114550"/>
              <a:ext cx="66675" cy="12573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82050" y="2228850"/>
              <a:ext cx="21526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Decoder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82050" y="2571750"/>
              <a:ext cx="2152650" cy="742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masked self-attention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encoder-decoder attention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自回归输出约束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57850" y="3714750"/>
            <a:ext cx="2571750" cy="1257300"/>
            <a:chOff x="5657850" y="3714750"/>
            <a:chExt cx="2571750" cy="1257300"/>
          </a:xfrm>
        </p:grpSpPr>
        <p:sp>
          <p:nvSpPr>
            <p:cNvPr id="26" name="Rectangle 26"/>
            <p:cNvSpPr/>
            <p:nvPr/>
          </p:nvSpPr>
          <p:spPr>
            <a:xfrm>
              <a:off x="5657850" y="3714750"/>
              <a:ext cx="257175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1430">
              <a:solidFill>
                <a:srgbClr val="D9E4F2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657850" y="3714750"/>
              <a:ext cx="66675" cy="12573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67400" y="3829050"/>
              <a:ext cx="21526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Shared Shape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67400" y="4171950"/>
              <a:ext cx="2152650" cy="742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dmodel = 512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embedding 与子层输出同维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便于残差路径相加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572500" y="3714750"/>
            <a:ext cx="2571750" cy="1257300"/>
            <a:chOff x="8572500" y="3714750"/>
            <a:chExt cx="2571750" cy="1257300"/>
          </a:xfrm>
        </p:grpSpPr>
        <p:sp>
          <p:nvSpPr>
            <p:cNvPr id="31" name="Rectangle 31"/>
            <p:cNvSpPr/>
            <p:nvPr/>
          </p:nvSpPr>
          <p:spPr>
            <a:xfrm>
              <a:off x="8572500" y="3714750"/>
              <a:ext cx="257175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1430">
              <a:solidFill>
                <a:srgbClr val="D9E4F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572500" y="3714750"/>
              <a:ext cx="66675" cy="12573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82050" y="3829050"/>
              <a:ext cx="21526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Position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82050" y="4171950"/>
              <a:ext cx="2152650" cy="742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没有 recurrence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 positional encoding 注入顺序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支持并行计算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6439852"/>
            <a:ext cx="12192000" cy="427697"/>
            <a:chOff x="0" y="6439852"/>
            <a:chExt cx="12192000" cy="427697"/>
          </a:xfrm>
        </p:grpSpPr>
        <p:sp>
          <p:nvSpPr>
            <p:cNvPr id="36" name="Freeform 36"/>
            <p:cNvSpPr/>
            <p:nvPr/>
          </p:nvSpPr>
          <p:spPr>
            <a:xfrm>
              <a:off x="0" y="6791325"/>
              <a:ext cx="12192000" cy="66675"/>
            </a:xfrm>
            <a:custGeom>
              <a:avLst/>
              <a:gdLst/>
              <a:ahLst/>
              <a:cxnLst/>
              <a:rect l="l" t="t" r="r" b="b"/>
              <a:pathLst>
                <a:path w="12192000" h="66675">
                  <a:moveTo>
                    <a:pt x="0" y="0"/>
                  </a:moveTo>
                  <a:lnTo>
                    <a:pt x="11791950" y="0"/>
                  </a:lnTo>
                  <a:lnTo>
                    <a:pt x="11858625" y="38100"/>
                  </a:lnTo>
                  <a:lnTo>
                    <a:pt x="11925300" y="0"/>
                  </a:lnTo>
                  <a:lnTo>
                    <a:pt x="12192000" y="0"/>
                  </a:lnTo>
                  <a:lnTo>
                    <a:pt x="12192000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1015" y="6439852"/>
              <a:ext cx="16522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Section 3 and Figure 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798252" y="6643978"/>
              <a:ext cx="120746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14350" y="1352550"/>
            <a:ext cx="11163300" cy="5000625"/>
            <a:chOff x="514350" y="1352550"/>
            <a:chExt cx="11163300" cy="5000625"/>
          </a:xfrm>
        </p:grpSpPr>
        <p:sp>
          <p:nvSpPr>
            <p:cNvPr id="3" name="Rectangle 3"/>
            <p:cNvSpPr/>
            <p:nvPr/>
          </p:nvSpPr>
          <p:spPr>
            <a:xfrm>
              <a:off x="514350" y="1352550"/>
              <a:ext cx="11163300" cy="4953000"/>
            </a:xfrm>
            <a:prstGeom prst="roundRect">
              <a:avLst>
                <a:gd name="adj" fmla="val 1538"/>
              </a:avLst>
            </a:prstGeom>
            <a:solidFill>
              <a:srgbClr val="FFFFFF"/>
            </a:solidFill>
            <a:ln w="15240">
              <a:solidFill>
                <a:srgbClr val="0D5DBE">
                  <a:alpha val="18000"/>
                </a:srgbClr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14350" y="6248400"/>
              <a:ext cx="11163300" cy="104775"/>
            </a:xfrm>
            <a:prstGeom prst="roundRect">
              <a:avLst>
                <a:gd name="adj" fmla="val 50000"/>
              </a:avLst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3295650" y="2971800"/>
              <a:ext cx="609600" cy="609600"/>
            </a:xfrm>
            <a:prstGeom prst="rect">
              <a:avLst/>
            </a:prstGeom>
            <a:solidFill>
              <a:srgbClr val="072F5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619500" y="3276600"/>
              <a:ext cx="914400" cy="9144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67690" y="196215"/>
            <a:ext cx="3170806" cy="670560"/>
            <a:chOff x="567690" y="196215"/>
            <a:chExt cx="3170806" cy="670560"/>
          </a:xfrm>
        </p:grpSpPr>
        <p:sp>
          <p:nvSpPr>
            <p:cNvPr id="8" name="TextBox 8"/>
            <p:cNvSpPr txBox="1"/>
            <p:nvPr/>
          </p:nvSpPr>
          <p:spPr>
            <a:xfrm>
              <a:off x="567690" y="196215"/>
              <a:ext cx="317080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章节</a:t>
              </a:r>
              <a:r>
                <a:rPr lang="zh-CN" sz="2550" b="1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 xml:space="preserve"> SECTION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286125" y="3333750"/>
            <a:ext cx="1619250" cy="800100"/>
            <a:chOff x="3286125" y="3333750"/>
            <a:chExt cx="1619250" cy="800100"/>
          </a:xfrm>
        </p:grpSpPr>
        <p:sp>
          <p:nvSpPr>
            <p:cNvPr id="10" name="Rectangle 10"/>
            <p:cNvSpPr/>
            <p:nvPr/>
          </p:nvSpPr>
          <p:spPr>
            <a:xfrm>
              <a:off x="3409950" y="3333750"/>
              <a:ext cx="1123950" cy="8001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286125" y="3348990"/>
              <a:ext cx="1619250" cy="708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0" y="2962275"/>
            <a:ext cx="7429500" cy="885825"/>
            <a:chOff x="4762500" y="2962275"/>
            <a:chExt cx="7429500" cy="885825"/>
          </a:xfrm>
        </p:grpSpPr>
        <p:sp>
          <p:nvSpPr>
            <p:cNvPr id="13" name="Rectangle 13"/>
            <p:cNvSpPr/>
            <p:nvPr/>
          </p:nvSpPr>
          <p:spPr>
            <a:xfrm>
              <a:off x="4876800" y="2971800"/>
              <a:ext cx="4762500" cy="8763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62500" y="2962275"/>
              <a:ext cx="7429500" cy="8858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450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关键机制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876800" y="4000500"/>
            <a:ext cx="6800850" cy="438150"/>
            <a:chOff x="4876800" y="4000500"/>
            <a:chExt cx="6800850" cy="438150"/>
          </a:xfrm>
        </p:grpSpPr>
        <p:sp>
          <p:nvSpPr>
            <p:cNvPr id="16" name="Rectangle 16"/>
            <p:cNvSpPr/>
            <p:nvPr/>
          </p:nvSpPr>
          <p:spPr>
            <a:xfrm>
              <a:off x="4876800" y="4000500"/>
              <a:ext cx="5143500" cy="4381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972050" y="4000500"/>
              <a:ext cx="67056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8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Attention, multi-head design, and position signals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23850" y="248602"/>
            <a:ext cx="11544300" cy="599123"/>
            <a:chOff x="323850" y="248602"/>
            <a:chExt cx="11544300" cy="599123"/>
          </a:xfrm>
        </p:grpSpPr>
        <p:sp>
          <p:nvSpPr>
            <p:cNvPr id="3" name="Polygon 3"/>
            <p:cNvSpPr/>
            <p:nvPr/>
          </p:nvSpPr>
          <p:spPr>
            <a:xfrm>
              <a:off x="476250" y="733425"/>
              <a:ext cx="11239500" cy="76200"/>
            </a:xfrm>
            <a:custGeom>
              <a:avLst/>
              <a:gdLst/>
              <a:ahLst/>
              <a:cxnLst/>
              <a:rect l="l" t="t" r="r" b="b"/>
              <a:pathLst>
                <a:path w="11239500" h="76200">
                  <a:moveTo>
                    <a:pt x="19050" y="0"/>
                  </a:moveTo>
                  <a:lnTo>
                    <a:pt x="11220450" y="0"/>
                  </a:lnTo>
                  <a:lnTo>
                    <a:pt x="11239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>
                <a:alpha val="18000"/>
              </a:srgbClr>
            </a:solidFill>
            <a:ln>
              <a:noFill/>
            </a:ln>
          </p:spPr>
        </p:sp>
        <p:sp>
          <p:nvSpPr>
            <p:cNvPr id="4" name="Polygon 4"/>
            <p:cNvSpPr/>
            <p:nvPr/>
          </p:nvSpPr>
          <p:spPr>
            <a:xfrm>
              <a:off x="323850" y="771525"/>
              <a:ext cx="11544300" cy="76200"/>
            </a:xfrm>
            <a:custGeom>
              <a:avLst/>
              <a:gdLst/>
              <a:ahLst/>
              <a:cxnLst/>
              <a:rect l="l" t="t" r="r" b="b"/>
              <a:pathLst>
                <a:path w="11544300" h="76200">
                  <a:moveTo>
                    <a:pt x="19050" y="0"/>
                  </a:moveTo>
                  <a:lnTo>
                    <a:pt x="11525250" y="0"/>
                  </a:lnTo>
                  <a:lnTo>
                    <a:pt x="115443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81965" y="248602"/>
              <a:ext cx="1628966" cy="469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5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关键机制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537384" y="264795"/>
              <a:ext cx="9151696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r"/>
              <a:r>
                <a:rPr lang="zh-CN" sz="2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Scaled dot-product attention 是矩阵化的匹配与汇聚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1104900"/>
            <a:ext cx="11163300" cy="704850"/>
            <a:chOff x="514350" y="1104900"/>
            <a:chExt cx="11163300" cy="704850"/>
          </a:xfrm>
        </p:grpSpPr>
        <p:sp>
          <p:nvSpPr>
            <p:cNvPr id="8" name="Rectangle 8"/>
            <p:cNvSpPr/>
            <p:nvPr/>
          </p:nvSpPr>
          <p:spPr>
            <a:xfrm>
              <a:off x="514350" y="1104900"/>
              <a:ext cx="11163300" cy="704850"/>
            </a:xfrm>
            <a:prstGeom prst="roundRect">
              <a:avLst>
                <a:gd name="adj" fmla="val 5405"/>
              </a:avLst>
            </a:prstGeom>
            <a:solidFill>
              <a:srgbClr val="F5F9FE"/>
            </a:solidFill>
            <a:ln w="9525">
              <a:solidFill>
                <a:srgbClr val="0D5DBE">
                  <a:alpha val="18000"/>
                </a:srgbClr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14350" y="1104900"/>
              <a:ext cx="76200" cy="70485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1050" y="1104900"/>
              <a:ext cx="10629900" cy="704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8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缩放项和多头设计共同解决效率、梯度稳定性和表达子空间的问题。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04850" y="2152650"/>
            <a:ext cx="2476500" cy="3600450"/>
            <a:chOff x="704850" y="2152650"/>
            <a:chExt cx="2476500" cy="3600450"/>
          </a:xfrm>
        </p:grpSpPr>
        <p:sp>
          <p:nvSpPr>
            <p:cNvPr id="12" name="Rectangle 12"/>
            <p:cNvSpPr/>
            <p:nvPr/>
          </p:nvSpPr>
          <p:spPr>
            <a:xfrm>
              <a:off x="704850" y="2152650"/>
              <a:ext cx="2476500" cy="360045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 w="13335">
              <a:solidFill>
                <a:srgbClr val="D9E4F2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9531" y="2266950"/>
              <a:ext cx="1667138" cy="30480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857250" y="5334000"/>
              <a:ext cx="2171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Scaled dot-product attention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543300" y="2152650"/>
            <a:ext cx="3429000" cy="3600450"/>
            <a:chOff x="3543300" y="2152650"/>
            <a:chExt cx="3429000" cy="3600450"/>
          </a:xfrm>
        </p:grpSpPr>
        <p:sp>
          <p:nvSpPr>
            <p:cNvPr id="16" name="Rectangle 16"/>
            <p:cNvSpPr/>
            <p:nvPr/>
          </p:nvSpPr>
          <p:spPr>
            <a:xfrm>
              <a:off x="3543300" y="2152650"/>
              <a:ext cx="3429000" cy="360045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3335">
              <a:solidFill>
                <a:srgbClr val="D9E4F2"/>
              </a:solidFill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59621" y="2266950"/>
              <a:ext cx="2396359" cy="3048000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3695700" y="5334000"/>
              <a:ext cx="31242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Multi-head attention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334250" y="2266950"/>
            <a:ext cx="3429000" cy="895350"/>
            <a:chOff x="7334250" y="2266950"/>
            <a:chExt cx="3429000" cy="895350"/>
          </a:xfrm>
        </p:grpSpPr>
        <p:sp>
          <p:nvSpPr>
            <p:cNvPr id="20" name="Rectangle 20"/>
            <p:cNvSpPr/>
            <p:nvPr/>
          </p:nvSpPr>
          <p:spPr>
            <a:xfrm>
              <a:off x="7334250" y="2266950"/>
              <a:ext cx="3429000" cy="895350"/>
            </a:xfrm>
            <a:prstGeom prst="roundRect">
              <a:avLst>
                <a:gd name="adj" fmla="val 6383"/>
              </a:avLst>
            </a:prstGeom>
            <a:solidFill>
              <a:srgbClr val="FFFFFF"/>
            </a:solidFill>
            <a:ln w="13335">
              <a:solidFill>
                <a:srgbClr val="D9E4F2"/>
              </a:solidFill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48550" y="2390274"/>
              <a:ext cx="3200400" cy="324853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7486650" y="2743200"/>
              <a:ext cx="31242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Attention equation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362825" y="3533775"/>
            <a:ext cx="3876675" cy="400050"/>
            <a:chOff x="7362825" y="3533775"/>
            <a:chExt cx="3876675" cy="400050"/>
          </a:xfrm>
        </p:grpSpPr>
        <p:sp>
          <p:nvSpPr>
            <p:cNvPr id="24" name="Ellipse 24"/>
            <p:cNvSpPr/>
            <p:nvPr/>
          </p:nvSpPr>
          <p:spPr>
            <a:xfrm>
              <a:off x="7362825" y="3600450"/>
              <a:ext cx="95250" cy="95250"/>
            </a:xfrm>
            <a:prstGeom prst="ellipse">
              <a:avLst/>
            </a:prstGeom>
            <a:solidFill>
              <a:srgbClr val="0D5DBE">
                <a:alpha val="78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00" y="3533775"/>
              <a:ext cx="36195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QK^T 给出 query 与所有 key 的兼容性。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362825" y="3933825"/>
            <a:ext cx="3876675" cy="400050"/>
            <a:chOff x="7362825" y="3933825"/>
            <a:chExt cx="3876675" cy="400050"/>
          </a:xfrm>
        </p:grpSpPr>
        <p:sp>
          <p:nvSpPr>
            <p:cNvPr id="27" name="Ellipse 27"/>
            <p:cNvSpPr/>
            <p:nvPr/>
          </p:nvSpPr>
          <p:spPr>
            <a:xfrm>
              <a:off x="7362825" y="4000500"/>
              <a:ext cx="95250" cy="95250"/>
            </a:xfrm>
            <a:prstGeom prst="ellipse">
              <a:avLst/>
            </a:prstGeom>
            <a:solidFill>
              <a:srgbClr val="0D5DBE">
                <a:alpha val="78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00" y="3933825"/>
              <a:ext cx="36195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除以 sqrt(dk) 避免大维度下 softmax 梯度过小。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362825" y="4333875"/>
            <a:ext cx="3876675" cy="400050"/>
            <a:chOff x="7362825" y="4333875"/>
            <a:chExt cx="3876675" cy="400050"/>
          </a:xfrm>
        </p:grpSpPr>
        <p:sp>
          <p:nvSpPr>
            <p:cNvPr id="30" name="Ellipse 30"/>
            <p:cNvSpPr/>
            <p:nvPr/>
          </p:nvSpPr>
          <p:spPr>
            <a:xfrm>
              <a:off x="7362825" y="4400550"/>
              <a:ext cx="95250" cy="95250"/>
            </a:xfrm>
            <a:prstGeom prst="ellipse">
              <a:avLst/>
            </a:prstGeom>
            <a:solidFill>
              <a:srgbClr val="0D5DBE">
                <a:alpha val="78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0" y="4333875"/>
              <a:ext cx="36195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softmax 权重乘 V，得到上下文加权和。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362825" y="4733925"/>
            <a:ext cx="3876675" cy="400050"/>
            <a:chOff x="7362825" y="4733925"/>
            <a:chExt cx="3876675" cy="400050"/>
          </a:xfrm>
        </p:grpSpPr>
        <p:sp>
          <p:nvSpPr>
            <p:cNvPr id="33" name="Ellipse 33"/>
            <p:cNvSpPr/>
            <p:nvPr/>
          </p:nvSpPr>
          <p:spPr>
            <a:xfrm>
              <a:off x="7362825" y="4800600"/>
              <a:ext cx="95250" cy="95250"/>
            </a:xfrm>
            <a:prstGeom prst="ellipse">
              <a:avLst/>
            </a:prstGeom>
            <a:solidFill>
              <a:srgbClr val="0D5DBE">
                <a:alpha val="78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00" y="4733925"/>
              <a:ext cx="36195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多头把同一位置投影到多个子空间并行关注。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6439852"/>
            <a:ext cx="12192000" cy="427697"/>
            <a:chOff x="0" y="6439852"/>
            <a:chExt cx="12192000" cy="427697"/>
          </a:xfrm>
        </p:grpSpPr>
        <p:sp>
          <p:nvSpPr>
            <p:cNvPr id="36" name="Freeform 36"/>
            <p:cNvSpPr/>
            <p:nvPr/>
          </p:nvSpPr>
          <p:spPr>
            <a:xfrm>
              <a:off x="0" y="6791325"/>
              <a:ext cx="12192000" cy="66675"/>
            </a:xfrm>
            <a:custGeom>
              <a:avLst/>
              <a:gdLst/>
              <a:ahLst/>
              <a:cxnLst/>
              <a:rect l="l" t="t" r="r" b="b"/>
              <a:pathLst>
                <a:path w="12192000" h="66675">
                  <a:moveTo>
                    <a:pt x="0" y="0"/>
                  </a:moveTo>
                  <a:lnTo>
                    <a:pt x="11791950" y="0"/>
                  </a:lnTo>
                  <a:lnTo>
                    <a:pt x="11858625" y="38100"/>
                  </a:lnTo>
                  <a:lnTo>
                    <a:pt x="11925300" y="0"/>
                  </a:lnTo>
                  <a:lnTo>
                    <a:pt x="12192000" y="0"/>
                  </a:lnTo>
                  <a:lnTo>
                    <a:pt x="12192000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1015" y="6439852"/>
              <a:ext cx="18208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Section 3.2 and Figure 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798252" y="6643978"/>
              <a:ext cx="120746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23850" y="248602"/>
            <a:ext cx="11544300" cy="599123"/>
            <a:chOff x="323850" y="248602"/>
            <a:chExt cx="11544300" cy="599123"/>
          </a:xfrm>
        </p:grpSpPr>
        <p:sp>
          <p:nvSpPr>
            <p:cNvPr id="3" name="Polygon 3"/>
            <p:cNvSpPr/>
            <p:nvPr/>
          </p:nvSpPr>
          <p:spPr>
            <a:xfrm>
              <a:off x="476250" y="733425"/>
              <a:ext cx="11239500" cy="76200"/>
            </a:xfrm>
            <a:custGeom>
              <a:avLst/>
              <a:gdLst/>
              <a:ahLst/>
              <a:cxnLst/>
              <a:rect l="l" t="t" r="r" b="b"/>
              <a:pathLst>
                <a:path w="11239500" h="76200">
                  <a:moveTo>
                    <a:pt x="19050" y="0"/>
                  </a:moveTo>
                  <a:lnTo>
                    <a:pt x="11220450" y="0"/>
                  </a:lnTo>
                  <a:lnTo>
                    <a:pt x="11239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>
                <a:alpha val="18000"/>
              </a:srgbClr>
            </a:solidFill>
            <a:ln>
              <a:noFill/>
            </a:ln>
          </p:spPr>
        </p:sp>
        <p:sp>
          <p:nvSpPr>
            <p:cNvPr id="4" name="Polygon 4"/>
            <p:cNvSpPr/>
            <p:nvPr/>
          </p:nvSpPr>
          <p:spPr>
            <a:xfrm>
              <a:off x="323850" y="771525"/>
              <a:ext cx="11544300" cy="76200"/>
            </a:xfrm>
            <a:custGeom>
              <a:avLst/>
              <a:gdLst/>
              <a:ahLst/>
              <a:cxnLst/>
              <a:rect l="l" t="t" r="r" b="b"/>
              <a:pathLst>
                <a:path w="11544300" h="76200">
                  <a:moveTo>
                    <a:pt x="19050" y="0"/>
                  </a:moveTo>
                  <a:lnTo>
                    <a:pt x="11525250" y="0"/>
                  </a:lnTo>
                  <a:lnTo>
                    <a:pt x="115443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81965" y="248602"/>
              <a:ext cx="1628966" cy="469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5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关键机制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39384" y="264795"/>
              <a:ext cx="5949696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r"/>
              <a:r>
                <a:rPr lang="zh-CN" sz="2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同一个注意力算子承担三种结构角色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1104900"/>
            <a:ext cx="11163300" cy="704850"/>
            <a:chOff x="514350" y="1104900"/>
            <a:chExt cx="11163300" cy="704850"/>
          </a:xfrm>
        </p:grpSpPr>
        <p:sp>
          <p:nvSpPr>
            <p:cNvPr id="8" name="Rectangle 8"/>
            <p:cNvSpPr/>
            <p:nvPr/>
          </p:nvSpPr>
          <p:spPr>
            <a:xfrm>
              <a:off x="514350" y="1104900"/>
              <a:ext cx="11163300" cy="704850"/>
            </a:xfrm>
            <a:prstGeom prst="roundRect">
              <a:avLst>
                <a:gd name="adj" fmla="val 5405"/>
              </a:avLst>
            </a:prstGeom>
            <a:solidFill>
              <a:srgbClr val="F5F9FE"/>
            </a:solidFill>
            <a:ln w="9525">
              <a:solidFill>
                <a:srgbClr val="0D5DBE">
                  <a:alpha val="18000"/>
                </a:srgbClr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14350" y="1104900"/>
              <a:ext cx="76200" cy="70485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1050" y="1104900"/>
              <a:ext cx="10629900" cy="704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8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Transformer 的可解释性来自注意力位置关系，而不仅是公式本身。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9150" y="2247900"/>
            <a:ext cx="3190875" cy="1524000"/>
            <a:chOff x="819150" y="2247900"/>
            <a:chExt cx="3190875" cy="1524000"/>
          </a:xfrm>
        </p:grpSpPr>
        <p:sp>
          <p:nvSpPr>
            <p:cNvPr id="12" name="Rectangle 12"/>
            <p:cNvSpPr/>
            <p:nvPr/>
          </p:nvSpPr>
          <p:spPr>
            <a:xfrm>
              <a:off x="819150" y="2247900"/>
              <a:ext cx="3190875" cy="1524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1430">
              <a:solidFill>
                <a:srgbClr val="D9E4F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19150" y="2247900"/>
              <a:ext cx="66675" cy="15240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28700" y="2362200"/>
              <a:ext cx="27717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Encoder self-attention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8700" y="2705100"/>
              <a:ext cx="2771775" cy="1009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Q/K/V 均来自上一编码层。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每个输入位置可看见全部输入位置。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95800" y="2247900"/>
            <a:ext cx="3190875" cy="1524000"/>
            <a:chOff x="4495800" y="2247900"/>
            <a:chExt cx="3190875" cy="1524000"/>
          </a:xfrm>
        </p:grpSpPr>
        <p:sp>
          <p:nvSpPr>
            <p:cNvPr id="17" name="Rectangle 17"/>
            <p:cNvSpPr/>
            <p:nvPr/>
          </p:nvSpPr>
          <p:spPr>
            <a:xfrm>
              <a:off x="4495800" y="2247900"/>
              <a:ext cx="3190875" cy="1524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1430">
              <a:solidFill>
                <a:srgbClr val="D9E4F2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495800" y="2247900"/>
              <a:ext cx="66675" cy="15240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05350" y="2362200"/>
              <a:ext cx="27717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Masked decoder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05350" y="2705100"/>
              <a:ext cx="2771775" cy="1009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Q/K/V 均来自解码端。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mask 禁止看到未来 token，保持自回归。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72450" y="2247900"/>
            <a:ext cx="3190875" cy="1524000"/>
            <a:chOff x="8172450" y="2247900"/>
            <a:chExt cx="3190875" cy="1524000"/>
          </a:xfrm>
        </p:grpSpPr>
        <p:sp>
          <p:nvSpPr>
            <p:cNvPr id="22" name="Rectangle 22"/>
            <p:cNvSpPr/>
            <p:nvPr/>
          </p:nvSpPr>
          <p:spPr>
            <a:xfrm>
              <a:off x="8172450" y="2247900"/>
              <a:ext cx="3190875" cy="1524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1430">
              <a:solidFill>
                <a:srgbClr val="D9E4F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172450" y="2247900"/>
              <a:ext cx="66675" cy="15240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82000" y="2362200"/>
              <a:ext cx="27717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Cross attention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82000" y="2705100"/>
              <a:ext cx="2771775" cy="1009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Q 来自解码层。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K/V 来自编码器输出，完成源句对齐。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04900" y="4524375"/>
            <a:ext cx="9906000" cy="952500"/>
            <a:chOff x="1104900" y="4524375"/>
            <a:chExt cx="9906000" cy="952500"/>
          </a:xfrm>
        </p:grpSpPr>
        <p:sp>
          <p:nvSpPr>
            <p:cNvPr id="27" name="TextBox 27"/>
            <p:cNvSpPr txBox="1"/>
            <p:nvPr/>
          </p:nvSpPr>
          <p:spPr>
            <a:xfrm>
              <a:off x="1104900" y="4524375"/>
              <a:ext cx="990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1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读论文时要分清：Transformer 不是只有一种 attention。</a:t>
              </a:r>
            </a:p>
            <a:p>
              <a:pPr algn="l"/>
              <a:r>
                <a:rPr lang="zh-CN" sz="21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三种 attention 分别对应：输入内部建模、输出历史建模、源-目标对齐。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0" y="6439852"/>
            <a:ext cx="12192000" cy="427697"/>
            <a:chOff x="0" y="6439852"/>
            <a:chExt cx="12192000" cy="427697"/>
          </a:xfrm>
        </p:grpSpPr>
        <p:sp>
          <p:nvSpPr>
            <p:cNvPr id="29" name="Freeform 29"/>
            <p:cNvSpPr/>
            <p:nvPr/>
          </p:nvSpPr>
          <p:spPr>
            <a:xfrm>
              <a:off x="0" y="6791325"/>
              <a:ext cx="12192000" cy="66675"/>
            </a:xfrm>
            <a:custGeom>
              <a:avLst/>
              <a:gdLst/>
              <a:ahLst/>
              <a:cxnLst/>
              <a:rect l="l" t="t" r="r" b="b"/>
              <a:pathLst>
                <a:path w="12192000" h="66675">
                  <a:moveTo>
                    <a:pt x="0" y="0"/>
                  </a:moveTo>
                  <a:lnTo>
                    <a:pt x="11791950" y="0"/>
                  </a:lnTo>
                  <a:lnTo>
                    <a:pt x="11858625" y="38100"/>
                  </a:lnTo>
                  <a:lnTo>
                    <a:pt x="11925300" y="0"/>
                  </a:lnTo>
                  <a:lnTo>
                    <a:pt x="12192000" y="0"/>
                  </a:lnTo>
                  <a:lnTo>
                    <a:pt x="12192000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1015" y="6439852"/>
              <a:ext cx="10464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Section 3.2.3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798252" y="6643978"/>
              <a:ext cx="120746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23850" y="248602"/>
            <a:ext cx="11544300" cy="599123"/>
            <a:chOff x="323850" y="248602"/>
            <a:chExt cx="11544300" cy="599123"/>
          </a:xfrm>
        </p:grpSpPr>
        <p:sp>
          <p:nvSpPr>
            <p:cNvPr id="3" name="Polygon 3"/>
            <p:cNvSpPr/>
            <p:nvPr/>
          </p:nvSpPr>
          <p:spPr>
            <a:xfrm>
              <a:off x="476250" y="733425"/>
              <a:ext cx="11239500" cy="76200"/>
            </a:xfrm>
            <a:custGeom>
              <a:avLst/>
              <a:gdLst/>
              <a:ahLst/>
              <a:cxnLst/>
              <a:rect l="l" t="t" r="r" b="b"/>
              <a:pathLst>
                <a:path w="11239500" h="76200">
                  <a:moveTo>
                    <a:pt x="19050" y="0"/>
                  </a:moveTo>
                  <a:lnTo>
                    <a:pt x="11220450" y="0"/>
                  </a:lnTo>
                  <a:lnTo>
                    <a:pt x="11239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>
                <a:alpha val="18000"/>
              </a:srgbClr>
            </a:solidFill>
            <a:ln>
              <a:noFill/>
            </a:ln>
          </p:spPr>
        </p:sp>
        <p:sp>
          <p:nvSpPr>
            <p:cNvPr id="4" name="Polygon 4"/>
            <p:cNvSpPr/>
            <p:nvPr/>
          </p:nvSpPr>
          <p:spPr>
            <a:xfrm>
              <a:off x="323850" y="771525"/>
              <a:ext cx="11544300" cy="76200"/>
            </a:xfrm>
            <a:custGeom>
              <a:avLst/>
              <a:gdLst/>
              <a:ahLst/>
              <a:cxnLst/>
              <a:rect l="l" t="t" r="r" b="b"/>
              <a:pathLst>
                <a:path w="11544300" h="76200">
                  <a:moveTo>
                    <a:pt x="19050" y="0"/>
                  </a:moveTo>
                  <a:lnTo>
                    <a:pt x="11525250" y="0"/>
                  </a:lnTo>
                  <a:lnTo>
                    <a:pt x="115443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81965" y="248602"/>
              <a:ext cx="1628966" cy="469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5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关键机制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07430" y="264795"/>
              <a:ext cx="558165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r"/>
              <a:r>
                <a:rPr lang="zh-CN" sz="2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位置编码让无递推模型仍保留顺序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1104900"/>
            <a:ext cx="11163300" cy="704850"/>
            <a:chOff x="514350" y="1104900"/>
            <a:chExt cx="11163300" cy="704850"/>
          </a:xfrm>
        </p:grpSpPr>
        <p:sp>
          <p:nvSpPr>
            <p:cNvPr id="8" name="Rectangle 8"/>
            <p:cNvSpPr/>
            <p:nvPr/>
          </p:nvSpPr>
          <p:spPr>
            <a:xfrm>
              <a:off x="514350" y="1104900"/>
              <a:ext cx="11163300" cy="704850"/>
            </a:xfrm>
            <a:prstGeom prst="roundRect">
              <a:avLst>
                <a:gd name="adj" fmla="val 5405"/>
              </a:avLst>
            </a:prstGeom>
            <a:solidFill>
              <a:srgbClr val="F5F9FE"/>
            </a:solidFill>
            <a:ln w="9525">
              <a:solidFill>
                <a:srgbClr val="0D5DBE">
                  <a:alpha val="18000"/>
                </a:srgbClr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14350" y="1104900"/>
              <a:ext cx="76200" cy="70485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1050" y="1104900"/>
              <a:ext cx="10629900" cy="704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8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Transformer 把序列顺序从“计算路径”中剥离出来，变成可加的表示信号。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04850" y="2171700"/>
            <a:ext cx="3314700" cy="1428750"/>
            <a:chOff x="704850" y="2171700"/>
            <a:chExt cx="3314700" cy="1428750"/>
          </a:xfrm>
        </p:grpSpPr>
        <p:sp>
          <p:nvSpPr>
            <p:cNvPr id="12" name="Rectangle 12"/>
            <p:cNvSpPr/>
            <p:nvPr/>
          </p:nvSpPr>
          <p:spPr>
            <a:xfrm>
              <a:off x="704850" y="2171700"/>
              <a:ext cx="3314700" cy="14287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1430">
              <a:solidFill>
                <a:srgbClr val="D9E4F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04850" y="2171700"/>
              <a:ext cx="66675" cy="142875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4400" y="2286000"/>
              <a:ext cx="28956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Position-wise FFN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14400" y="2628900"/>
              <a:ext cx="28956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每个位置独立应用同一两层 MLP。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dmodel = 512, dff = 2048。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438650" y="2152650"/>
            <a:ext cx="2857500" cy="1123950"/>
            <a:chOff x="4438650" y="2152650"/>
            <a:chExt cx="2857500" cy="1123950"/>
          </a:xfrm>
        </p:grpSpPr>
        <p:sp>
          <p:nvSpPr>
            <p:cNvPr id="17" name="Rectangle 17"/>
            <p:cNvSpPr/>
            <p:nvPr/>
          </p:nvSpPr>
          <p:spPr>
            <a:xfrm>
              <a:off x="4438650" y="2152650"/>
              <a:ext cx="2857500" cy="1123950"/>
            </a:xfrm>
            <a:prstGeom prst="roundRect">
              <a:avLst>
                <a:gd name="adj" fmla="val 5085"/>
              </a:avLst>
            </a:prstGeom>
            <a:solidFill>
              <a:srgbClr val="FFFFFF"/>
            </a:solidFill>
            <a:ln w="13335">
              <a:solidFill>
                <a:srgbClr val="D9E4F2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2950" y="2485379"/>
              <a:ext cx="2628900" cy="134643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591050" y="2857500"/>
              <a:ext cx="2552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FFN equation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04850" y="4114800"/>
            <a:ext cx="3314700" cy="1428750"/>
            <a:chOff x="704850" y="4114800"/>
            <a:chExt cx="33147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704850" y="4114800"/>
              <a:ext cx="3314700" cy="14287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1430">
              <a:solidFill>
                <a:srgbClr val="D9E4F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04850" y="4114800"/>
              <a:ext cx="66675" cy="142875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4400" y="4229100"/>
              <a:ext cx="28956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Sinusoidal PE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4400" y="4572000"/>
              <a:ext cx="28956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用不同频率的 sin/cos 编码位置。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可表达相对位移，也利于外推。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38650" y="3829050"/>
            <a:ext cx="2857500" cy="838200"/>
            <a:chOff x="4438650" y="3829050"/>
            <a:chExt cx="2857500" cy="838200"/>
          </a:xfrm>
        </p:grpSpPr>
        <p:sp>
          <p:nvSpPr>
            <p:cNvPr id="26" name="Rectangle 26"/>
            <p:cNvSpPr/>
            <p:nvPr/>
          </p:nvSpPr>
          <p:spPr>
            <a:xfrm>
              <a:off x="4438650" y="3829050"/>
              <a:ext cx="2857500" cy="8382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13335">
              <a:solidFill>
                <a:srgbClr val="D9E4F2"/>
              </a:solidFill>
            </a:ln>
          </p:spPr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52950" y="3961337"/>
              <a:ext cx="2628900" cy="249777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4591050" y="4248150"/>
              <a:ext cx="2552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PE even dimensions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438650" y="4953000"/>
            <a:ext cx="2857500" cy="838200"/>
            <a:chOff x="4438650" y="4953000"/>
            <a:chExt cx="2857500" cy="838200"/>
          </a:xfrm>
        </p:grpSpPr>
        <p:sp>
          <p:nvSpPr>
            <p:cNvPr id="30" name="Rectangle 30"/>
            <p:cNvSpPr/>
            <p:nvPr/>
          </p:nvSpPr>
          <p:spPr>
            <a:xfrm>
              <a:off x="4438650" y="4953000"/>
              <a:ext cx="2857500" cy="8382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13335">
              <a:solidFill>
                <a:srgbClr val="D9E4F2"/>
              </a:solidFill>
            </a:ln>
          </p:spPr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52950" y="5092813"/>
              <a:ext cx="2628900" cy="234723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4591050" y="5372100"/>
              <a:ext cx="2552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PE odd dimensions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886700" y="2486025"/>
            <a:ext cx="3333750" cy="1619250"/>
            <a:chOff x="7886700" y="2486025"/>
            <a:chExt cx="3333750" cy="1619250"/>
          </a:xfrm>
        </p:grpSpPr>
        <p:sp>
          <p:nvSpPr>
            <p:cNvPr id="34" name="TextBox 34"/>
            <p:cNvSpPr txBox="1"/>
            <p:nvPr/>
          </p:nvSpPr>
          <p:spPr>
            <a:xfrm>
              <a:off x="7886700" y="2486025"/>
              <a:ext cx="3333750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7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没有递推后，模型仍需知道 token 顺序。</a:t>
              </a:r>
            </a:p>
            <a:p>
              <a:pPr algn="l"/>
              <a:r>
                <a:rPr lang="zh-CN" sz="17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位置编码把顺序作为可加信号注入 embedding。</a:t>
              </a:r>
            </a:p>
            <a:p>
              <a:pPr algn="l"/>
              <a:r>
                <a:rPr lang="zh-CN" sz="17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实验中 learned 与 sinusoidal PE 结果接近；作者选择后者以支持长度外推。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6439852"/>
            <a:ext cx="12192000" cy="427697"/>
            <a:chOff x="0" y="6439852"/>
            <a:chExt cx="12192000" cy="427697"/>
          </a:xfrm>
        </p:grpSpPr>
        <p:sp>
          <p:nvSpPr>
            <p:cNvPr id="36" name="Freeform 36"/>
            <p:cNvSpPr/>
            <p:nvPr/>
          </p:nvSpPr>
          <p:spPr>
            <a:xfrm>
              <a:off x="0" y="6791325"/>
              <a:ext cx="12192000" cy="66675"/>
            </a:xfrm>
            <a:custGeom>
              <a:avLst/>
              <a:gdLst/>
              <a:ahLst/>
              <a:cxnLst/>
              <a:rect l="l" t="t" r="r" b="b"/>
              <a:pathLst>
                <a:path w="12192000" h="66675">
                  <a:moveTo>
                    <a:pt x="0" y="0"/>
                  </a:moveTo>
                  <a:lnTo>
                    <a:pt x="11791950" y="0"/>
                  </a:lnTo>
                  <a:lnTo>
                    <a:pt x="11858625" y="38100"/>
                  </a:lnTo>
                  <a:lnTo>
                    <a:pt x="11925300" y="0"/>
                  </a:lnTo>
                  <a:lnTo>
                    <a:pt x="12192000" y="0"/>
                  </a:lnTo>
                  <a:lnTo>
                    <a:pt x="12192000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1015" y="6439852"/>
              <a:ext cx="26183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Sections 3.3-3.5 and Table 3 row 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798252" y="6643978"/>
              <a:ext cx="120746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23850" y="248602"/>
            <a:ext cx="11544300" cy="599123"/>
            <a:chOff x="323850" y="248602"/>
            <a:chExt cx="11544300" cy="599123"/>
          </a:xfrm>
        </p:grpSpPr>
        <p:sp>
          <p:nvSpPr>
            <p:cNvPr id="3" name="Polygon 3"/>
            <p:cNvSpPr/>
            <p:nvPr/>
          </p:nvSpPr>
          <p:spPr>
            <a:xfrm>
              <a:off x="476250" y="733425"/>
              <a:ext cx="11239500" cy="76200"/>
            </a:xfrm>
            <a:custGeom>
              <a:avLst/>
              <a:gdLst/>
              <a:ahLst/>
              <a:cxnLst/>
              <a:rect l="l" t="t" r="r" b="b"/>
              <a:pathLst>
                <a:path w="11239500" h="76200">
                  <a:moveTo>
                    <a:pt x="19050" y="0"/>
                  </a:moveTo>
                  <a:lnTo>
                    <a:pt x="11220450" y="0"/>
                  </a:lnTo>
                  <a:lnTo>
                    <a:pt x="11239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>
                <a:alpha val="18000"/>
              </a:srgbClr>
            </a:solidFill>
            <a:ln>
              <a:noFill/>
            </a:ln>
          </p:spPr>
        </p:sp>
        <p:sp>
          <p:nvSpPr>
            <p:cNvPr id="4" name="Polygon 4"/>
            <p:cNvSpPr/>
            <p:nvPr/>
          </p:nvSpPr>
          <p:spPr>
            <a:xfrm>
              <a:off x="323850" y="771525"/>
              <a:ext cx="11544300" cy="76200"/>
            </a:xfrm>
            <a:custGeom>
              <a:avLst/>
              <a:gdLst/>
              <a:ahLst/>
              <a:cxnLst/>
              <a:rect l="l" t="t" r="r" b="b"/>
              <a:pathLst>
                <a:path w="11544300" h="76200">
                  <a:moveTo>
                    <a:pt x="19050" y="0"/>
                  </a:moveTo>
                  <a:lnTo>
                    <a:pt x="11525250" y="0"/>
                  </a:lnTo>
                  <a:lnTo>
                    <a:pt x="115443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81965" y="248602"/>
              <a:ext cx="1628966" cy="469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5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理论动机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083177" y="264795"/>
              <a:ext cx="7605903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r"/>
              <a:r>
                <a:rPr lang="zh-CN" sz="2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Self-attention 用二次复杂度换全局一步可达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1104900"/>
            <a:ext cx="11163300" cy="704850"/>
            <a:chOff x="514350" y="1104900"/>
            <a:chExt cx="11163300" cy="704850"/>
          </a:xfrm>
        </p:grpSpPr>
        <p:sp>
          <p:nvSpPr>
            <p:cNvPr id="8" name="Rectangle 8"/>
            <p:cNvSpPr/>
            <p:nvPr/>
          </p:nvSpPr>
          <p:spPr>
            <a:xfrm>
              <a:off x="514350" y="1104900"/>
              <a:ext cx="11163300" cy="704850"/>
            </a:xfrm>
            <a:prstGeom prst="roundRect">
              <a:avLst>
                <a:gd name="adj" fmla="val 5405"/>
              </a:avLst>
            </a:prstGeom>
            <a:solidFill>
              <a:srgbClr val="F5F9FE"/>
            </a:solidFill>
            <a:ln w="9525">
              <a:solidFill>
                <a:srgbClr val="0D5DBE">
                  <a:alpha val="18000"/>
                </a:srgbClr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14350" y="1104900"/>
              <a:ext cx="76200" cy="70485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1050" y="1104900"/>
              <a:ext cx="10629900" cy="704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8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这张表解释了为什么 Transformer 在翻译任务上既快又能抓远距离依赖。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2152650"/>
            <a:ext cx="5334000" cy="3048000"/>
            <a:chOff x="762000" y="2152650"/>
            <a:chExt cx="5334000" cy="3048000"/>
          </a:xfrm>
        </p:grpSpPr>
        <p:sp>
          <p:nvSpPr>
            <p:cNvPr id="12" name="Rectangle 12"/>
            <p:cNvSpPr/>
            <p:nvPr/>
          </p:nvSpPr>
          <p:spPr>
            <a:xfrm>
              <a:off x="762000" y="2152650"/>
              <a:ext cx="5334000" cy="3048000"/>
            </a:xfrm>
            <a:prstGeom prst="roundRect">
              <a:avLst>
                <a:gd name="adj" fmla="val 1875"/>
              </a:avLst>
            </a:prstGeom>
            <a:solidFill>
              <a:srgbClr val="FFFFFF"/>
            </a:solidFill>
            <a:ln w="13335">
              <a:solidFill>
                <a:srgbClr val="D9E4F2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6300" y="2986246"/>
              <a:ext cx="5105400" cy="1056958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914400" y="4781550"/>
              <a:ext cx="50292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Table 1: complexity and path length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67500" y="2190750"/>
            <a:ext cx="3810000" cy="876300"/>
            <a:chOff x="6667500" y="2190750"/>
            <a:chExt cx="3810000" cy="876300"/>
          </a:xfrm>
        </p:grpSpPr>
        <p:sp>
          <p:nvSpPr>
            <p:cNvPr id="16" name="Rectangle 16"/>
            <p:cNvSpPr/>
            <p:nvPr/>
          </p:nvSpPr>
          <p:spPr>
            <a:xfrm>
              <a:off x="6667500" y="2190750"/>
              <a:ext cx="3810000" cy="8763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1430">
              <a:solidFill>
                <a:srgbClr val="D9E4F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667500" y="2190750"/>
              <a:ext cx="66675" cy="8763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77050" y="2305050"/>
              <a:ext cx="33909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核心优势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77050" y="2647950"/>
              <a:ext cx="33909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Self-attention 的 sequential operations 与 maximum path length 都是 O(1)。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667500" y="3333750"/>
            <a:ext cx="3810000" cy="876300"/>
            <a:chOff x="6667500" y="3333750"/>
            <a:chExt cx="3810000" cy="876300"/>
          </a:xfrm>
        </p:grpSpPr>
        <p:sp>
          <p:nvSpPr>
            <p:cNvPr id="21" name="Rectangle 21"/>
            <p:cNvSpPr/>
            <p:nvPr/>
          </p:nvSpPr>
          <p:spPr>
            <a:xfrm>
              <a:off x="6667500" y="3333750"/>
              <a:ext cx="3810000" cy="8763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1430">
              <a:solidFill>
                <a:srgbClr val="D9E4F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67500" y="3333750"/>
              <a:ext cx="66675" cy="8763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77050" y="3448050"/>
              <a:ext cx="33909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主要代价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77050" y="3790950"/>
              <a:ext cx="33909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复杂度 O(n^2 d)，长序列时注意力矩阵成为瓶颈。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67500" y="4476750"/>
            <a:ext cx="3810000" cy="876300"/>
            <a:chOff x="6667500" y="4476750"/>
            <a:chExt cx="3810000" cy="876300"/>
          </a:xfrm>
        </p:grpSpPr>
        <p:sp>
          <p:nvSpPr>
            <p:cNvPr id="26" name="Rectangle 26"/>
            <p:cNvSpPr/>
            <p:nvPr/>
          </p:nvSpPr>
          <p:spPr>
            <a:xfrm>
              <a:off x="6667500" y="4476750"/>
              <a:ext cx="3810000" cy="8763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1430">
              <a:solidFill>
                <a:srgbClr val="D9E4F2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67500" y="4476750"/>
              <a:ext cx="66675" cy="8763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77050" y="4591050"/>
              <a:ext cx="33909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论文取舍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7050" y="4933950"/>
              <a:ext cx="33909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机器翻译句长通常不极端，因此并行性和全局路径更重要。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0" y="6439852"/>
            <a:ext cx="12192000" cy="427697"/>
            <a:chOff x="0" y="6439852"/>
            <a:chExt cx="12192000" cy="427697"/>
          </a:xfrm>
        </p:grpSpPr>
        <p:sp>
          <p:nvSpPr>
            <p:cNvPr id="31" name="Freeform 31"/>
            <p:cNvSpPr/>
            <p:nvPr/>
          </p:nvSpPr>
          <p:spPr>
            <a:xfrm>
              <a:off x="0" y="6791325"/>
              <a:ext cx="12192000" cy="66675"/>
            </a:xfrm>
            <a:custGeom>
              <a:avLst/>
              <a:gdLst/>
              <a:ahLst/>
              <a:cxnLst/>
              <a:rect l="l" t="t" r="r" b="b"/>
              <a:pathLst>
                <a:path w="12192000" h="66675">
                  <a:moveTo>
                    <a:pt x="0" y="0"/>
                  </a:moveTo>
                  <a:lnTo>
                    <a:pt x="11791950" y="0"/>
                  </a:lnTo>
                  <a:lnTo>
                    <a:pt x="11858625" y="38100"/>
                  </a:lnTo>
                  <a:lnTo>
                    <a:pt x="11925300" y="0"/>
                  </a:lnTo>
                  <a:lnTo>
                    <a:pt x="12192000" y="0"/>
                  </a:lnTo>
                  <a:lnTo>
                    <a:pt x="12192000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01015" y="6439852"/>
              <a:ext cx="1567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Section 4 and Table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798252" y="6643978"/>
              <a:ext cx="120746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14350" y="1352550"/>
            <a:ext cx="11163300" cy="5000625"/>
            <a:chOff x="514350" y="1352550"/>
            <a:chExt cx="11163300" cy="5000625"/>
          </a:xfrm>
        </p:grpSpPr>
        <p:sp>
          <p:nvSpPr>
            <p:cNvPr id="3" name="Rectangle 3"/>
            <p:cNvSpPr/>
            <p:nvPr/>
          </p:nvSpPr>
          <p:spPr>
            <a:xfrm>
              <a:off x="514350" y="1352550"/>
              <a:ext cx="11163300" cy="4953000"/>
            </a:xfrm>
            <a:prstGeom prst="roundRect">
              <a:avLst>
                <a:gd name="adj" fmla="val 1538"/>
              </a:avLst>
            </a:prstGeom>
            <a:solidFill>
              <a:srgbClr val="FFFFFF"/>
            </a:solidFill>
            <a:ln w="15240">
              <a:solidFill>
                <a:srgbClr val="0D5DBE">
                  <a:alpha val="18000"/>
                </a:srgbClr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14350" y="6248400"/>
              <a:ext cx="11163300" cy="104775"/>
            </a:xfrm>
            <a:prstGeom prst="roundRect">
              <a:avLst>
                <a:gd name="adj" fmla="val 50000"/>
              </a:avLst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3295650" y="2971800"/>
              <a:ext cx="609600" cy="609600"/>
            </a:xfrm>
            <a:prstGeom prst="rect">
              <a:avLst/>
            </a:prstGeom>
            <a:solidFill>
              <a:srgbClr val="072F5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619500" y="3276600"/>
              <a:ext cx="914400" cy="9144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67690" y="196215"/>
            <a:ext cx="3170806" cy="670560"/>
            <a:chOff x="567690" y="196215"/>
            <a:chExt cx="3170806" cy="670560"/>
          </a:xfrm>
        </p:grpSpPr>
        <p:sp>
          <p:nvSpPr>
            <p:cNvPr id="8" name="TextBox 8"/>
            <p:cNvSpPr txBox="1"/>
            <p:nvPr/>
          </p:nvSpPr>
          <p:spPr>
            <a:xfrm>
              <a:off x="567690" y="196215"/>
              <a:ext cx="317080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章节</a:t>
              </a:r>
              <a:r>
                <a:rPr lang="zh-CN" sz="2550" b="1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 xml:space="preserve"> SECTION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286125" y="3333750"/>
            <a:ext cx="1619250" cy="800100"/>
            <a:chOff x="3286125" y="3333750"/>
            <a:chExt cx="1619250" cy="800100"/>
          </a:xfrm>
        </p:grpSpPr>
        <p:sp>
          <p:nvSpPr>
            <p:cNvPr id="10" name="Rectangle 10"/>
            <p:cNvSpPr/>
            <p:nvPr/>
          </p:nvSpPr>
          <p:spPr>
            <a:xfrm>
              <a:off x="3409950" y="3333750"/>
              <a:ext cx="1123950" cy="8001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286125" y="3348990"/>
              <a:ext cx="1619250" cy="708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0" y="2962275"/>
            <a:ext cx="7429500" cy="885825"/>
            <a:chOff x="4762500" y="2962275"/>
            <a:chExt cx="7429500" cy="885825"/>
          </a:xfrm>
        </p:grpSpPr>
        <p:sp>
          <p:nvSpPr>
            <p:cNvPr id="13" name="Rectangle 13"/>
            <p:cNvSpPr/>
            <p:nvPr/>
          </p:nvSpPr>
          <p:spPr>
            <a:xfrm>
              <a:off x="4876800" y="2971800"/>
              <a:ext cx="4762500" cy="8763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62500" y="2962275"/>
              <a:ext cx="7429500" cy="8858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450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实验与讨论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876800" y="4000500"/>
            <a:ext cx="6800850" cy="438150"/>
            <a:chOff x="4876800" y="4000500"/>
            <a:chExt cx="6800850" cy="438150"/>
          </a:xfrm>
        </p:grpSpPr>
        <p:sp>
          <p:nvSpPr>
            <p:cNvPr id="16" name="Rectangle 16"/>
            <p:cNvSpPr/>
            <p:nvPr/>
          </p:nvSpPr>
          <p:spPr>
            <a:xfrm>
              <a:off x="4876800" y="4000500"/>
              <a:ext cx="5143500" cy="4381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972050" y="4000500"/>
              <a:ext cx="67056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8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Translation performance, ablations, and implications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23850" y="248602"/>
            <a:ext cx="11544300" cy="599123"/>
            <a:chOff x="323850" y="248602"/>
            <a:chExt cx="11544300" cy="599123"/>
          </a:xfrm>
        </p:grpSpPr>
        <p:sp>
          <p:nvSpPr>
            <p:cNvPr id="3" name="Polygon 3"/>
            <p:cNvSpPr/>
            <p:nvPr/>
          </p:nvSpPr>
          <p:spPr>
            <a:xfrm>
              <a:off x="476250" y="733425"/>
              <a:ext cx="11239500" cy="76200"/>
            </a:xfrm>
            <a:custGeom>
              <a:avLst/>
              <a:gdLst/>
              <a:ahLst/>
              <a:cxnLst/>
              <a:rect l="l" t="t" r="r" b="b"/>
              <a:pathLst>
                <a:path w="11239500" h="76200">
                  <a:moveTo>
                    <a:pt x="19050" y="0"/>
                  </a:moveTo>
                  <a:lnTo>
                    <a:pt x="11220450" y="0"/>
                  </a:lnTo>
                  <a:lnTo>
                    <a:pt x="11239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>
                <a:alpha val="18000"/>
              </a:srgbClr>
            </a:solidFill>
            <a:ln>
              <a:noFill/>
            </a:ln>
          </p:spPr>
        </p:sp>
        <p:sp>
          <p:nvSpPr>
            <p:cNvPr id="4" name="Polygon 4"/>
            <p:cNvSpPr/>
            <p:nvPr/>
          </p:nvSpPr>
          <p:spPr>
            <a:xfrm>
              <a:off x="323850" y="771525"/>
              <a:ext cx="11544300" cy="76200"/>
            </a:xfrm>
            <a:custGeom>
              <a:avLst/>
              <a:gdLst/>
              <a:ahLst/>
              <a:cxnLst/>
              <a:rect l="l" t="t" r="r" b="b"/>
              <a:pathLst>
                <a:path w="11544300" h="76200">
                  <a:moveTo>
                    <a:pt x="19050" y="0"/>
                  </a:moveTo>
                  <a:lnTo>
                    <a:pt x="11525250" y="0"/>
                  </a:lnTo>
                  <a:lnTo>
                    <a:pt x="115443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81965" y="248602"/>
              <a:ext cx="1628966" cy="469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5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实验设置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475476" y="264795"/>
              <a:ext cx="5213604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r"/>
              <a:r>
                <a:rPr lang="zh-CN" sz="2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训练配方服务于高并行机器翻译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1104900"/>
            <a:ext cx="11163300" cy="704850"/>
            <a:chOff x="514350" y="1104900"/>
            <a:chExt cx="11163300" cy="704850"/>
          </a:xfrm>
        </p:grpSpPr>
        <p:sp>
          <p:nvSpPr>
            <p:cNvPr id="8" name="Rectangle 8"/>
            <p:cNvSpPr/>
            <p:nvPr/>
          </p:nvSpPr>
          <p:spPr>
            <a:xfrm>
              <a:off x="514350" y="1104900"/>
              <a:ext cx="11163300" cy="704850"/>
            </a:xfrm>
            <a:prstGeom prst="roundRect">
              <a:avLst>
                <a:gd name="adj" fmla="val 5405"/>
              </a:avLst>
            </a:prstGeom>
            <a:solidFill>
              <a:srgbClr val="F5F9FE"/>
            </a:solidFill>
            <a:ln w="9525">
              <a:solidFill>
                <a:srgbClr val="0D5DBE">
                  <a:alpha val="18000"/>
                </a:srgbClr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14350" y="1104900"/>
              <a:ext cx="76200" cy="70485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1050" y="1104900"/>
              <a:ext cx="10629900" cy="704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8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性能来自结构，也来自 batch、warmup、dropout 与 label smoothing 配方。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04875" y="2433638"/>
            <a:ext cx="3652754" cy="762000"/>
            <a:chOff x="904875" y="2433638"/>
            <a:chExt cx="3652754" cy="762000"/>
          </a:xfrm>
        </p:grpSpPr>
        <p:sp>
          <p:nvSpPr>
            <p:cNvPr id="12" name="TextBox 12"/>
            <p:cNvSpPr txBox="1"/>
            <p:nvPr/>
          </p:nvSpPr>
          <p:spPr>
            <a:xfrm>
              <a:off x="904875" y="2433638"/>
              <a:ext cx="147542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4.5M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22145" y="2565082"/>
              <a:ext cx="2635484" cy="3038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EN-DE sentence pairs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27860" y="2937510"/>
              <a:ext cx="2177415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WMT 2014 English-German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04875" y="3481388"/>
            <a:ext cx="3652754" cy="762000"/>
            <a:chOff x="904875" y="3481388"/>
            <a:chExt cx="3652754" cy="762000"/>
          </a:xfrm>
        </p:grpSpPr>
        <p:sp>
          <p:nvSpPr>
            <p:cNvPr id="16" name="TextBox 16"/>
            <p:cNvSpPr txBox="1"/>
            <p:nvPr/>
          </p:nvSpPr>
          <p:spPr>
            <a:xfrm>
              <a:off x="904875" y="3481388"/>
              <a:ext cx="115913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36M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22145" y="3612832"/>
              <a:ext cx="2635484" cy="3038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EN-FR sentence pairs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27860" y="3985260"/>
              <a:ext cx="2142363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WMT 2014 English-French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04875" y="4529138"/>
            <a:ext cx="3480816" cy="762000"/>
            <a:chOff x="904875" y="4529138"/>
            <a:chExt cx="3480816" cy="762000"/>
          </a:xfrm>
        </p:grpSpPr>
        <p:sp>
          <p:nvSpPr>
            <p:cNvPr id="20" name="TextBox 20"/>
            <p:cNvSpPr txBox="1"/>
            <p:nvPr/>
          </p:nvSpPr>
          <p:spPr>
            <a:xfrm>
              <a:off x="904875" y="4529138"/>
              <a:ext cx="41154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22145" y="4660582"/>
              <a:ext cx="2015557" cy="3038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NVIDIA P100 GPUs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27860" y="5033010"/>
              <a:ext cx="2457831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base step about 0.4 seconds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905500" y="2190750"/>
            <a:ext cx="4572000" cy="1104900"/>
            <a:chOff x="5905500" y="2190750"/>
            <a:chExt cx="4572000" cy="1104900"/>
          </a:xfrm>
        </p:grpSpPr>
        <p:sp>
          <p:nvSpPr>
            <p:cNvPr id="24" name="Rectangle 24"/>
            <p:cNvSpPr/>
            <p:nvPr/>
          </p:nvSpPr>
          <p:spPr>
            <a:xfrm>
              <a:off x="5905500" y="2190750"/>
              <a:ext cx="4572000" cy="1104900"/>
            </a:xfrm>
            <a:prstGeom prst="roundRect">
              <a:avLst>
                <a:gd name="adj" fmla="val 5172"/>
              </a:avLst>
            </a:prstGeom>
            <a:solidFill>
              <a:srgbClr val="FFFFFF"/>
            </a:solidFill>
            <a:ln w="11430">
              <a:solidFill>
                <a:srgbClr val="D9E4F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905500" y="2190750"/>
              <a:ext cx="66675" cy="11049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15050" y="2305050"/>
              <a:ext cx="41529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Optimization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15050" y="2647950"/>
              <a:ext cx="41529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Adam, beta1 = 0.9, beta2 = 0.98, epsilon = 1e-9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warmup + inverse square-root schedule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05500" y="3638550"/>
            <a:ext cx="4572000" cy="1104900"/>
            <a:chOff x="5905500" y="3638550"/>
            <a:chExt cx="4572000" cy="1104900"/>
          </a:xfrm>
        </p:grpSpPr>
        <p:sp>
          <p:nvSpPr>
            <p:cNvPr id="29" name="Rectangle 29"/>
            <p:cNvSpPr/>
            <p:nvPr/>
          </p:nvSpPr>
          <p:spPr>
            <a:xfrm>
              <a:off x="5905500" y="3638550"/>
              <a:ext cx="4572000" cy="1104900"/>
            </a:xfrm>
            <a:prstGeom prst="roundRect">
              <a:avLst>
                <a:gd name="adj" fmla="val 5172"/>
              </a:avLst>
            </a:prstGeom>
            <a:solidFill>
              <a:srgbClr val="FFFFFF"/>
            </a:solidFill>
            <a:ln w="11430">
              <a:solidFill>
                <a:srgbClr val="D9E4F2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905500" y="3638550"/>
              <a:ext cx="66675" cy="11049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15050" y="3752850"/>
              <a:ext cx="41529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Regularization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15050" y="4095750"/>
              <a:ext cx="41529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dropout、residual dropout、attention dropout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label smoothing epsilon_ls = 0.1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905500" y="5086350"/>
            <a:ext cx="4572000" cy="914400"/>
            <a:chOff x="5905500" y="5086350"/>
            <a:chExt cx="4572000" cy="914400"/>
          </a:xfrm>
        </p:grpSpPr>
        <p:sp>
          <p:nvSpPr>
            <p:cNvPr id="34" name="Rectangle 34"/>
            <p:cNvSpPr/>
            <p:nvPr/>
          </p:nvSpPr>
          <p:spPr>
            <a:xfrm>
              <a:off x="5905500" y="5086350"/>
              <a:ext cx="4572000" cy="9144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1430">
              <a:solidFill>
                <a:srgbClr val="D9E4F2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905500" y="5086350"/>
              <a:ext cx="66675" cy="9144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15050" y="5200650"/>
              <a:ext cx="41529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Inference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15050" y="5543550"/>
              <a:ext cx="41529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beam size = 4, length penalty alpha = 0.6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checkpoint averaging improves stability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439852"/>
            <a:ext cx="12192000" cy="427697"/>
            <a:chOff x="0" y="6439852"/>
            <a:chExt cx="12192000" cy="427697"/>
          </a:xfrm>
        </p:grpSpPr>
        <p:sp>
          <p:nvSpPr>
            <p:cNvPr id="39" name="Freeform 39"/>
            <p:cNvSpPr/>
            <p:nvPr/>
          </p:nvSpPr>
          <p:spPr>
            <a:xfrm>
              <a:off x="0" y="6791325"/>
              <a:ext cx="12192000" cy="66675"/>
            </a:xfrm>
            <a:custGeom>
              <a:avLst/>
              <a:gdLst/>
              <a:ahLst/>
              <a:cxnLst/>
              <a:rect l="l" t="t" r="r" b="b"/>
              <a:pathLst>
                <a:path w="12192000" h="66675">
                  <a:moveTo>
                    <a:pt x="0" y="0"/>
                  </a:moveTo>
                  <a:lnTo>
                    <a:pt x="11791950" y="0"/>
                  </a:lnTo>
                  <a:lnTo>
                    <a:pt x="11858625" y="38100"/>
                  </a:lnTo>
                  <a:lnTo>
                    <a:pt x="11925300" y="0"/>
                  </a:lnTo>
                  <a:lnTo>
                    <a:pt x="12192000" y="0"/>
                  </a:lnTo>
                  <a:lnTo>
                    <a:pt x="12192000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01015" y="6439852"/>
              <a:ext cx="7090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Section 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751852" y="6643978"/>
              <a:ext cx="213545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23850" y="248602"/>
            <a:ext cx="11544300" cy="599123"/>
            <a:chOff x="323850" y="248602"/>
            <a:chExt cx="11544300" cy="599123"/>
          </a:xfrm>
        </p:grpSpPr>
        <p:sp>
          <p:nvSpPr>
            <p:cNvPr id="3" name="Polygon 3"/>
            <p:cNvSpPr/>
            <p:nvPr/>
          </p:nvSpPr>
          <p:spPr>
            <a:xfrm>
              <a:off x="476250" y="733425"/>
              <a:ext cx="11239500" cy="76200"/>
            </a:xfrm>
            <a:custGeom>
              <a:avLst/>
              <a:gdLst/>
              <a:ahLst/>
              <a:cxnLst/>
              <a:rect l="l" t="t" r="r" b="b"/>
              <a:pathLst>
                <a:path w="11239500" h="76200">
                  <a:moveTo>
                    <a:pt x="19050" y="0"/>
                  </a:moveTo>
                  <a:lnTo>
                    <a:pt x="11220450" y="0"/>
                  </a:lnTo>
                  <a:lnTo>
                    <a:pt x="11239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>
                <a:alpha val="18000"/>
              </a:srgbClr>
            </a:solidFill>
            <a:ln>
              <a:noFill/>
            </a:ln>
          </p:spPr>
        </p:sp>
        <p:sp>
          <p:nvSpPr>
            <p:cNvPr id="4" name="Polygon 4"/>
            <p:cNvSpPr/>
            <p:nvPr/>
          </p:nvSpPr>
          <p:spPr>
            <a:xfrm>
              <a:off x="323850" y="771525"/>
              <a:ext cx="11544300" cy="76200"/>
            </a:xfrm>
            <a:custGeom>
              <a:avLst/>
              <a:gdLst/>
              <a:ahLst/>
              <a:cxnLst/>
              <a:rect l="l" t="t" r="r" b="b"/>
              <a:pathLst>
                <a:path w="11544300" h="76200">
                  <a:moveTo>
                    <a:pt x="19050" y="0"/>
                  </a:moveTo>
                  <a:lnTo>
                    <a:pt x="11525250" y="0"/>
                  </a:lnTo>
                  <a:lnTo>
                    <a:pt x="115443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81965" y="248602"/>
              <a:ext cx="1628966" cy="469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5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实验结果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32821" y="264795"/>
              <a:ext cx="7256259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r"/>
              <a:r>
                <a:rPr lang="zh-CN" sz="2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Transformer 在质量与训练成本上同时胜出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1104900"/>
            <a:ext cx="11163300" cy="704850"/>
            <a:chOff x="514350" y="1104900"/>
            <a:chExt cx="11163300" cy="704850"/>
          </a:xfrm>
        </p:grpSpPr>
        <p:sp>
          <p:nvSpPr>
            <p:cNvPr id="8" name="Rectangle 8"/>
            <p:cNvSpPr/>
            <p:nvPr/>
          </p:nvSpPr>
          <p:spPr>
            <a:xfrm>
              <a:off x="514350" y="1104900"/>
              <a:ext cx="11163300" cy="704850"/>
            </a:xfrm>
            <a:prstGeom prst="roundRect">
              <a:avLst>
                <a:gd name="adj" fmla="val 5405"/>
              </a:avLst>
            </a:prstGeom>
            <a:solidFill>
              <a:srgbClr val="F5F9FE"/>
            </a:solidFill>
            <a:ln w="9525">
              <a:solidFill>
                <a:srgbClr val="0D5DBE">
                  <a:alpha val="18000"/>
                </a:srgbClr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14350" y="1104900"/>
              <a:ext cx="76200" cy="70485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1050" y="1104900"/>
              <a:ext cx="10629900" cy="704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8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结果页的关键信息：不是只刷 BLEU，而是在更低训练成本下达到或超过当时 SOTA。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42950" y="2114550"/>
            <a:ext cx="5905500" cy="3238500"/>
            <a:chOff x="742950" y="2114550"/>
            <a:chExt cx="5905500" cy="3238500"/>
          </a:xfrm>
        </p:grpSpPr>
        <p:sp>
          <p:nvSpPr>
            <p:cNvPr id="12" name="Rectangle 12"/>
            <p:cNvSpPr/>
            <p:nvPr/>
          </p:nvSpPr>
          <p:spPr>
            <a:xfrm>
              <a:off x="742950" y="2114550"/>
              <a:ext cx="5905500" cy="3238500"/>
            </a:xfrm>
            <a:prstGeom prst="roundRect">
              <a:avLst>
                <a:gd name="adj" fmla="val 1765"/>
              </a:avLst>
            </a:prstGeom>
            <a:solidFill>
              <a:srgbClr val="FFFFFF"/>
            </a:solidFill>
            <a:ln w="13335">
              <a:solidFill>
                <a:srgbClr val="D9E4F2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7250" y="2360341"/>
              <a:ext cx="5676900" cy="2423067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895350" y="4933950"/>
              <a:ext cx="5600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Table 2: BLEU and training cost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153275" y="2471738"/>
            <a:ext cx="5697855" cy="762000"/>
            <a:chOff x="7153275" y="2471738"/>
            <a:chExt cx="5697855" cy="762000"/>
          </a:xfrm>
        </p:grpSpPr>
        <p:sp>
          <p:nvSpPr>
            <p:cNvPr id="16" name="TextBox 16"/>
            <p:cNvSpPr txBox="1"/>
            <p:nvPr/>
          </p:nvSpPr>
          <p:spPr>
            <a:xfrm>
              <a:off x="7153275" y="2471738"/>
              <a:ext cx="136040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28.4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70545" y="2603182"/>
              <a:ext cx="1370326" cy="3038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EN-DE BLEU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76260" y="2975610"/>
              <a:ext cx="467487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Transformer big surpasses prior ensembles by &gt;2 BLEU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53275" y="3519488"/>
            <a:ext cx="4970526" cy="762000"/>
            <a:chOff x="7153275" y="3519488"/>
            <a:chExt cx="4970526" cy="762000"/>
          </a:xfrm>
        </p:grpSpPr>
        <p:sp>
          <p:nvSpPr>
            <p:cNvPr id="20" name="TextBox 20"/>
            <p:cNvSpPr txBox="1"/>
            <p:nvPr/>
          </p:nvSpPr>
          <p:spPr>
            <a:xfrm>
              <a:off x="7153275" y="3519488"/>
              <a:ext cx="136040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41.0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70545" y="3650932"/>
              <a:ext cx="1370326" cy="3038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EN-FR BLEU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76260" y="4023360"/>
              <a:ext cx="3947541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new single-model state of the art at the time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153275" y="4567238"/>
            <a:ext cx="3726180" cy="762000"/>
            <a:chOff x="7153275" y="4567238"/>
            <a:chExt cx="3726180" cy="762000"/>
          </a:xfrm>
        </p:grpSpPr>
        <p:sp>
          <p:nvSpPr>
            <p:cNvPr id="24" name="TextBox 24"/>
            <p:cNvSpPr txBox="1"/>
            <p:nvPr/>
          </p:nvSpPr>
          <p:spPr>
            <a:xfrm>
              <a:off x="7153275" y="4567238"/>
              <a:ext cx="136040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3.5d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70545" y="4698682"/>
              <a:ext cx="2217982" cy="3038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big model training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76260" y="5071110"/>
              <a:ext cx="2703195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8 P100 GPUs for EN-DE big model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6439852"/>
            <a:ext cx="12192000" cy="427697"/>
            <a:chOff x="0" y="6439852"/>
            <a:chExt cx="12192000" cy="427697"/>
          </a:xfrm>
        </p:grpSpPr>
        <p:sp>
          <p:nvSpPr>
            <p:cNvPr id="28" name="Freeform 28"/>
            <p:cNvSpPr/>
            <p:nvPr/>
          </p:nvSpPr>
          <p:spPr>
            <a:xfrm>
              <a:off x="0" y="6791325"/>
              <a:ext cx="12192000" cy="66675"/>
            </a:xfrm>
            <a:custGeom>
              <a:avLst/>
              <a:gdLst/>
              <a:ahLst/>
              <a:cxnLst/>
              <a:rect l="l" t="t" r="r" b="b"/>
              <a:pathLst>
                <a:path w="12192000" h="66675">
                  <a:moveTo>
                    <a:pt x="0" y="0"/>
                  </a:moveTo>
                  <a:lnTo>
                    <a:pt x="11791950" y="0"/>
                  </a:lnTo>
                  <a:lnTo>
                    <a:pt x="11858625" y="38100"/>
                  </a:lnTo>
                  <a:lnTo>
                    <a:pt x="11925300" y="0"/>
                  </a:lnTo>
                  <a:lnTo>
                    <a:pt x="12192000" y="0"/>
                  </a:lnTo>
                  <a:lnTo>
                    <a:pt x="12192000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01015" y="6439852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Section 6.1 and Table 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751852" y="6643978"/>
              <a:ext cx="213545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23850" y="248602"/>
            <a:ext cx="11544300" cy="599123"/>
            <a:chOff x="323850" y="248602"/>
            <a:chExt cx="11544300" cy="599123"/>
          </a:xfrm>
        </p:grpSpPr>
        <p:sp>
          <p:nvSpPr>
            <p:cNvPr id="3" name="Polygon 3"/>
            <p:cNvSpPr/>
            <p:nvPr/>
          </p:nvSpPr>
          <p:spPr>
            <a:xfrm>
              <a:off x="476250" y="733425"/>
              <a:ext cx="11239500" cy="76200"/>
            </a:xfrm>
            <a:custGeom>
              <a:avLst/>
              <a:gdLst/>
              <a:ahLst/>
              <a:cxnLst/>
              <a:rect l="l" t="t" r="r" b="b"/>
              <a:pathLst>
                <a:path w="11239500" h="76200">
                  <a:moveTo>
                    <a:pt x="19050" y="0"/>
                  </a:moveTo>
                  <a:lnTo>
                    <a:pt x="11220450" y="0"/>
                  </a:lnTo>
                  <a:lnTo>
                    <a:pt x="11239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>
                <a:alpha val="18000"/>
              </a:srgbClr>
            </a:solidFill>
            <a:ln>
              <a:noFill/>
            </a:ln>
          </p:spPr>
        </p:sp>
        <p:sp>
          <p:nvSpPr>
            <p:cNvPr id="4" name="Polygon 4"/>
            <p:cNvSpPr/>
            <p:nvPr/>
          </p:nvSpPr>
          <p:spPr>
            <a:xfrm>
              <a:off x="323850" y="771525"/>
              <a:ext cx="11544300" cy="76200"/>
            </a:xfrm>
            <a:custGeom>
              <a:avLst/>
              <a:gdLst/>
              <a:ahLst/>
              <a:cxnLst/>
              <a:rect l="l" t="t" r="r" b="b"/>
              <a:pathLst>
                <a:path w="11544300" h="76200">
                  <a:moveTo>
                    <a:pt x="19050" y="0"/>
                  </a:moveTo>
                  <a:lnTo>
                    <a:pt x="11525250" y="0"/>
                  </a:lnTo>
                  <a:lnTo>
                    <a:pt x="115443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81965" y="248602"/>
              <a:ext cx="1628966" cy="469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5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消融分析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003292" y="264795"/>
              <a:ext cx="668578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r"/>
              <a:r>
                <a:rPr lang="zh-CN" sz="2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多头不是装饰，容量与正则共同决定效果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1104900"/>
            <a:ext cx="11163300" cy="704850"/>
            <a:chOff x="514350" y="1104900"/>
            <a:chExt cx="11163300" cy="704850"/>
          </a:xfrm>
        </p:grpSpPr>
        <p:sp>
          <p:nvSpPr>
            <p:cNvPr id="8" name="Rectangle 8"/>
            <p:cNvSpPr/>
            <p:nvPr/>
          </p:nvSpPr>
          <p:spPr>
            <a:xfrm>
              <a:off x="514350" y="1104900"/>
              <a:ext cx="11163300" cy="704850"/>
            </a:xfrm>
            <a:prstGeom prst="roundRect">
              <a:avLst>
                <a:gd name="adj" fmla="val 5405"/>
              </a:avLst>
            </a:prstGeom>
            <a:solidFill>
              <a:srgbClr val="F5F9FE"/>
            </a:solidFill>
            <a:ln w="9525">
              <a:solidFill>
                <a:srgbClr val="0D5DBE">
                  <a:alpha val="18000"/>
                </a:srgbClr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14350" y="1104900"/>
              <a:ext cx="76200" cy="70485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1050" y="1104900"/>
              <a:ext cx="10629900" cy="704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8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Table 3 把论文从“一个结构故事”推进到“哪些设计真的重要”。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23900" y="2076450"/>
            <a:ext cx="5810250" cy="3714750"/>
            <a:chOff x="723900" y="2076450"/>
            <a:chExt cx="5810250" cy="3714750"/>
          </a:xfrm>
        </p:grpSpPr>
        <p:sp>
          <p:nvSpPr>
            <p:cNvPr id="12" name="Rectangle 12"/>
            <p:cNvSpPr/>
            <p:nvPr/>
          </p:nvSpPr>
          <p:spPr>
            <a:xfrm>
              <a:off x="723900" y="2076450"/>
              <a:ext cx="5810250" cy="3714750"/>
            </a:xfrm>
            <a:prstGeom prst="roundRect">
              <a:avLst>
                <a:gd name="adj" fmla="val 1538"/>
              </a:avLst>
            </a:prstGeom>
            <a:solidFill>
              <a:srgbClr val="FFFFFF"/>
            </a:solidFill>
            <a:ln w="13335">
              <a:solidFill>
                <a:srgbClr val="D9E4F2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1823" y="2190750"/>
              <a:ext cx="4974404" cy="31623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876300" y="5372100"/>
              <a:ext cx="55054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Table 3: model variations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000875" y="2428875"/>
            <a:ext cx="4257675" cy="457200"/>
            <a:chOff x="7000875" y="2428875"/>
            <a:chExt cx="4257675" cy="457200"/>
          </a:xfrm>
        </p:grpSpPr>
        <p:sp>
          <p:nvSpPr>
            <p:cNvPr id="16" name="Ellipse 16"/>
            <p:cNvSpPr/>
            <p:nvPr/>
          </p:nvSpPr>
          <p:spPr>
            <a:xfrm>
              <a:off x="7000875" y="2514600"/>
              <a:ext cx="95250" cy="95250"/>
            </a:xfrm>
            <a:prstGeom prst="ellipse">
              <a:avLst/>
            </a:prstGeom>
            <a:solidFill>
              <a:srgbClr val="0D5DBE">
                <a:alpha val="78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58050" y="2428875"/>
              <a:ext cx="4000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减少 attention key/value 维度会伤害质量。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000875" y="2886075"/>
            <a:ext cx="4257675" cy="457200"/>
            <a:chOff x="7000875" y="2886075"/>
            <a:chExt cx="4257675" cy="457200"/>
          </a:xfrm>
        </p:grpSpPr>
        <p:sp>
          <p:nvSpPr>
            <p:cNvPr id="19" name="Ellipse 19"/>
            <p:cNvSpPr/>
            <p:nvPr/>
          </p:nvSpPr>
          <p:spPr>
            <a:xfrm>
              <a:off x="7000875" y="2971800"/>
              <a:ext cx="95250" cy="95250"/>
            </a:xfrm>
            <a:prstGeom prst="ellipse">
              <a:avLst/>
            </a:prstGeom>
            <a:solidFill>
              <a:srgbClr val="0D5DBE">
                <a:alpha val="78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58050" y="2886075"/>
              <a:ext cx="4000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更大模型通常更好，big 配置达到更低 PPL。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000875" y="3343275"/>
            <a:ext cx="4257675" cy="457200"/>
            <a:chOff x="7000875" y="3343275"/>
            <a:chExt cx="4257675" cy="457200"/>
          </a:xfrm>
        </p:grpSpPr>
        <p:sp>
          <p:nvSpPr>
            <p:cNvPr id="22" name="Ellipse 22"/>
            <p:cNvSpPr/>
            <p:nvPr/>
          </p:nvSpPr>
          <p:spPr>
            <a:xfrm>
              <a:off x="7000875" y="3429000"/>
              <a:ext cx="95250" cy="95250"/>
            </a:xfrm>
            <a:prstGeom prst="ellipse">
              <a:avLst/>
            </a:prstGeom>
            <a:solidFill>
              <a:srgbClr val="0D5DBE">
                <a:alpha val="78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58050" y="3343275"/>
              <a:ext cx="4000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dropout 对防止过拟合很关键。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000875" y="3800475"/>
            <a:ext cx="4257675" cy="457200"/>
            <a:chOff x="7000875" y="3800475"/>
            <a:chExt cx="4257675" cy="457200"/>
          </a:xfrm>
        </p:grpSpPr>
        <p:sp>
          <p:nvSpPr>
            <p:cNvPr id="25" name="Ellipse 25"/>
            <p:cNvSpPr/>
            <p:nvPr/>
          </p:nvSpPr>
          <p:spPr>
            <a:xfrm>
              <a:off x="7000875" y="3886200"/>
              <a:ext cx="95250" cy="95250"/>
            </a:xfrm>
            <a:prstGeom prst="ellipse">
              <a:avLst/>
            </a:prstGeom>
            <a:solidFill>
              <a:srgbClr val="0D5DBE">
                <a:alpha val="78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58050" y="3800475"/>
              <a:ext cx="4000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learned 与 sinusoidal PE 结果接近。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6439852"/>
            <a:ext cx="12192000" cy="427697"/>
            <a:chOff x="0" y="6439852"/>
            <a:chExt cx="12192000" cy="427697"/>
          </a:xfrm>
        </p:grpSpPr>
        <p:sp>
          <p:nvSpPr>
            <p:cNvPr id="28" name="Freeform 28"/>
            <p:cNvSpPr/>
            <p:nvPr/>
          </p:nvSpPr>
          <p:spPr>
            <a:xfrm>
              <a:off x="0" y="6791325"/>
              <a:ext cx="12192000" cy="66675"/>
            </a:xfrm>
            <a:custGeom>
              <a:avLst/>
              <a:gdLst/>
              <a:ahLst/>
              <a:cxnLst/>
              <a:rect l="l" t="t" r="r" b="b"/>
              <a:pathLst>
                <a:path w="12192000" h="66675">
                  <a:moveTo>
                    <a:pt x="0" y="0"/>
                  </a:moveTo>
                  <a:lnTo>
                    <a:pt x="11791950" y="0"/>
                  </a:lnTo>
                  <a:lnTo>
                    <a:pt x="11858625" y="38100"/>
                  </a:lnTo>
                  <a:lnTo>
                    <a:pt x="11925300" y="0"/>
                  </a:lnTo>
                  <a:lnTo>
                    <a:pt x="12192000" y="0"/>
                  </a:lnTo>
                  <a:lnTo>
                    <a:pt x="12192000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01015" y="6439852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Section 6.2 and Table 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751852" y="6643978"/>
              <a:ext cx="213545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23850" y="248602"/>
            <a:ext cx="11544300" cy="599123"/>
            <a:chOff x="323850" y="248602"/>
            <a:chExt cx="11544300" cy="599123"/>
          </a:xfrm>
        </p:grpSpPr>
        <p:sp>
          <p:nvSpPr>
            <p:cNvPr id="3" name="Polygon 3"/>
            <p:cNvSpPr/>
            <p:nvPr/>
          </p:nvSpPr>
          <p:spPr>
            <a:xfrm>
              <a:off x="476250" y="733425"/>
              <a:ext cx="11239500" cy="76200"/>
            </a:xfrm>
            <a:custGeom>
              <a:avLst/>
              <a:gdLst/>
              <a:ahLst/>
              <a:cxnLst/>
              <a:rect l="l" t="t" r="r" b="b"/>
              <a:pathLst>
                <a:path w="11239500" h="76200">
                  <a:moveTo>
                    <a:pt x="19050" y="0"/>
                  </a:moveTo>
                  <a:lnTo>
                    <a:pt x="11220450" y="0"/>
                  </a:lnTo>
                  <a:lnTo>
                    <a:pt x="11239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>
                <a:alpha val="18000"/>
              </a:srgbClr>
            </a:solidFill>
            <a:ln>
              <a:noFill/>
            </a:ln>
          </p:spPr>
        </p:sp>
        <p:sp>
          <p:nvSpPr>
            <p:cNvPr id="4" name="Polygon 4"/>
            <p:cNvSpPr/>
            <p:nvPr/>
          </p:nvSpPr>
          <p:spPr>
            <a:xfrm>
              <a:off x="323850" y="771525"/>
              <a:ext cx="11544300" cy="76200"/>
            </a:xfrm>
            <a:custGeom>
              <a:avLst/>
              <a:gdLst/>
              <a:ahLst/>
              <a:cxnLst/>
              <a:rect l="l" t="t" r="r" b="b"/>
              <a:pathLst>
                <a:path w="11544300" h="76200">
                  <a:moveTo>
                    <a:pt x="19050" y="0"/>
                  </a:moveTo>
                  <a:lnTo>
                    <a:pt x="11525250" y="0"/>
                  </a:lnTo>
                  <a:lnTo>
                    <a:pt x="115443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81965" y="248602"/>
              <a:ext cx="1628966" cy="469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55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讨论启发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39384" y="264795"/>
              <a:ext cx="5949696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r"/>
              <a:r>
                <a:rPr lang="zh-CN" sz="24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从机器翻译论文到通用序列建模范式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1104900"/>
            <a:ext cx="11163300" cy="704850"/>
            <a:chOff x="514350" y="1104900"/>
            <a:chExt cx="11163300" cy="704850"/>
          </a:xfrm>
        </p:grpSpPr>
        <p:sp>
          <p:nvSpPr>
            <p:cNvPr id="8" name="Rectangle 8"/>
            <p:cNvSpPr/>
            <p:nvPr/>
          </p:nvSpPr>
          <p:spPr>
            <a:xfrm>
              <a:off x="514350" y="1104900"/>
              <a:ext cx="11163300" cy="704850"/>
            </a:xfrm>
            <a:prstGeom prst="roundRect">
              <a:avLst>
                <a:gd name="adj" fmla="val 5405"/>
              </a:avLst>
            </a:prstGeom>
            <a:solidFill>
              <a:srgbClr val="F5F9FE"/>
            </a:solidFill>
            <a:ln w="9525">
              <a:solidFill>
                <a:srgbClr val="0D5DBE">
                  <a:alpha val="18000"/>
                </a:srgbClr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14350" y="1104900"/>
              <a:ext cx="76200" cy="70485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1050" y="1104900"/>
              <a:ext cx="10629900" cy="704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8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Transformer 的历史地位来自三件事：架构替换、并行效率、可扩展模块化。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38200" y="2209800"/>
            <a:ext cx="3143250" cy="1676400"/>
            <a:chOff x="838200" y="2209800"/>
            <a:chExt cx="3143250" cy="1676400"/>
          </a:xfrm>
        </p:grpSpPr>
        <p:sp>
          <p:nvSpPr>
            <p:cNvPr id="12" name="Rectangle 12"/>
            <p:cNvSpPr/>
            <p:nvPr/>
          </p:nvSpPr>
          <p:spPr>
            <a:xfrm>
              <a:off x="838200" y="2209800"/>
              <a:ext cx="3143250" cy="1676400"/>
            </a:xfrm>
            <a:prstGeom prst="roundRect">
              <a:avLst>
                <a:gd name="adj" fmla="val 3409"/>
              </a:avLst>
            </a:prstGeom>
            <a:solidFill>
              <a:srgbClr val="FFFFFF"/>
            </a:solidFill>
            <a:ln w="11430">
              <a:solidFill>
                <a:srgbClr val="D9E4F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38200" y="2209800"/>
              <a:ext cx="66675" cy="16764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7750" y="2324100"/>
              <a:ext cx="27241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1. 架构范式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7750" y="2667000"/>
              <a:ext cx="272415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第一个完全基于 self-attention 的序列转导模型。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把 attention 从辅助机制提升为主干。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514850" y="2209800"/>
            <a:ext cx="3143250" cy="1676400"/>
            <a:chOff x="4514850" y="2209800"/>
            <a:chExt cx="3143250" cy="1676400"/>
          </a:xfrm>
        </p:grpSpPr>
        <p:sp>
          <p:nvSpPr>
            <p:cNvPr id="17" name="Rectangle 17"/>
            <p:cNvSpPr/>
            <p:nvPr/>
          </p:nvSpPr>
          <p:spPr>
            <a:xfrm>
              <a:off x="4514850" y="2209800"/>
              <a:ext cx="3143250" cy="1676400"/>
            </a:xfrm>
            <a:prstGeom prst="roundRect">
              <a:avLst>
                <a:gd name="adj" fmla="val 3409"/>
              </a:avLst>
            </a:prstGeom>
            <a:solidFill>
              <a:srgbClr val="FFFFFF"/>
            </a:solidFill>
            <a:ln w="11430">
              <a:solidFill>
                <a:srgbClr val="D9E4F2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514850" y="2209800"/>
              <a:ext cx="66675" cy="16764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24400" y="2324100"/>
              <a:ext cx="27241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2. 计算范式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24400" y="2667000"/>
              <a:ext cx="272415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训练样本内部高度并行。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远距离依赖路径长度降为常数。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91500" y="2209800"/>
            <a:ext cx="3143250" cy="1676400"/>
            <a:chOff x="8191500" y="2209800"/>
            <a:chExt cx="3143250" cy="1676400"/>
          </a:xfrm>
        </p:grpSpPr>
        <p:sp>
          <p:nvSpPr>
            <p:cNvPr id="22" name="Rectangle 22"/>
            <p:cNvSpPr/>
            <p:nvPr/>
          </p:nvSpPr>
          <p:spPr>
            <a:xfrm>
              <a:off x="8191500" y="2209800"/>
              <a:ext cx="3143250" cy="1676400"/>
            </a:xfrm>
            <a:prstGeom prst="roundRect">
              <a:avLst>
                <a:gd name="adj" fmla="val 3409"/>
              </a:avLst>
            </a:prstGeom>
            <a:solidFill>
              <a:srgbClr val="FFFFFF"/>
            </a:solidFill>
            <a:ln w="11430">
              <a:solidFill>
                <a:srgbClr val="D9E4F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191500" y="2209800"/>
              <a:ext cx="66675" cy="1676400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01050" y="2324100"/>
              <a:ext cx="27241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3. 影响范式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01050" y="2667000"/>
              <a:ext cx="272415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奠定后续大规模语言模型的核心模块。</a:t>
              </a:r>
            </a:p>
            <a:p>
              <a:pPr algn="l"/>
              <a:r>
                <a:rPr lang="zh-CN" sz="12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也暴露长上下文 O(n^2) 瓶颈。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81100" y="4591050"/>
            <a:ext cx="9715500" cy="990600"/>
            <a:chOff x="1181100" y="4591050"/>
            <a:chExt cx="9715500" cy="990600"/>
          </a:xfrm>
        </p:grpSpPr>
        <p:sp>
          <p:nvSpPr>
            <p:cNvPr id="27" name="TextBox 27"/>
            <p:cNvSpPr txBox="1"/>
            <p:nvPr/>
          </p:nvSpPr>
          <p:spPr>
            <a:xfrm>
              <a:off x="1181100" y="4591050"/>
              <a:ext cx="9715500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汇报结论：这篇论文的真正贡献不是“注意力更准”，</a:t>
              </a:r>
            </a:p>
            <a:p>
              <a:pPr algn="l"/>
              <a:r>
                <a:rPr lang="zh-CN" sz="2250" b="1" dirty="0">
                  <a:solidFill>
                    <a:srgbClr val="0E2841"/>
                  </a:solidFill>
                  <a:latin typeface="Arial"/>
                  <a:ea typeface="Microsoft YaHei"/>
                  <a:cs typeface="Arial"/>
                </a:rPr>
                <a:t>而是证明了注意力可以成为通用序列建模架构的主计算单元。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0" y="6439852"/>
            <a:ext cx="12192000" cy="427697"/>
            <a:chOff x="0" y="6439852"/>
            <a:chExt cx="12192000" cy="427697"/>
          </a:xfrm>
        </p:grpSpPr>
        <p:sp>
          <p:nvSpPr>
            <p:cNvPr id="29" name="Freeform 29"/>
            <p:cNvSpPr/>
            <p:nvPr/>
          </p:nvSpPr>
          <p:spPr>
            <a:xfrm>
              <a:off x="0" y="6791325"/>
              <a:ext cx="12192000" cy="66675"/>
            </a:xfrm>
            <a:custGeom>
              <a:avLst/>
              <a:gdLst/>
              <a:ahLst/>
              <a:cxnLst/>
              <a:rect l="l" t="t" r="r" b="b"/>
              <a:pathLst>
                <a:path w="12192000" h="66675">
                  <a:moveTo>
                    <a:pt x="0" y="0"/>
                  </a:moveTo>
                  <a:lnTo>
                    <a:pt x="11791950" y="0"/>
                  </a:lnTo>
                  <a:lnTo>
                    <a:pt x="11858625" y="38100"/>
                  </a:lnTo>
                  <a:lnTo>
                    <a:pt x="11925300" y="0"/>
                  </a:lnTo>
                  <a:lnTo>
                    <a:pt x="12192000" y="0"/>
                  </a:lnTo>
                  <a:lnTo>
                    <a:pt x="12192000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1015" y="6439852"/>
              <a:ext cx="27103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Conclusion and paper interpretation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751852" y="6643978"/>
              <a:ext cx="213545" cy="223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0D5DBE"/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1849088"/>
            <a:ext cx="12192000" cy="2854928"/>
            <a:chOff x="0" y="1849088"/>
            <a:chExt cx="12192000" cy="2854928"/>
          </a:xfrm>
        </p:grpSpPr>
        <p:sp>
          <p:nvSpPr>
            <p:cNvPr id="3" name="Rectangle 3"/>
            <p:cNvSpPr/>
            <p:nvPr/>
          </p:nvSpPr>
          <p:spPr>
            <a:xfrm>
              <a:off x="0" y="1849088"/>
              <a:ext cx="12192000" cy="2854928"/>
            </a:xfrm>
            <a:prstGeom prst="rect">
              <a:avLst/>
            </a:prstGeom>
            <a:solidFill>
              <a:srgbClr val="0D5DBE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2316480" y="3656933"/>
              <a:ext cx="7565136" cy="9525"/>
            </a:xfrm>
            <a:custGeom>
              <a:avLst/>
              <a:gdLst/>
              <a:ahLst/>
              <a:cxnLst/>
              <a:rect l="l" t="t" r="r" b="b"/>
              <a:pathLst>
                <a:path w="7565136" h="9525">
                  <a:moveTo>
                    <a:pt x="0" y="0"/>
                  </a:moveTo>
                  <a:lnTo>
                    <a:pt x="7565136" y="0"/>
                  </a:lnTo>
                </a:path>
              </a:pathLst>
            </a:custGeom>
            <a:noFill/>
            <a:ln w="38100">
              <a:solidFill>
                <a:srgbClr val="C6D9F1">
                  <a:alpha val="50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2156460" y="2549176"/>
            <a:ext cx="7879080" cy="1015651"/>
            <a:chOff x="2156460" y="2549176"/>
            <a:chExt cx="7879080" cy="1015651"/>
          </a:xfrm>
        </p:grpSpPr>
        <p:sp>
          <p:nvSpPr>
            <p:cNvPr id="6" name="Rectangle 6"/>
            <p:cNvSpPr/>
            <p:nvPr/>
          </p:nvSpPr>
          <p:spPr>
            <a:xfrm>
              <a:off x="2156460" y="2549176"/>
              <a:ext cx="7879080" cy="101565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156460" y="2549176"/>
              <a:ext cx="7879080" cy="10156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5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敬请批评指正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05150" y="3850862"/>
            <a:ext cx="5981700" cy="461677"/>
            <a:chOff x="3105150" y="3850862"/>
            <a:chExt cx="5981700" cy="461677"/>
          </a:xfrm>
        </p:grpSpPr>
        <p:sp>
          <p:nvSpPr>
            <p:cNvPr id="9" name="Rectangle 9"/>
            <p:cNvSpPr/>
            <p:nvPr/>
          </p:nvSpPr>
          <p:spPr>
            <a:xfrm>
              <a:off x="3105150" y="3850862"/>
              <a:ext cx="5981700" cy="46167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105150" y="3850862"/>
              <a:ext cx="5981700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2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Q&amp;A | Attention Is All You Need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547777" y="5614988"/>
            <a:ext cx="7248715" cy="369188"/>
            <a:chOff x="3547777" y="5614988"/>
            <a:chExt cx="7248715" cy="369188"/>
          </a:xfrm>
        </p:grpSpPr>
        <p:sp>
          <p:nvSpPr>
            <p:cNvPr id="12" name="Freeform 12"/>
            <p:cNvSpPr/>
            <p:nvPr/>
          </p:nvSpPr>
          <p:spPr>
            <a:xfrm>
              <a:off x="3547777" y="5678043"/>
              <a:ext cx="330708" cy="246126"/>
            </a:xfrm>
            <a:custGeom>
              <a:avLst/>
              <a:gdLst/>
              <a:ahLst/>
              <a:cxnLst/>
              <a:rect l="l" t="t" r="r" b="b"/>
              <a:pathLst>
                <a:path w="330708" h="246126">
                  <a:moveTo>
                    <a:pt x="5905" y="184118"/>
                  </a:moveTo>
                  <a:lnTo>
                    <a:pt x="31909" y="184118"/>
                  </a:lnTo>
                  <a:lnTo>
                    <a:pt x="37528" y="236982"/>
                  </a:lnTo>
                  <a:cubicBezTo>
                    <a:pt x="37814" y="239268"/>
                    <a:pt x="37052" y="241554"/>
                    <a:pt x="35528" y="243364"/>
                  </a:cubicBezTo>
                  <a:cubicBezTo>
                    <a:pt x="33909" y="245078"/>
                    <a:pt x="31623" y="246126"/>
                    <a:pt x="29146" y="246126"/>
                  </a:cubicBezTo>
                  <a:lnTo>
                    <a:pt x="8668" y="246126"/>
                  </a:lnTo>
                  <a:cubicBezTo>
                    <a:pt x="6382" y="246126"/>
                    <a:pt x="4096" y="245078"/>
                    <a:pt x="2572" y="243364"/>
                  </a:cubicBezTo>
                  <a:cubicBezTo>
                    <a:pt x="762" y="241554"/>
                    <a:pt x="0" y="239268"/>
                    <a:pt x="286" y="236982"/>
                  </a:cubicBezTo>
                  <a:close/>
                  <a:moveTo>
                    <a:pt x="293179" y="106108"/>
                  </a:moveTo>
                  <a:cubicBezTo>
                    <a:pt x="293179" y="106108"/>
                    <a:pt x="300323" y="171164"/>
                    <a:pt x="300323" y="171926"/>
                  </a:cubicBezTo>
                  <a:cubicBezTo>
                    <a:pt x="300609" y="176784"/>
                    <a:pt x="296513" y="180308"/>
                    <a:pt x="291941" y="180308"/>
                  </a:cubicBezTo>
                  <a:cubicBezTo>
                    <a:pt x="291655" y="180308"/>
                    <a:pt x="290893" y="180308"/>
                    <a:pt x="290322" y="180308"/>
                  </a:cubicBezTo>
                  <a:cubicBezTo>
                    <a:pt x="283750" y="179356"/>
                    <a:pt x="276796" y="178784"/>
                    <a:pt x="269938" y="178784"/>
                  </a:cubicBezTo>
                  <a:cubicBezTo>
                    <a:pt x="229076" y="178784"/>
                    <a:pt x="192595" y="196120"/>
                    <a:pt x="178975" y="221647"/>
                  </a:cubicBezTo>
                  <a:cubicBezTo>
                    <a:pt x="177736" y="224409"/>
                    <a:pt x="174688" y="226219"/>
                    <a:pt x="171640" y="226219"/>
                  </a:cubicBezTo>
                  <a:lnTo>
                    <a:pt x="169069" y="226219"/>
                  </a:lnTo>
                  <a:cubicBezTo>
                    <a:pt x="165735" y="226219"/>
                    <a:pt x="162877" y="224409"/>
                    <a:pt x="161353" y="221647"/>
                  </a:cubicBezTo>
                  <a:cubicBezTo>
                    <a:pt x="147828" y="195929"/>
                    <a:pt x="111347" y="178784"/>
                    <a:pt x="70485" y="178784"/>
                  </a:cubicBezTo>
                  <a:cubicBezTo>
                    <a:pt x="63532" y="178784"/>
                    <a:pt x="56674" y="179356"/>
                    <a:pt x="50006" y="180308"/>
                  </a:cubicBezTo>
                  <a:cubicBezTo>
                    <a:pt x="47530" y="180594"/>
                    <a:pt x="44672" y="179832"/>
                    <a:pt x="42862" y="177736"/>
                  </a:cubicBezTo>
                  <a:cubicBezTo>
                    <a:pt x="40862" y="176022"/>
                    <a:pt x="40100" y="173450"/>
                    <a:pt x="40291" y="170688"/>
                  </a:cubicBezTo>
                  <a:lnTo>
                    <a:pt x="47530" y="106585"/>
                  </a:lnTo>
                  <a:lnTo>
                    <a:pt x="170307" y="152781"/>
                  </a:lnTo>
                  <a:close/>
                  <a:moveTo>
                    <a:pt x="167259" y="762"/>
                  </a:moveTo>
                  <a:cubicBezTo>
                    <a:pt x="169354" y="0"/>
                    <a:pt x="171355" y="0"/>
                    <a:pt x="173164" y="762"/>
                  </a:cubicBezTo>
                  <a:lnTo>
                    <a:pt x="325088" y="57912"/>
                  </a:lnTo>
                  <a:cubicBezTo>
                    <a:pt x="328422" y="59150"/>
                    <a:pt x="330708" y="62293"/>
                    <a:pt x="330708" y="65818"/>
                  </a:cubicBezTo>
                  <a:cubicBezTo>
                    <a:pt x="330708" y="69342"/>
                    <a:pt x="328422" y="72485"/>
                    <a:pt x="325088" y="73724"/>
                  </a:cubicBezTo>
                  <a:lnTo>
                    <a:pt x="173164" y="130874"/>
                  </a:lnTo>
                  <a:cubicBezTo>
                    <a:pt x="171355" y="131636"/>
                    <a:pt x="169354" y="131636"/>
                    <a:pt x="167259" y="130874"/>
                  </a:cubicBezTo>
                  <a:lnTo>
                    <a:pt x="28575" y="78867"/>
                  </a:lnTo>
                  <a:lnTo>
                    <a:pt x="28575" y="169354"/>
                  </a:lnTo>
                  <a:lnTo>
                    <a:pt x="9430" y="169354"/>
                  </a:lnTo>
                  <a:lnTo>
                    <a:pt x="9430" y="65818"/>
                  </a:lnTo>
                  <a:cubicBezTo>
                    <a:pt x="9430" y="62484"/>
                    <a:pt x="11525" y="59150"/>
                    <a:pt x="14764" y="57912"/>
                  </a:cubicBez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94309" y="5614988"/>
              <a:ext cx="3429000" cy="354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汇报人：</a:t>
              </a:r>
              <a:r>
                <a:rPr lang="zh-CN" sz="18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梁同学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7026307" y="5676710"/>
              <a:ext cx="257080" cy="265176"/>
            </a:xfrm>
            <a:custGeom>
              <a:avLst/>
              <a:gdLst/>
              <a:ahLst/>
              <a:cxnLst/>
              <a:rect l="l" t="t" r="r" b="b"/>
              <a:pathLst>
                <a:path w="257080" h="265176">
                  <a:moveTo>
                    <a:pt x="206407" y="240316"/>
                  </a:moveTo>
                  <a:lnTo>
                    <a:pt x="217170" y="254984"/>
                  </a:lnTo>
                  <a:lnTo>
                    <a:pt x="202025" y="265176"/>
                  </a:lnTo>
                  <a:lnTo>
                    <a:pt x="191262" y="250412"/>
                  </a:lnTo>
                  <a:cubicBezTo>
                    <a:pt x="196596" y="247364"/>
                    <a:pt x="201644" y="243935"/>
                    <a:pt x="206407" y="240316"/>
                  </a:cubicBezTo>
                  <a:close/>
                  <a:moveTo>
                    <a:pt x="50673" y="240316"/>
                  </a:moveTo>
                  <a:cubicBezTo>
                    <a:pt x="55436" y="243935"/>
                    <a:pt x="60484" y="247364"/>
                    <a:pt x="65723" y="250412"/>
                  </a:cubicBezTo>
                  <a:lnTo>
                    <a:pt x="54959" y="265176"/>
                  </a:lnTo>
                  <a:lnTo>
                    <a:pt x="39910" y="254984"/>
                  </a:lnTo>
                  <a:close/>
                  <a:moveTo>
                    <a:pt x="118872" y="89630"/>
                  </a:moveTo>
                  <a:lnTo>
                    <a:pt x="118872" y="152210"/>
                  </a:lnTo>
                  <a:lnTo>
                    <a:pt x="164973" y="196501"/>
                  </a:lnTo>
                  <a:lnTo>
                    <a:pt x="178022" y="184023"/>
                  </a:lnTo>
                  <a:lnTo>
                    <a:pt x="137351" y="144875"/>
                  </a:lnTo>
                  <a:lnTo>
                    <a:pt x="137351" y="89630"/>
                  </a:lnTo>
                  <a:close/>
                  <a:moveTo>
                    <a:pt x="128492" y="48768"/>
                  </a:moveTo>
                  <a:cubicBezTo>
                    <a:pt x="186119" y="48768"/>
                    <a:pt x="232886" y="93535"/>
                    <a:pt x="232886" y="148876"/>
                  </a:cubicBezTo>
                  <a:cubicBezTo>
                    <a:pt x="232886" y="204216"/>
                    <a:pt x="186119" y="248983"/>
                    <a:pt x="128492" y="248983"/>
                  </a:cubicBezTo>
                  <a:cubicBezTo>
                    <a:pt x="70866" y="248983"/>
                    <a:pt x="24098" y="204216"/>
                    <a:pt x="24098" y="148876"/>
                  </a:cubicBezTo>
                  <a:cubicBezTo>
                    <a:pt x="24098" y="93535"/>
                    <a:pt x="70866" y="48768"/>
                    <a:pt x="128492" y="48768"/>
                  </a:cubicBezTo>
                  <a:close/>
                  <a:moveTo>
                    <a:pt x="186785" y="2286"/>
                  </a:moveTo>
                  <a:cubicBezTo>
                    <a:pt x="200311" y="0"/>
                    <a:pt x="214789" y="2667"/>
                    <a:pt x="226886" y="10858"/>
                  </a:cubicBezTo>
                  <a:cubicBezTo>
                    <a:pt x="251174" y="27146"/>
                    <a:pt x="257080" y="59246"/>
                    <a:pt x="240030" y="82582"/>
                  </a:cubicBezTo>
                  <a:lnTo>
                    <a:pt x="152114" y="23527"/>
                  </a:lnTo>
                  <a:cubicBezTo>
                    <a:pt x="160687" y="11906"/>
                    <a:pt x="173260" y="4667"/>
                    <a:pt x="186785" y="2286"/>
                  </a:cubicBezTo>
                  <a:close/>
                  <a:moveTo>
                    <a:pt x="70294" y="2286"/>
                  </a:moveTo>
                  <a:cubicBezTo>
                    <a:pt x="83820" y="4667"/>
                    <a:pt x="96393" y="11906"/>
                    <a:pt x="104870" y="23527"/>
                  </a:cubicBezTo>
                  <a:lnTo>
                    <a:pt x="16955" y="82582"/>
                  </a:lnTo>
                  <a:cubicBezTo>
                    <a:pt x="0" y="59246"/>
                    <a:pt x="5906" y="27146"/>
                    <a:pt x="30194" y="10858"/>
                  </a:cubicBezTo>
                  <a:cubicBezTo>
                    <a:pt x="42291" y="2667"/>
                    <a:pt x="56769" y="0"/>
                    <a:pt x="70294" y="2286"/>
                  </a:cubicBezTo>
                  <a:close/>
                  <a:moveTo>
                    <a:pt x="119348" y="1524"/>
                  </a:moveTo>
                  <a:lnTo>
                    <a:pt x="137732" y="1524"/>
                  </a:lnTo>
                  <a:lnTo>
                    <a:pt x="137732" y="31337"/>
                  </a:lnTo>
                  <a:cubicBezTo>
                    <a:pt x="134683" y="31147"/>
                    <a:pt x="131636" y="31051"/>
                    <a:pt x="128492" y="31051"/>
                  </a:cubicBezTo>
                  <a:cubicBezTo>
                    <a:pt x="125444" y="31051"/>
                    <a:pt x="122396" y="31147"/>
                    <a:pt x="119348" y="31337"/>
                  </a:cubicBezTo>
                  <a:close/>
                </a:path>
              </a:pathLst>
            </a:custGeom>
            <a:solidFill>
              <a:srgbClr val="0D5DB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67492" y="5629846"/>
              <a:ext cx="3429000" cy="354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日期：</a:t>
              </a:r>
              <a:r>
                <a:rPr lang="zh-CN" sz="18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2026-05-22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